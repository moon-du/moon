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1076" r:id="rId3"/>
    <p:sldId id="1113" r:id="rId5"/>
    <p:sldId id="1088" r:id="rId6"/>
    <p:sldId id="1116" r:id="rId7"/>
    <p:sldId id="1133" r:id="rId8"/>
    <p:sldId id="1134" r:id="rId9"/>
    <p:sldId id="1154" r:id="rId10"/>
    <p:sldId id="1136" r:id="rId11"/>
    <p:sldId id="1137" r:id="rId12"/>
    <p:sldId id="1090" r:id="rId13"/>
    <p:sldId id="1091" r:id="rId14"/>
    <p:sldId id="1097" r:id="rId15"/>
    <p:sldId id="1092" r:id="rId16"/>
    <p:sldId id="1098" r:id="rId17"/>
    <p:sldId id="1138" r:id="rId18"/>
    <p:sldId id="1093" r:id="rId19"/>
    <p:sldId id="1099" r:id="rId20"/>
    <p:sldId id="1096" r:id="rId21"/>
    <p:sldId id="1140" r:id="rId22"/>
    <p:sldId id="1100" r:id="rId23"/>
    <p:sldId id="1139" r:id="rId24"/>
    <p:sldId id="1101" r:id="rId25"/>
    <p:sldId id="1102" r:id="rId26"/>
    <p:sldId id="1142" r:id="rId27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66CCFF"/>
    <a:srgbClr val="FFFFFF"/>
    <a:srgbClr val="FFFF99"/>
    <a:srgbClr val="FF9933"/>
    <a:srgbClr val="FF66CC"/>
    <a:srgbClr val="FF33CC"/>
    <a:srgbClr val="FF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632" autoAdjust="0"/>
    <p:restoredTop sz="68306" autoAdjust="0"/>
  </p:normalViewPr>
  <p:slideViewPr>
    <p:cSldViewPr snapToObjects="1" showGuides="1">
      <p:cViewPr varScale="1">
        <p:scale>
          <a:sx n="70" d="100"/>
          <a:sy n="70" d="100"/>
        </p:scale>
        <p:origin x="-756" y="-66"/>
      </p:cViewPr>
      <p:guideLst>
        <p:guide orient="horz" pos="2115"/>
        <p:guide pos="37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A593B-C7F3-4649-B760-8A9E538DD7F3}" type="datetimeFigureOut">
              <a:rPr lang="zh-CN" altLang="en-US" smtClean="0">
                <a:latin typeface="Times New Roman" panose="02020603050405020304" charset="0"/>
              </a:rPr>
            </a:fld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A9E79-3371-400B-AF86-A63F5C94FB3B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>
              <a:latin typeface="Times New Roman" panose="0202060305040502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>
                <a:latin typeface="Times New Roman" panose="02020603050405020304" charset="0"/>
              </a:defRPr>
            </a:lvl1pPr>
          </a:lstStyle>
          <a:p>
            <a:fld id="{E9B07FDD-F1B3-4E5B-BC2D-FED26B65F69F}" type="datetime1">
              <a:rPr lang="zh-CN" altLang="en-US" smtClean="0"/>
            </a:fld>
            <a:endParaRPr lang="zh-CN" altLang="en-US" sz="1200" dirty="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单击此处编辑母版文本样式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第二级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第三级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第四级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第五级</a:t>
            </a:r>
            <a:endParaRPr lang="zh-CN" dirty="0">
              <a:latin typeface="Times New Roman" panose="02020603050405020304" charset="0"/>
            </a:endParaRP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>
                <a:latin typeface="Times New Roman" panose="02020603050405020304" charset="0"/>
              </a:defRPr>
            </a:lvl1pPr>
          </a:lstStyle>
          <a:p>
            <a:fld id="{E9EF8A88-7B05-4B03-ACDA-4A6B434EDC9B}" type="slidenum">
              <a:rPr lang="zh-CN" altLang="en-US" smtClean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补充知识点：设置默认参数时，所有默认参数只能位于非默认参数后面</a:t>
            </a:r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补充知识点：设置默认参数时，所有默认参数只能位于非默认参数后面</a:t>
            </a:r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6" descr="Dscpe_01_Lg_cropp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17"/>
          <p:cNvSpPr>
            <a:spLocks noChangeArrowheads="1"/>
          </p:cNvSpPr>
          <p:nvPr/>
        </p:nvSpPr>
        <p:spPr bwMode="invGray">
          <a:xfrm>
            <a:off x="0" y="1430338"/>
            <a:ext cx="12192000" cy="369887"/>
          </a:xfrm>
          <a:prstGeom prst="rect">
            <a:avLst/>
          </a:prstGeom>
          <a:solidFill>
            <a:srgbClr val="0052A5">
              <a:alpha val="50195"/>
            </a:srgbClr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" name="Rectangle 250"/>
          <p:cNvSpPr>
            <a:spLocks noChangeArrowheads="1"/>
          </p:cNvSpPr>
          <p:nvPr/>
        </p:nvSpPr>
        <p:spPr bwMode="auto">
          <a:xfrm>
            <a:off x="0" y="3141663"/>
            <a:ext cx="12192000" cy="368300"/>
          </a:xfrm>
          <a:prstGeom prst="rect">
            <a:avLst/>
          </a:prstGeom>
          <a:solidFill>
            <a:srgbClr val="E48F1B"/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8" name="图片 1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07368" y="6300028"/>
            <a:ext cx="6192688" cy="369332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成都市武侯区新南路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44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号附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1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楼腾云商务大厦 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</a:rPr>
              <a:t>02885062021</a:t>
            </a:r>
            <a:endParaRPr lang="zh-CN" altLang="en-US" dirty="0">
              <a:ln w="1016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0698" name="Rectangle 122"/>
          <p:cNvSpPr>
            <a:spLocks noGrp="1" noChangeArrowheads="1"/>
          </p:cNvSpPr>
          <p:nvPr>
            <p:ph type="ctrTitle"/>
          </p:nvPr>
        </p:nvSpPr>
        <p:spPr bwMode="auto">
          <a:xfrm>
            <a:off x="508000" y="420690"/>
            <a:ext cx="11074400" cy="235267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en-US" altLang="zh-CN" noProof="0" smtClean="0"/>
          </a:p>
        </p:txBody>
      </p:sp>
      <p:sp>
        <p:nvSpPr>
          <p:cNvPr id="280799" name="Rectangle 223"/>
          <p:cNvSpPr>
            <a:spLocks noGrp="1" noChangeArrowheads="1"/>
          </p:cNvSpPr>
          <p:nvPr>
            <p:ph type="subTitle" idx="1"/>
          </p:nvPr>
        </p:nvSpPr>
        <p:spPr>
          <a:xfrm>
            <a:off x="5852584" y="3836988"/>
            <a:ext cx="5831416" cy="150495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 algn="r">
              <a:buFont typeface="Times" pitchFamily="18" charset="0"/>
              <a:buNone/>
              <a:defRPr sz="2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3857628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1857364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198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85728"/>
            <a:ext cx="10972800" cy="64293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1214422"/>
            <a:ext cx="6815666" cy="4911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214422"/>
            <a:ext cx="4011084" cy="491174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214421"/>
            <a:ext cx="7315200" cy="35131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4685" y="1357298"/>
            <a:ext cx="2770716" cy="442437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0418" y="1357298"/>
            <a:ext cx="8111067" cy="442437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0417" y="285728"/>
            <a:ext cx="11074400" cy="64772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381000" y="1362075"/>
            <a:ext cx="11074400" cy="441960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 smtClean="0"/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7" descr="slide_header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invGray">
          <a:xfrm>
            <a:off x="0" y="-1588"/>
            <a:ext cx="12193588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ChangeArrowheads="1"/>
          </p:cNvSpPr>
          <p:nvPr/>
        </p:nvSpPr>
        <p:spPr bwMode="gray">
          <a:xfrm>
            <a:off x="0" y="1139825"/>
            <a:ext cx="12192000" cy="5718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028" name="Rectangle 52"/>
          <p:cNvSpPr>
            <a:spLocks noGrp="1" noChangeArrowheads="1"/>
          </p:cNvSpPr>
          <p:nvPr>
            <p:ph type="body" idx="1"/>
          </p:nvPr>
        </p:nvSpPr>
        <p:spPr bwMode="gray">
          <a:xfrm>
            <a:off x="381000" y="1362075"/>
            <a:ext cx="11074400" cy="4419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altLang="zh-CN" dirty="0" smtClean="0"/>
          </a:p>
        </p:txBody>
      </p:sp>
      <p:sp>
        <p:nvSpPr>
          <p:cNvPr id="1029" name="Rectangle 53"/>
          <p:cNvSpPr>
            <a:spLocks noGrp="1" noChangeArrowheads="1"/>
          </p:cNvSpPr>
          <p:nvPr>
            <p:ph type="title"/>
          </p:nvPr>
        </p:nvSpPr>
        <p:spPr bwMode="invGray">
          <a:xfrm>
            <a:off x="369888" y="285728"/>
            <a:ext cx="11074400" cy="64772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1031" name="图片 8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ut/>
  </p:transition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347980" indent="-347980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rgbClr val="00529B"/>
        </a:buClr>
        <a:buFont typeface="Times" pitchFamily="18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3500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92265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20967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4973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19545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4117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28689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3261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5082888" y="1493169"/>
            <a:ext cx="3595675" cy="52315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5.6 </a:t>
            </a: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retrun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5.7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递归函数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None/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第五章 函数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009650" y="1492885"/>
            <a:ext cx="6845935" cy="42538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5.1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简介                                           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5.2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函数的调用与返回</a:t>
            </a:r>
            <a:endParaRPr lang="zh-CN" altLang="en-US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5.3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sym typeface="+mn-ea"/>
              </a:rPr>
              <a:t>函数形参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5.4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sym typeface="+mn-ea"/>
              </a:rPr>
              <a:t>局部变量、全局变量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5.5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缺省参数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70205" y="1209675"/>
            <a:ext cx="10820400" cy="5326380"/>
          </a:xfrm>
        </p:spPr>
        <p:txBody>
          <a:bodyPr>
            <a:normAutofit lnSpcReduction="10000"/>
          </a:bodyPr>
          <a:p>
            <a:pPr>
              <a:buFont typeface="Wingdings" panose="05000000000000000000" charset="0"/>
              <a:buChar char="u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变量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var1 = 3; var2 = 'abc'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定义变量可以给数据对象起名字</a:t>
            </a:r>
            <a:endParaRPr lang="zh-CN" altLang="en-US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038475"/>
            <a:ext cx="4624705" cy="207137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函数是一块可重用的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程序语句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，这块语句有个名字，然后可以在需要的时候使用这个名字反复运行这个语句块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函数有可能需要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输入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，有可能会返回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输出</a:t>
            </a:r>
            <a:endParaRPr lang="zh-CN" altLang="en-US" sz="2200" dirty="0" smtClean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我们之前已经多次使用过了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中内建的函数，如：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print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input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000" smtClean="0">
                <a:latin typeface="宋体" panose="02010600030101010101" pitchFamily="2" charset="-122"/>
              </a:rPr>
              <a:t>除了</a:t>
            </a:r>
            <a:r>
              <a:rPr lang="en-US" altLang="zh-CN" sz="2000" smtClean="0">
                <a:latin typeface="宋体" panose="02010600030101010101" pitchFamily="2" charset="-122"/>
              </a:rPr>
              <a:t>Python</a:t>
            </a:r>
            <a:r>
              <a:rPr lang="zh-CN" altLang="en-US" sz="2000" dirty="0" smtClean="0">
                <a:latin typeface="宋体" panose="02010600030101010101" pitchFamily="2" charset="-122"/>
              </a:rPr>
              <a:t>内建的函数，用户也可以使用</a:t>
            </a:r>
            <a:r>
              <a:rPr lang="en-US" altLang="zh-CN" sz="20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def</a:t>
            </a:r>
            <a:r>
              <a:rPr lang="zh-CN" altLang="en-US" sz="2000" dirty="0" smtClean="0">
                <a:latin typeface="宋体" panose="02010600030101010101" pitchFamily="2" charset="-122"/>
              </a:rPr>
              <a:t>语句自定义函数</a:t>
            </a:r>
            <a:endParaRPr lang="en-US" altLang="zh-CN" sz="2000" dirty="0" smtClean="0">
              <a:latin typeface="宋体" panose="02010600030101010101" pitchFamily="2" charset="-122"/>
            </a:endParaRPr>
          </a:p>
          <a:p>
            <a:pPr marL="228600" indent="-22860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000" smtClean="0">
                <a:latin typeface="宋体" panose="02010600030101010101" pitchFamily="2" charset="-122"/>
              </a:rPr>
              <a:t>语法：</a:t>
            </a:r>
            <a:endParaRPr lang="en-US" altLang="zh-CN" sz="2000" smtClean="0">
              <a:latin typeface="宋体" panose="02010600030101010101" pitchFamily="2" charset="-122"/>
            </a:endParaRPr>
          </a:p>
          <a:p>
            <a:pPr marL="228600" indent="-22860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000" smtClean="0">
                <a:latin typeface="宋体" panose="02010600030101010101" pitchFamily="2" charset="-122"/>
              </a:rPr>
              <a:t>	def </a:t>
            </a:r>
            <a:r>
              <a:rPr lang="zh-CN" altLang="en-US" sz="2000" smtClean="0">
                <a:latin typeface="宋体" panose="02010600030101010101" pitchFamily="2" charset="-122"/>
              </a:rPr>
              <a:t>函数名</a:t>
            </a:r>
            <a:r>
              <a:rPr lang="en-US" altLang="zh-CN" sz="2000" smtClean="0">
                <a:latin typeface="宋体" panose="02010600030101010101" pitchFamily="2" charset="-122"/>
              </a:rPr>
              <a:t>(</a:t>
            </a:r>
            <a:r>
              <a:rPr lang="zh-CN" altLang="en-US" sz="2000" smtClean="0">
                <a:latin typeface="宋体" panose="02010600030101010101" pitchFamily="2" charset="-122"/>
              </a:rPr>
              <a:t>参数列表</a:t>
            </a:r>
            <a:r>
              <a:rPr lang="en-US" altLang="zh-CN" sz="2000" smtClean="0">
                <a:latin typeface="宋体" panose="02010600030101010101" pitchFamily="2" charset="-122"/>
              </a:rPr>
              <a:t>):</a:t>
            </a:r>
            <a:endParaRPr lang="en-US" altLang="zh-CN" sz="2000" smtClean="0">
              <a:latin typeface="宋体" panose="02010600030101010101" pitchFamily="2" charset="-122"/>
            </a:endParaRPr>
          </a:p>
          <a:p>
            <a:pPr marL="228600" indent="-22860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000" smtClean="0">
                <a:latin typeface="宋体" panose="02010600030101010101" pitchFamily="2" charset="-122"/>
              </a:rPr>
              <a:t>		</a:t>
            </a:r>
            <a:r>
              <a:rPr lang="zh-CN" altLang="en-US" sz="2000" smtClean="0">
                <a:latin typeface="宋体" panose="02010600030101010101" pitchFamily="2" charset="-122"/>
              </a:rPr>
              <a:t>结构体</a:t>
            </a:r>
            <a:endParaRPr lang="zh-CN" altLang="en-US" sz="2000" smtClean="0">
              <a:latin typeface="宋体" panose="02010600030101010101" pitchFamily="2" charset="-122"/>
            </a:endParaRPr>
          </a:p>
          <a:p>
            <a:pPr marL="228600" indent="-22860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endParaRPr lang="en-US" altLang="zh-CN" sz="2000" smtClean="0">
              <a:latin typeface="宋体" panose="02010600030101010101" pitchFamily="2" charset="-122"/>
            </a:endParaRPr>
          </a:p>
          <a:p>
            <a:pPr marL="228600" indent="-22860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endParaRPr lang="en-US" altLang="zh-CN" sz="2000" dirty="0" smtClean="0">
              <a:latin typeface="宋体" panose="02010600030101010101" pitchFamily="2" charset="-122"/>
            </a:endParaRPr>
          </a:p>
          <a:p>
            <a:pPr marL="228600" indent="-22860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000" dirty="0" smtClean="0">
                <a:latin typeface="宋体" panose="02010600030101010101" pitchFamily="2" charset="-122"/>
              </a:rPr>
              <a:t>函数定义完成后，使用</a:t>
            </a:r>
            <a:r>
              <a:rPr lang="zh-CN" altLang="en-US" sz="2000" smtClean="0">
                <a:latin typeface="宋体" panose="02010600030101010101" pitchFamily="2" charset="-122"/>
              </a:rPr>
              <a:t>函数名来</a:t>
            </a:r>
            <a:r>
              <a:rPr lang="zh-CN" altLang="en-US" sz="2000" dirty="0" smtClean="0">
                <a:latin typeface="宋体" panose="02010600030101010101" pitchFamily="2" charset="-122"/>
              </a:rPr>
              <a:t>调用函数</a:t>
            </a:r>
            <a:endParaRPr lang="en-US" altLang="zh-CN" sz="2000" dirty="0" smtClean="0"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3992245"/>
            <a:ext cx="5313045" cy="226250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89560" y="1344295"/>
            <a:ext cx="11612245" cy="5554980"/>
          </a:xfrm>
        </p:spPr>
        <p:txBody>
          <a:bodyPr>
            <a:normAutofit/>
          </a:bodyPr>
          <a:p>
            <a:pPr marL="0" indent="0">
              <a:buFont typeface="Wingdings" panose="05000000000000000000" charset="0"/>
              <a:buNone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函数的作用：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就是一段代码的组合，一般实现一个具体的功能</a:t>
            </a:r>
            <a:endParaRPr lang="zh-CN" altLang="en-US" sz="240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函数名：代表一段代码的变量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可以实现一个个的函数，最后组合起来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容易理解、容易维护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整体清晰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反复常用功能只调用即可，代码简单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问题局部化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5.2 </a:t>
            </a:r>
            <a:r>
              <a:rPr lang="zh-CN" altLang="en-US" sz="4000" b="1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函数的调用与返回</a:t>
            </a:r>
            <a:endParaRPr lang="zh-CN" altLang="en-US" sz="4000" b="1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4160" y="1246505"/>
            <a:ext cx="11155045" cy="5234940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函数（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function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foo()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调用函数，其实就是去执行函数定义里面的代码块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函数的定义要在函数的调用前面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75" y="3338195"/>
            <a:ext cx="7417435" cy="250825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函数里调用函数：（这样定义函数为什么没有报错）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5.2 </a:t>
            </a:r>
            <a:r>
              <a:rPr lang="zh-CN" altLang="en-US" sz="4000" b="1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函数的调用与返回</a:t>
            </a:r>
            <a:endParaRPr lang="zh-CN" altLang="en-US" sz="4000" b="1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073910"/>
            <a:ext cx="3423920" cy="2526665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5.3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函数的参数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265" y="1318260"/>
            <a:ext cx="11307445" cy="5738495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饮料机的例子：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饮料机一：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32180" indent="-342900" fontAlgn="auto"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只吐出可口可乐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32180" indent="-342900" fontAlgn="auto">
              <a:buFont typeface="Arial" panose="020B0604020202020204" pitchFamily="34" charset="0"/>
              <a:buChar char="•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72135" indent="-342900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饮料机二：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32180" indent="-342900" fontAlgn="auto"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选择可乐各类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32180" indent="-342900" fontAlgn="auto"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可以吐出可口可乐、芬达、百事可乐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5.3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函数的参数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920" y="1324610"/>
            <a:ext cx="10850880" cy="511365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定义参数（形参）时的命名规则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和变量一样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可以是一个，可以是多个（逗号隔开）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函数体里面像变量一样的使用参数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调用函数时，传入对应个数的参数（实参）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05" y="3261995"/>
            <a:ext cx="5032375" cy="343725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5.3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函数的参数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0830" y="1301115"/>
            <a:ext cx="11062970" cy="5419725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关键字参数调用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规则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次序可以颠倒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一旦第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个参数使用了关键字参数，后面所有的参数都必须使用关键字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75" y="1775460"/>
            <a:ext cx="4601210" cy="330644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在函数定义内声明的变量，只在当前函数内有效，即使函数外有同名变量存在，它们也没有任何关系，这称为变量的作用域，变量的作用域是它们被定义的块。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这种作用域只在局部有效的变量，称为局部变量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5.4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局部变量、全局变量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5.4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局部变量、全局变量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38200" y="1428736"/>
            <a:ext cx="10056522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定义在整个文件中，作用域为全局范围的变量称为全局变量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如果需要在函数内使用全局变量，同时又为全局变量赋值，则使用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global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关键字来实现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5.4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局部变量、全局变量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5.4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局部变量、全局变量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23901" y="1357298"/>
            <a:ext cx="10001321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小练习：下面函数输出结果，将函数内的变量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变为全局变量，再看函数输出结果。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5.4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局部变量、全局变量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66925"/>
            <a:ext cx="6612255" cy="379031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在定义函数过程中如果指定了参数，那么调用函数时一定要给所有的参数传递值，否则会出错。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但是在一些情况下，可能又希望它的参数是可选的，即不要求调用函数时一定要给所有参数都传递值，那么我们可以通过缺省参数来完成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缺省参数需要放在必选参数之后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5.5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缺省参数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5.5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缺省参数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38150" y="1643050"/>
            <a:ext cx="10729893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748666" y="1210593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return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语句用来从一个函数返回，即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跳出函数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，也可以使用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return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从函数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返回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一个值，并且这个值可以赋给其他变量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如果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return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语句没有返回值，等价于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return None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None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表示没有值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如果函数中没有明确指定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return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语句，都在结尾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暗含有</a:t>
            </a:r>
            <a:r>
              <a:rPr lang="en-US" altLang="zh-CN" sz="22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return None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5.6 return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62405" y="3849367"/>
            <a:ext cx="5834076" cy="2603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小练习：调用下面这个函数，输出结果为：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5.6 return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220" y="2148840"/>
            <a:ext cx="4253865" cy="312483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5.6 return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0" indent="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None/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小练习：编写一个函数，必须参数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a,b,c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，函数计算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a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的平方、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b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的立方、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c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三者的和，并返回。</a:t>
            </a:r>
            <a:endParaRPr lang="zh-CN" altLang="en-US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5.6 return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0835" y="1125855"/>
            <a:ext cx="11344275" cy="5726430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return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关键字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返回对象可以赋值给变量，也可以直接调用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可以是一个，可以是多个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参数变量有效范围是在函数内部，优先级高于外部的变量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290" y="2000885"/>
            <a:ext cx="2313305" cy="21774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290" y="4953000"/>
            <a:ext cx="2665730" cy="130492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5.7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递归函数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一个函数在内部调用了自身，这个函数就被称为递归函数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2291715"/>
            <a:ext cx="7878445" cy="250190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5.7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递归函数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递归最核心的思想是：每一次递归，整体问题都要比原来减小，并且递归到一定层次时，要能直接给出结果！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递归函数的优点是定义简单，代码量少，逻辑清晰。理论上，所有的递归函数都可以写成循环的方式，但循环的逻辑不如递归清晰。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5.7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递归函数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小练习：使用递归的方法，求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到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100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的和。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1970" y="2171700"/>
            <a:ext cx="5039360" cy="360235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rtner PPT- one template-v8_rm">
  <a:themeElements>
    <a:clrScheme name="">
      <a:dk1>
        <a:srgbClr val="000000"/>
      </a:dk1>
      <a:lt1>
        <a:srgbClr val="FFFFFF"/>
      </a:lt1>
      <a:dk2>
        <a:srgbClr val="F8F8F8"/>
      </a:dk2>
      <a:lt2>
        <a:srgbClr val="808080"/>
      </a:lt2>
      <a:accent1>
        <a:srgbClr val="3366CC"/>
      </a:accent1>
      <a:accent2>
        <a:srgbClr val="FF0000"/>
      </a:accent2>
      <a:accent3>
        <a:srgbClr val="FFFFFF"/>
      </a:accent3>
      <a:accent4>
        <a:srgbClr val="000000"/>
      </a:accent4>
      <a:accent5>
        <a:srgbClr val="ADB8E2"/>
      </a:accent5>
      <a:accent6>
        <a:srgbClr val="E70000"/>
      </a:accent6>
      <a:hlink>
        <a:srgbClr val="FF9900"/>
      </a:hlink>
      <a:folHlink>
        <a:srgbClr val="6699FF"/>
      </a:folHlink>
    </a:clrScheme>
    <a:fontScheme name="Gartner PPT- one template-v8_rm">
      <a:majorFont>
        <a:latin typeface="Arial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Gartner PPT- one template-v8_r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rtner PPT- one template-v8_r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8">
        <a:dk1>
          <a:srgbClr val="000000"/>
        </a:dk1>
        <a:lt1>
          <a:srgbClr val="FFFFFF"/>
        </a:lt1>
        <a:dk2>
          <a:srgbClr val="F8F8F8"/>
        </a:dk2>
        <a:lt2>
          <a:srgbClr val="808080"/>
        </a:lt2>
        <a:accent1>
          <a:srgbClr val="CCFF66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E2FFB8"/>
        </a:accent5>
        <a:accent6>
          <a:srgbClr val="E7B900"/>
        </a:accent6>
        <a:hlink>
          <a:srgbClr val="0066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汇智动力</Template>
  <TotalTime>0</TotalTime>
  <Words>1628</Words>
  <Application>WPS 演示</Application>
  <PresentationFormat>自定义</PresentationFormat>
  <Paragraphs>167</Paragraphs>
  <Slides>24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Arial Unicode MS</vt:lpstr>
      <vt:lpstr>Times</vt:lpstr>
      <vt:lpstr>Times New Roman</vt:lpstr>
      <vt:lpstr>Calibri Light</vt:lpstr>
      <vt:lpstr>Wingdings</vt:lpstr>
      <vt:lpstr>微软雅黑</vt:lpstr>
      <vt:lpstr>Arial Unicode MS</vt:lpstr>
      <vt:lpstr>华文楷体</vt:lpstr>
      <vt:lpstr>Gartner PPT- one template-v8_rm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USER-</dc:creator>
  <cp:lastModifiedBy>勇敢的心</cp:lastModifiedBy>
  <cp:revision>1142</cp:revision>
  <dcterms:created xsi:type="dcterms:W3CDTF">2014-03-18T11:00:00Z</dcterms:created>
  <dcterms:modified xsi:type="dcterms:W3CDTF">2020-08-12T10:39:46Z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2052-11.1.0.9828</vt:lpwstr>
  </property>
</Properties>
</file>