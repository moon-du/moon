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1057" r:id="rId3"/>
    <p:sldId id="1059" r:id="rId5"/>
    <p:sldId id="1089" r:id="rId6"/>
    <p:sldId id="1060" r:id="rId7"/>
    <p:sldId id="1061" r:id="rId8"/>
    <p:sldId id="1090" r:id="rId9"/>
    <p:sldId id="1092" r:id="rId10"/>
    <p:sldId id="1068" r:id="rId11"/>
    <p:sldId id="1091" r:id="rId12"/>
    <p:sldId id="1093" r:id="rId13"/>
    <p:sldId id="1076" r:id="rId14"/>
    <p:sldId id="1079" r:id="rId15"/>
    <p:sldId id="1094" r:id="rId16"/>
    <p:sldId id="1095" r:id="rId17"/>
    <p:sldId id="1096" r:id="rId18"/>
    <p:sldId id="1097" r:id="rId19"/>
    <p:sldId id="1098" r:id="rId20"/>
    <p:sldId id="1099" r:id="rId21"/>
    <p:sldId id="1062" r:id="rId22"/>
    <p:sldId id="1100" r:id="rId23"/>
    <p:sldId id="1069" r:id="rId24"/>
    <p:sldId id="1070" r:id="rId25"/>
    <p:sldId id="1071" r:id="rId26"/>
    <p:sldId id="1101" r:id="rId27"/>
    <p:sldId id="1102" r:id="rId28"/>
    <p:sldId id="1103" r:id="rId29"/>
    <p:sldId id="1073" r:id="rId30"/>
    <p:sldId id="1104" r:id="rId31"/>
    <p:sldId id="1077" r:id="rId32"/>
    <p:sldId id="1078" r:id="rId33"/>
  </p:sldIdLst>
  <p:sldSz cx="12192000" cy="6858000"/>
  <p:notesSz cx="6858000" cy="9144000"/>
  <p:custDataLst>
    <p:tags r:id="rId3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66CCFF"/>
    <a:srgbClr val="FFFF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32" autoAdjust="0"/>
    <p:restoredTop sz="83859" autoAdjust="0"/>
  </p:normalViewPr>
  <p:slideViewPr>
    <p:cSldViewPr snapToObjects="1" showGuides="1">
      <p:cViewPr varScale="1">
        <p:scale>
          <a:sx n="72" d="100"/>
          <a:sy n="72" d="100"/>
        </p:scale>
        <p:origin x="-672" y="-90"/>
      </p:cViewPr>
      <p:guideLst>
        <p:guide orient="horz" pos="2115"/>
        <p:guide pos="3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anose="02020603050405020304" charset="0"/>
              </a:rPr>
            </a:fld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anose="02020603050405020304" charset="0"/>
              </a:rPr>
            </a:fld>
            <a:endParaRPr lang="zh-CN" altLang="en-US" dirty="0">
              <a:latin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Times New Roman" panose="02020603050405020304" charset="0"/>
              </a:defRPr>
            </a:lvl1pPr>
          </a:lstStyle>
          <a:p>
            <a:fld id="{E9B07FDD-F1B3-4E5B-BC2D-FED26B65F69F}" type="datetime1">
              <a:rPr lang="zh-CN" altLang="en-US" smtClean="0"/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单击此处编辑母版文本样式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第二级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第三级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第四级</a:t>
            </a:r>
            <a:endParaRPr lang="zh-CN" dirty="0">
              <a:latin typeface="Times New Roman" panose="02020603050405020304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charset="0"/>
              </a:rPr>
              <a:t>第五级</a:t>
            </a:r>
            <a:endParaRPr lang="zh-CN" dirty="0">
              <a:latin typeface="Times New Roman" panose="02020603050405020304" charset="0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>
                <a:latin typeface="Times New Roman" panose="02020603050405020304" charset="0"/>
              </a:defRPr>
            </a:lvl1pPr>
          </a:lstStyle>
          <a:p>
            <a:fld id="{E9EF8A88-7B05-4B03-ACDA-4A6B434EDC9B}" type="slidenum">
              <a:rPr lang="zh-CN" altLang="en-US" smtClean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dirty="0" smtClean="0">
                <a:latin typeface="Times New Roman" panose="02020603050405020304" charset="0"/>
              </a:rPr>
              <a:t>补充知识点：缩进，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中属于同一结构体的语句要保持统一的缩进，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使用缩进代替了很多其他编程语言中的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{}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。可以使用多个空格表示缩进，也可以使用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Tab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键，但整个文件中必须统一，不能混用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换行，在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中推荐使用换行表示一行命令输入完成，追求简洁，当然也支持其他编程语言中的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表示命令结束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dirty="0" smtClean="0">
                <a:latin typeface="Times New Roman" panose="02020603050405020304" charset="0"/>
              </a:rPr>
              <a:t>补充知识点：缩进，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中属于同一结构体的语句要保持统一的缩进，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使用缩进代替了很多其他编程语言中的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{}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。可以使用多个空格表示缩进，也可以使用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Tab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键，但整个文件中必须统一，不能混用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换行，在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中推荐使用换行表示一行命令输入完成，追求简洁，当然也支持其他编程语言中的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表示命令结束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dirty="0" smtClean="0">
                <a:latin typeface="Times New Roman" panose="02020603050405020304" charset="0"/>
              </a:rPr>
              <a:t>补充知识点：缩进，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中属于同一结构体的语句要保持统一的缩进，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使用缩进代替了很多其他编程语言中的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{}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。可以使用多个空格表示缩进，也可以使用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Tab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键，但整个文件中必须统一，不能混用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换行，在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中推荐使用换行表示一行命令输入完成，追求简洁，当然也支持其他编程语言中的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表示命令结束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dirty="0" smtClean="0">
                <a:latin typeface="Times New Roman" panose="02020603050405020304" charset="0"/>
              </a:rPr>
              <a:t>补充知识点：缩进，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中属于同一结构体的语句要保持统一的缩进，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使用缩进代替了很多其他编程语言中的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{}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。可以使用多个空格表示缩进，也可以使用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Tab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键，但整个文件中必须统一，不能混用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换行，在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中推荐使用换行表示一行命令输入完成，追求简洁，当然也支持其他编程语言中的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表示命令结束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dirty="0" smtClean="0">
                <a:latin typeface="Times New Roman" panose="02020603050405020304" charset="0"/>
              </a:rPr>
              <a:t>补充知识点：缩进，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中属于同一结构体的语句要保持统一的缩进，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使用缩进代替了很多其他编程语言中的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{}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。可以使用多个空格表示缩进，也可以使用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Tab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键，但整个文件中必须统一，不能混用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换行，在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中推荐使用换行表示一行命令输入完成，追求简洁，当然也支持其他编程语言中的</a:t>
            </a:r>
            <a:r>
              <a:rPr lang="en-US" altLang="zh-CN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表示命令结束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zh-CN" noProof="0" smtClean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 smtClean="0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ut/>
  </p:transition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7980" indent="-347980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65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3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5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7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9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61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44456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3.1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简介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3.2 if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3.3 while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3.4 break for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3.5 continue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3.6 for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第三章 控制流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程序设计的三种基本结构：顺序结构、选择结构、循环结构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顺序结构：是一种线性、有序的结构，依次执行各语句模块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选择结构：根据条件成立与否选择程序执行的路径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循环结构：重复执行一个或几个模块，直至满足某一条件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3.1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indent="0">
              <a:buFont typeface="Wingdings" panose="05000000000000000000" charset="0"/>
              <a:buNone/>
            </a:pPr>
            <a:r>
              <a:rPr lang="zh-CN" altLang="en-US" sz="2200" b="1">
                <a:latin typeface="宋体" panose="02010600030101010101" pitchFamily="2" charset="-122"/>
                <a:sym typeface="+mn-ea"/>
              </a:rPr>
              <a:t>布尔表达式：</a:t>
            </a:r>
            <a:endParaRPr lang="zh-CN" altLang="en-US" sz="2200" b="1">
              <a:latin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200">
                <a:latin typeface="宋体" panose="02010600030101010101" pitchFamily="2" charset="-122"/>
                <a:sym typeface="+mn-ea"/>
              </a:rPr>
              <a:t>产生布尔值的表达式（</a:t>
            </a:r>
            <a:r>
              <a:rPr lang="en-US" altLang="zh-CN" sz="2200">
                <a:latin typeface="宋体" panose="02010600030101010101" pitchFamily="2" charset="-122"/>
                <a:sym typeface="+mn-ea"/>
              </a:rPr>
              <a:t>expression</a:t>
            </a:r>
            <a:r>
              <a:rPr lang="zh-CN" altLang="en-US" sz="2200">
                <a:latin typeface="宋体" panose="02010600030101010101" pitchFamily="2" charset="-122"/>
                <a:sym typeface="+mn-ea"/>
              </a:rPr>
              <a:t>）</a:t>
            </a:r>
            <a:endParaRPr lang="zh-CN" altLang="en-US" sz="2200">
              <a:latin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200">
                <a:latin typeface="宋体" panose="02010600030101010101" pitchFamily="2" charset="-122"/>
                <a:sym typeface="+mn-ea"/>
              </a:rPr>
              <a:t>== != &gt; &lt; &gt;= &lt;=</a:t>
            </a:r>
            <a:r>
              <a:rPr lang="zh-CN" altLang="en-US" sz="2200">
                <a:latin typeface="宋体" panose="02010600030101010101" pitchFamily="2" charset="-122"/>
                <a:sym typeface="+mn-ea"/>
              </a:rPr>
              <a:t>都是比较操作符</a:t>
            </a:r>
            <a:endParaRPr lang="zh-CN" altLang="en-US" sz="2200">
              <a:latin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200">
                <a:latin typeface="宋体" panose="02010600030101010101" pitchFamily="2" charset="-122"/>
                <a:sym typeface="+mn-ea"/>
              </a:rPr>
              <a:t>因为表达式可被求值，所以它可写在赋值语句等号的右侧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20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&gt;&gt;&gt; a = 1</a:t>
            </a:r>
            <a:endParaRPr lang="en-US" altLang="zh-CN" sz="220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20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&gt;&gt;&gt; var1 = a&gt;1</a:t>
            </a:r>
            <a:endParaRPr lang="en-US" altLang="zh-CN" sz="220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20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&gt;&gt;&gt; print (var1)</a:t>
            </a:r>
            <a:endParaRPr lang="en-US" altLang="zh-CN" sz="220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20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 False</a:t>
            </a:r>
            <a:endParaRPr lang="en-US" altLang="zh-CN" sz="220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选择结构：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if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语法：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[if]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条件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[:]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			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条件为真执行的语句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注意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if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条件后面的冒号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[:]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不能缺失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96000" y="1571612"/>
            <a:ext cx="3133725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3075" y="1230630"/>
            <a:ext cx="10880725" cy="517461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条件语句if开头，条件是布尔表达式（也可以是布尔值）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后面有个冒号 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仅当条件成立时才运行下面缩进区块的语句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缩进</a:t>
            </a:r>
            <a:r>
              <a:rPr lang="en-US" altLang="zh-CN" sz="2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个空格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然后，继续后面的语句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否则跳过这个区块中的语句，然后继续运行区块后面的语句</a:t>
            </a:r>
            <a:endParaRPr lang="zh-CN" altLang="en-US" sz="2200" kern="1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535" y="2094230"/>
            <a:ext cx="6071235" cy="21189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小练习：用户输入年龄，请大于</a:t>
            </a: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25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岁的站到右边去！</a:t>
            </a:r>
            <a:endParaRPr lang="zh-CN" altLang="en-US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555" y="2341880"/>
            <a:ext cx="4521200" cy="11747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smtClean="0">
                <a:latin typeface="宋体" panose="02010600030101010101" pitchFamily="2" charset="-122"/>
              </a:rPr>
              <a:t>选择结构</a:t>
            </a:r>
            <a:r>
              <a:rPr lang="en-US" altLang="zh-CN" sz="2400" smtClean="0">
                <a:latin typeface="宋体" panose="02010600030101010101" pitchFamily="2" charset="-122"/>
              </a:rPr>
              <a:t>:if…else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smtClean="0">
                <a:latin typeface="宋体" panose="02010600030101010101" pitchFamily="2" charset="-122"/>
              </a:rPr>
              <a:t>语法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smtClean="0">
                <a:latin typeface="宋体" panose="02010600030101010101" pitchFamily="2" charset="-122"/>
              </a:rPr>
              <a:t>	if </a:t>
            </a:r>
            <a:r>
              <a:rPr lang="zh-CN" altLang="en-US" sz="2400" smtClean="0">
                <a:latin typeface="宋体" panose="02010600030101010101" pitchFamily="2" charset="-122"/>
              </a:rPr>
              <a:t>条件</a:t>
            </a:r>
            <a:r>
              <a:rPr lang="en-US" altLang="zh-CN" sz="2400" smtClean="0">
                <a:latin typeface="宋体" panose="02010600030101010101" pitchFamily="2" charset="-122"/>
              </a:rPr>
              <a:t>: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smtClean="0">
                <a:latin typeface="宋体" panose="02010600030101010101" pitchFamily="2" charset="-122"/>
              </a:rPr>
              <a:t>		</a:t>
            </a:r>
            <a:r>
              <a:rPr lang="zh-CN" altLang="en-US" sz="2400" smtClean="0">
                <a:latin typeface="宋体" panose="02010600030101010101" pitchFamily="2" charset="-122"/>
              </a:rPr>
              <a:t>结构体</a:t>
            </a:r>
            <a:r>
              <a:rPr lang="en-US" altLang="zh-CN" sz="2400" smtClean="0">
                <a:latin typeface="宋体" panose="02010600030101010101" pitchFamily="2" charset="-122"/>
              </a:rPr>
              <a:t>1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smtClean="0">
                <a:latin typeface="宋体" panose="02010600030101010101" pitchFamily="2" charset="-122"/>
              </a:rPr>
              <a:t>	else: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smtClean="0">
                <a:latin typeface="宋体" panose="02010600030101010101" pitchFamily="2" charset="-122"/>
              </a:rPr>
              <a:t>		</a:t>
            </a:r>
            <a:r>
              <a:rPr lang="zh-CN" altLang="en-US" sz="2400" smtClean="0">
                <a:latin typeface="宋体" panose="02010600030101010101" pitchFamily="2" charset="-122"/>
              </a:rPr>
              <a:t>结构体</a:t>
            </a:r>
            <a:r>
              <a:rPr lang="en-US" altLang="zh-CN" sz="2400" smtClean="0">
                <a:latin typeface="宋体" panose="02010600030101010101" pitchFamily="2" charset="-122"/>
              </a:rPr>
              <a:t>2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400" smtClean="0">
                <a:latin typeface="宋体" panose="02010600030101010101" pitchFamily="2" charset="-122"/>
              </a:rPr>
              <a:t>if</a:t>
            </a:r>
            <a:r>
              <a:rPr lang="zh-CN" altLang="en-US" sz="2400" dirty="0" smtClean="0">
                <a:latin typeface="宋体" panose="02010600030101010101" pitchFamily="2" charset="-122"/>
              </a:rPr>
              <a:t>代表“如果满足条件，就做</a:t>
            </a:r>
            <a:r>
              <a:rPr lang="en-US" altLang="zh-CN" sz="2400" dirty="0" smtClean="0">
                <a:latin typeface="宋体" panose="02010600030101010101" pitchFamily="2" charset="-122"/>
              </a:rPr>
              <a:t>…</a:t>
            </a:r>
            <a:r>
              <a:rPr lang="zh-CN" altLang="en-US" sz="2400" dirty="0" smtClean="0">
                <a:latin typeface="宋体" panose="02010600030101010101" pitchFamily="2" charset="-122"/>
              </a:rPr>
              <a:t>” </a:t>
            </a:r>
            <a:r>
              <a:rPr lang="en-US" altLang="zh-CN" sz="2400" dirty="0" smtClean="0">
                <a:latin typeface="宋体" panose="02010600030101010101" pitchFamily="2" charset="-122"/>
              </a:rPr>
              <a:t>else</a:t>
            </a:r>
            <a:r>
              <a:rPr lang="zh-CN" altLang="en-US" sz="2400" dirty="0" smtClean="0">
                <a:latin typeface="宋体" panose="02010600030101010101" pitchFamily="2" charset="-122"/>
              </a:rPr>
              <a:t>代表“否则，就做</a:t>
            </a:r>
            <a:r>
              <a:rPr lang="en-US" altLang="zh-CN" sz="2400" dirty="0" smtClean="0">
                <a:latin typeface="宋体" panose="02010600030101010101" pitchFamily="2" charset="-122"/>
              </a:rPr>
              <a:t>…</a:t>
            </a:r>
            <a:r>
              <a:rPr lang="zh-CN" altLang="en-US" sz="2400" dirty="0" smtClean="0">
                <a:latin typeface="宋体" panose="02010600030101010101" pitchFamily="2" charset="-122"/>
              </a:rPr>
              <a:t>”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095943" y="1340768"/>
            <a:ext cx="3133725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4020" y="1292225"/>
            <a:ext cx="10820400" cy="518985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条件不成立的情况下要做的事情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代码段缩进规则和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if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语句相同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后面不缩进的部分，继续执行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55290"/>
            <a:ext cx="5668645" cy="33127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3820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if … else…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小练习：</a:t>
            </a:r>
            <a:endParaRPr lang="zh-CN" altLang="en-US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用户输入一个数，判断这个数是偶数还是奇数？将结果打印出来。</a:t>
            </a:r>
            <a:endParaRPr lang="zh-CN" altLang="en-US" sz="24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665" y="3068320"/>
            <a:ext cx="6222365" cy="240919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000" smtClean="0">
                <a:latin typeface="宋体" panose="02010600030101010101" pitchFamily="2" charset="-122"/>
              </a:rPr>
              <a:t>选择结构：</a:t>
            </a:r>
            <a:r>
              <a:rPr lang="en-US" altLang="zh-CN" sz="2000" smtClean="0">
                <a:latin typeface="宋体" panose="02010600030101010101" pitchFamily="2" charset="-122"/>
              </a:rPr>
              <a:t>if-elif-else</a:t>
            </a:r>
            <a:endParaRPr lang="en-US" altLang="zh-CN" sz="20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000" smtClean="0">
                <a:latin typeface="宋体" panose="02010600030101010101" pitchFamily="2" charset="-122"/>
              </a:rPr>
              <a:t>语法：</a:t>
            </a:r>
            <a:endParaRPr lang="en-US" altLang="zh-CN" sz="20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smtClean="0">
                <a:latin typeface="宋体" panose="02010600030101010101" pitchFamily="2" charset="-122"/>
              </a:rPr>
              <a:t>	if </a:t>
            </a:r>
            <a:r>
              <a:rPr lang="zh-CN" altLang="en-US" sz="2000" smtClean="0">
                <a:latin typeface="宋体" panose="02010600030101010101" pitchFamily="2" charset="-122"/>
              </a:rPr>
              <a:t>条件</a:t>
            </a:r>
            <a:r>
              <a:rPr lang="en-US" altLang="zh-CN" sz="2000" smtClean="0">
                <a:latin typeface="宋体" panose="02010600030101010101" pitchFamily="2" charset="-122"/>
              </a:rPr>
              <a:t>:</a:t>
            </a:r>
            <a:endParaRPr lang="en-US" altLang="zh-CN" sz="20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smtClean="0">
                <a:latin typeface="宋体" panose="02010600030101010101" pitchFamily="2" charset="-122"/>
              </a:rPr>
              <a:t>		</a:t>
            </a:r>
            <a:r>
              <a:rPr lang="zh-CN" altLang="en-US" sz="2000" smtClean="0">
                <a:latin typeface="宋体" panose="02010600030101010101" pitchFamily="2" charset="-122"/>
              </a:rPr>
              <a:t>结构体</a:t>
            </a:r>
            <a:r>
              <a:rPr lang="en-US" altLang="zh-CN" sz="2000" smtClean="0">
                <a:latin typeface="宋体" panose="02010600030101010101" pitchFamily="2" charset="-122"/>
              </a:rPr>
              <a:t>1</a:t>
            </a:r>
            <a:endParaRPr lang="en-US" altLang="zh-CN" sz="20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smtClean="0">
                <a:latin typeface="宋体" panose="02010600030101010101" pitchFamily="2" charset="-122"/>
              </a:rPr>
              <a:t>	elif </a:t>
            </a:r>
            <a:r>
              <a:rPr lang="zh-CN" altLang="en-US" sz="2000" smtClean="0">
                <a:latin typeface="宋体" panose="02010600030101010101" pitchFamily="2" charset="-122"/>
              </a:rPr>
              <a:t>条件</a:t>
            </a:r>
            <a:r>
              <a:rPr lang="en-US" altLang="zh-CN" sz="2000" smtClean="0">
                <a:latin typeface="宋体" panose="02010600030101010101" pitchFamily="2" charset="-122"/>
              </a:rPr>
              <a:t>:</a:t>
            </a:r>
            <a:endParaRPr lang="en-US" altLang="zh-CN" sz="20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smtClean="0">
                <a:latin typeface="宋体" panose="02010600030101010101" pitchFamily="2" charset="-122"/>
              </a:rPr>
              <a:t>		</a:t>
            </a:r>
            <a:r>
              <a:rPr lang="zh-CN" altLang="en-US" sz="2000" smtClean="0">
                <a:latin typeface="宋体" panose="02010600030101010101" pitchFamily="2" charset="-122"/>
              </a:rPr>
              <a:t>结构体</a:t>
            </a:r>
            <a:r>
              <a:rPr lang="en-US" altLang="zh-CN" sz="2000" smtClean="0">
                <a:latin typeface="宋体" panose="02010600030101010101" pitchFamily="2" charset="-122"/>
              </a:rPr>
              <a:t>2</a:t>
            </a:r>
            <a:endParaRPr lang="zh-CN" altLang="en-US" sz="20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smtClean="0">
                <a:latin typeface="宋体" panose="02010600030101010101" pitchFamily="2" charset="-122"/>
              </a:rPr>
              <a:t>	else</a:t>
            </a:r>
            <a:r>
              <a:rPr lang="zh-CN" altLang="en-US" sz="2000" smtClean="0">
                <a:latin typeface="宋体" panose="02010600030101010101" pitchFamily="2" charset="-122"/>
              </a:rPr>
              <a:t>：</a:t>
            </a:r>
            <a:endParaRPr lang="zh-CN" altLang="en-US" sz="20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smtClean="0">
                <a:latin typeface="宋体" panose="02010600030101010101" pitchFamily="2" charset="-122"/>
              </a:rPr>
              <a:t>		</a:t>
            </a:r>
            <a:r>
              <a:rPr lang="zh-CN" altLang="en-US" sz="2000" smtClean="0">
                <a:latin typeface="宋体" panose="02010600030101010101" pitchFamily="2" charset="-122"/>
              </a:rPr>
              <a:t>结构体</a:t>
            </a:r>
            <a:r>
              <a:rPr lang="en-US" altLang="zh-CN" sz="2000" smtClean="0">
                <a:latin typeface="宋体" panose="02010600030101010101" pitchFamily="2" charset="-122"/>
              </a:rPr>
              <a:t>3</a:t>
            </a:r>
            <a:endParaRPr lang="en-US" altLang="zh-CN" sz="20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en-US" altLang="zh-CN" sz="2000" dirty="0" err="1" smtClean="0">
                <a:latin typeface="宋体" panose="02010600030101010101" pitchFamily="2" charset="-122"/>
              </a:rPr>
              <a:t>elif</a:t>
            </a:r>
            <a:r>
              <a:rPr lang="zh-CN" altLang="en-US" sz="2000" dirty="0" smtClean="0">
                <a:latin typeface="宋体" panose="02010600030101010101" pitchFamily="2" charset="-122"/>
              </a:rPr>
              <a:t>意味</a:t>
            </a:r>
            <a:r>
              <a:rPr lang="en-US" altLang="zh-CN" sz="2000" dirty="0" smtClean="0">
                <a:latin typeface="宋体" panose="02010600030101010101" pitchFamily="2" charset="-122"/>
              </a:rPr>
              <a:t>else if</a:t>
            </a:r>
            <a:r>
              <a:rPr lang="zh-CN" altLang="en-US" sz="2000" dirty="0" smtClean="0">
                <a:latin typeface="宋体" panose="02010600030101010101" pitchFamily="2" charset="-122"/>
              </a:rPr>
              <a:t>，代表“否则如果”，在不满足</a:t>
            </a:r>
            <a:r>
              <a:rPr lang="en-US" altLang="zh-CN" sz="2000" smtClean="0">
                <a:latin typeface="宋体" panose="02010600030101010101" pitchFamily="2" charset="-122"/>
              </a:rPr>
              <a:t>if</a:t>
            </a:r>
            <a:r>
              <a:rPr lang="zh-CN" altLang="en-US" sz="2000" smtClean="0">
                <a:latin typeface="宋体" panose="02010600030101010101" pitchFamily="2" charset="-122"/>
              </a:rPr>
              <a:t>条件的</a:t>
            </a:r>
            <a:endParaRPr lang="zh-CN" altLang="en-US" sz="20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000" dirty="0" smtClean="0">
                <a:latin typeface="宋体" panose="02010600030101010101" pitchFamily="2" charset="-122"/>
              </a:rPr>
              <a:t>情况</a:t>
            </a:r>
            <a:r>
              <a:rPr lang="zh-CN" altLang="en-US" sz="2000" smtClean="0">
                <a:latin typeface="宋体" panose="02010600030101010101" pitchFamily="2" charset="-122"/>
              </a:rPr>
              <a:t>下，还</a:t>
            </a:r>
            <a:r>
              <a:rPr lang="zh-CN" altLang="en-US" sz="2000" dirty="0" smtClean="0">
                <a:latin typeface="宋体" panose="02010600030101010101" pitchFamily="2" charset="-122"/>
              </a:rPr>
              <a:t>需进行下一次条件判断</a:t>
            </a:r>
            <a:endParaRPr lang="en-US" altLang="zh-CN" sz="2000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05065" y="1416685"/>
            <a:ext cx="3726815" cy="449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" y="1306830"/>
            <a:ext cx="10850880" cy="517461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更多的情况分支，分别处理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可以有更多的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elif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355" y="1774825"/>
            <a:ext cx="7094220" cy="37382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09651" y="14931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猜数字：系统给出一个</a:t>
            </a:r>
            <a:r>
              <a:rPr lang="en-US" altLang="zh-CN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1-10</a:t>
            </a:r>
            <a:r>
              <a:rPr lang="zh-CN" altLang="en-US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之间的整数，用户输入猜测的数字，系统给</a:t>
            </a:r>
            <a:endParaRPr lang="en-US" altLang="zh-CN" sz="22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出相应的提示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010" y="3052445"/>
            <a:ext cx="5815330" cy="30905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71780" y="1340485"/>
            <a:ext cx="11490960" cy="581406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结构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从上往下判断，如果在某个判断上是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True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，把该判断对应的语句执行后，就忽略掉剩下的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elif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665" y="1437005"/>
            <a:ext cx="3431540" cy="39846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5940" y="1465580"/>
            <a:ext cx="10515600" cy="468693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很多时候，需要条件是复合表达式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如果一个人的年龄大于等于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60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岁，并且为男性，我们称之为老先生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25" y="3033395"/>
            <a:ext cx="9128125" cy="21253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675005" y="332740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15925" y="1340485"/>
            <a:ext cx="10515600" cy="4686935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如果一个人的年龄大于等于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60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岁，或者是孕妇，就要坐专座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15" y="2229485"/>
            <a:ext cx="9043670" cy="239966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b="1" smtClean="0">
                <a:latin typeface="宋体" panose="02010600030101010101" pitchFamily="2" charset="-122"/>
              </a:rPr>
              <a:t>选择结构：</a:t>
            </a:r>
            <a:r>
              <a:rPr lang="en-US" altLang="zh-CN" sz="2400" b="1" smtClean="0">
                <a:latin typeface="宋体" panose="02010600030101010101" pitchFamily="2" charset="-122"/>
              </a:rPr>
              <a:t>if</a:t>
            </a:r>
            <a:r>
              <a:rPr lang="zh-CN" altLang="en-US" sz="2400" b="1" smtClean="0">
                <a:latin typeface="宋体" panose="02010600030101010101" pitchFamily="2" charset="-122"/>
              </a:rPr>
              <a:t>嵌套</a:t>
            </a:r>
            <a:endParaRPr lang="en-US" altLang="zh-CN" sz="2400" b="1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8855" y="1877695"/>
            <a:ext cx="10866120" cy="5235575"/>
          </a:xfrm>
        </p:spPr>
        <p:txBody>
          <a:bodyPr>
            <a:normAutofit/>
          </a:bodyPr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程序员先出门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走到菜市场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如果看到西瓜：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挑选西瓜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如果西瓜新鲜：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买两个番茄和一个西瓜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如果西瓜不新鲜：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买两个番茄和一个哈密瓜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否则：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买两个番茄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81000" y="1507490"/>
            <a:ext cx="10866120" cy="5235575"/>
          </a:xfrm>
        </p:spPr>
        <p:txBody>
          <a:bodyPr>
            <a:normAutofit lnSpcReduction="20000"/>
          </a:bodyPr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print('程序员走出家门')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print('走到菜市场')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hasW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otermelon = True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if </a:t>
            </a:r>
            <a:r>
              <a:rPr lang="en-US" sz="24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hasW</a:t>
            </a:r>
            <a:r>
              <a:rPr sz="24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otermelon:</a:t>
            </a:r>
            <a:endParaRPr sz="24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print('挑选西瓜')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isFresh = False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if isFresh:</a:t>
            </a:r>
            <a:endParaRPr sz="240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print('买两个番茄和一个西瓜')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else:</a:t>
            </a:r>
            <a:endParaRPr sz="240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print('买两个番茄和一个</a:t>
            </a:r>
            <a:r>
              <a:rPr 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哈密瓜</a:t>
            </a: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')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else:</a:t>
            </a:r>
            <a:endParaRPr sz="24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print('买两个番茄')</a:t>
            </a:r>
            <a:endParaRPr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3.2 if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8135" y="1407160"/>
            <a:ext cx="11035665" cy="5085080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if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判断条件还可以简写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 = 9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if x: 	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print ( 'x is not zero' )	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只要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是非零整数、非空字符串、非空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List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等，就判断为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True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，否则为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False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3.3 while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4035" y="1453515"/>
            <a:ext cx="10819765" cy="5234940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当某个条件成立时，一直执行某个动作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比如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老师对学生说，早上九点前，你们反复读课文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230505" indent="-230505" fontAlgn="auto">
              <a:buFont typeface="Wingdings" panose="05000000000000000000" charset="0"/>
              <a:buChar char="u"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循环的语法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buFont typeface="Wingdings" panose="05000000000000000000" charset="0"/>
              <a:buNone/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 </a:t>
            </a: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条件表达式：</a:t>
            </a:r>
            <a:endParaRPr lang="zh-CN" altLang="en-US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buFont typeface="Wingdings" panose="05000000000000000000" charset="0"/>
              <a:buNone/>
            </a:pPr>
            <a:r>
              <a:rPr lang="zh-CN" altLang="en-US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循环代码</a:t>
            </a:r>
            <a:endParaRPr lang="zh-CN" altLang="en-US" sz="24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buFont typeface="Wingdings" panose="05000000000000000000" charset="0"/>
              <a:buNone/>
            </a:pPr>
            <a:endParaRPr lang="zh-CN" altLang="en-US" sz="24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条件表达式结果为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True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的时候，循环会一直执行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auto"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直到条件表达式结果为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False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619169" y="1125842"/>
            <a:ext cx="33147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3.3 while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835" y="1341755"/>
            <a:ext cx="10895965" cy="5052695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请打印出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所有数字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cur = 1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 cur &lt;= 10: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print (cur)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cur += 1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zh-CN" sz="24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endParaRPr lang="en-US" altLang="zh-CN" sz="240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初始值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条件表达式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循环体内计数变量的增加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猜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数字游戏，增加游戏次数限制，最多只能猜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次。如果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次都没猜正确，给</a:t>
            </a:r>
            <a:r>
              <a:rPr lang="zh-CN" altLang="en-US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出提示，游戏结束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while</a:t>
            </a:r>
            <a:r>
              <a:rPr lang="zh-CN" altLang="en-US" sz="4000" b="1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小练习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02535"/>
            <a:ext cx="5910580" cy="442404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循环结构：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for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跟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while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一样，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for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循环可以用来重复做一件事，某些时候比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while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更好用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for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循环的本质是对一个序列上的元素进行递归，逐一完成对序列中每个元素的使用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语法：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[for]…[in]…[:]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                                                           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3.6 </a:t>
            </a: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for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024298" y="4564866"/>
            <a:ext cx="3857652" cy="1456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range(1,10)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函数代表一个整数序列，从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开始，到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为止（不包含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）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使用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for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循环对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range(1,10)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序列进行递归，每次将序列中的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个值赋给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i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变量（赋值顺序从左到右），每赋值一次就会执行一次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for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结构体中的语句，相当于一次一次的循环，当序列中所有值都赋值一次后，跳出循环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3.6 </a:t>
            </a: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for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66778" y="3714752"/>
            <a:ext cx="5572164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</a:pPr>
            <a:r>
              <a:rPr lang="zh-CN" altLang="en-US" sz="2400" dirty="0" smtClean="0">
                <a:latin typeface="宋体" panose="02010600030101010101" pitchFamily="2" charset="-122"/>
              </a:rPr>
              <a:t>小练习：使用</a:t>
            </a:r>
            <a:r>
              <a:rPr lang="en-US" altLang="zh-CN" sz="2400" dirty="0" smtClean="0">
                <a:latin typeface="宋体" panose="02010600030101010101" pitchFamily="2" charset="-122"/>
              </a:rPr>
              <a:t>for</a:t>
            </a:r>
            <a:r>
              <a:rPr lang="zh-CN" altLang="en-US" sz="2400" dirty="0" smtClean="0">
                <a:latin typeface="宋体" panose="02010600030101010101" pitchFamily="2" charset="-122"/>
              </a:rPr>
              <a:t>循环输出下列结果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</a:pPr>
            <a:r>
              <a:rPr lang="zh-CN" altLang="en-US" sz="2400" smtClean="0">
                <a:latin typeface="宋体" panose="02010600030101010101" pitchFamily="2" charset="-122"/>
              </a:rPr>
              <a:t>练习</a:t>
            </a:r>
            <a:r>
              <a:rPr lang="en-US" altLang="zh-CN" sz="2400" smtClean="0">
                <a:latin typeface="宋体" panose="02010600030101010101" pitchFamily="2" charset="-122"/>
              </a:rPr>
              <a:t>1</a:t>
            </a: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</a:pP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</a:pP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</a:pP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</a:pP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</a:pPr>
            <a:endParaRPr lang="en-US" altLang="zh-CN" sz="2400" smtClean="0">
              <a:latin typeface="宋体" panose="02010600030101010101" pitchFamily="2" charset="-122"/>
            </a:endParaRPr>
          </a:p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</a:pPr>
            <a:r>
              <a:rPr lang="zh-CN" altLang="en-US" sz="2400" smtClean="0">
                <a:latin typeface="宋体" panose="02010600030101010101" pitchFamily="2" charset="-122"/>
              </a:rPr>
              <a:t>练习</a:t>
            </a:r>
            <a:r>
              <a:rPr lang="en-US" altLang="zh-CN" sz="2400" smtClean="0">
                <a:latin typeface="宋体" panose="02010600030101010101" pitchFamily="2" charset="-122"/>
              </a:rPr>
              <a:t>2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                                                           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3.4 for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24100" y="5158706"/>
            <a:ext cx="2520280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4100" y="1920738"/>
            <a:ext cx="1003488" cy="2296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7980" indent="-347980" eaLnBrk="1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00529B"/>
              </a:buClr>
              <a:buFont typeface="Times" pitchFamily="18" charset="0"/>
              <a:buChar char="•"/>
            </a:pPr>
            <a:r>
              <a:rPr lang="zh-CN" altLang="en-US" sz="2400" smtClean="0">
                <a:latin typeface="宋体" panose="02010600030101010101" pitchFamily="2" charset="-122"/>
              </a:rPr>
              <a:t>练习</a:t>
            </a:r>
            <a:r>
              <a:rPr lang="en-US" altLang="zh-CN" sz="2400" smtClean="0">
                <a:latin typeface="宋体" panose="02010600030101010101" pitchFamily="2" charset="-122"/>
              </a:rPr>
              <a:t>3</a:t>
            </a: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                                                           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3.4 for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52662" y="1643050"/>
            <a:ext cx="2608033" cy="230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答案：</a:t>
            </a:r>
            <a:endParaRPr lang="zh-CN" altLang="en-US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3.4 for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840" y="1977390"/>
            <a:ext cx="4875530" cy="433070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小练习：使用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for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循环输出下列结果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                                   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3.6 </a:t>
            </a: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for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43472" y="2422402"/>
            <a:ext cx="8490360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答案：</a:t>
            </a:r>
            <a:endParaRPr lang="zh-CN" altLang="en-US" sz="220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                                   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3.4 for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15" y="2428240"/>
            <a:ext cx="7573010" cy="18383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0" y="1340485"/>
            <a:ext cx="9474200" cy="50469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break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语句用来</a:t>
            </a:r>
            <a:r>
              <a:rPr lang="zh-CN" altLang="en-US" sz="22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终止循环</a:t>
            </a:r>
            <a:endParaRPr lang="zh-CN" altLang="en-US" sz="22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即在没有满足循环条件或序列没有遍历完的时候，想要强行跳出循环，需要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使用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break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                                                           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3.4 </a:t>
            </a: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break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1000" y="2708910"/>
            <a:ext cx="5487670" cy="379984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continue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语句用来</a:t>
            </a:r>
            <a:r>
              <a:rPr lang="zh-CN" altLang="en-US" sz="22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跳过本次循环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中的剩余语句，然后继续进行下一轮循环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3.5 </a:t>
            </a:r>
            <a:r>
              <a:rPr lang="en-US" altLang="zh-CN" sz="4000" b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continue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940" y="2237740"/>
            <a:ext cx="7199630" cy="206756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OC_GUID" val="{079e4c76-f388-4f9f-b9c0-90a95d494367}"/>
</p:tagLst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0</TotalTime>
  <Words>2583</Words>
  <Application>WPS 演示</Application>
  <PresentationFormat>自定义</PresentationFormat>
  <Paragraphs>322</Paragraphs>
  <Slides>30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宋体</vt:lpstr>
      <vt:lpstr>Wingdings</vt:lpstr>
      <vt:lpstr>Arial Unicode MS</vt:lpstr>
      <vt:lpstr>Times</vt:lpstr>
      <vt:lpstr>Times New Roman</vt:lpstr>
      <vt:lpstr>Calibri Light</vt:lpstr>
      <vt:lpstr>Wingdings</vt:lpstr>
      <vt:lpstr>华文楷体</vt:lpstr>
      <vt:lpstr>微软雅黑</vt:lpstr>
      <vt:lpstr>Arial Unicode MS</vt:lpstr>
      <vt:lpstr>Gartner PPT- one template-v8_rm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勇敢的心</cp:lastModifiedBy>
  <cp:revision>1181</cp:revision>
  <dcterms:created xsi:type="dcterms:W3CDTF">2014-03-18T11:00:00Z</dcterms:created>
  <dcterms:modified xsi:type="dcterms:W3CDTF">2020-08-11T06:24:26Z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