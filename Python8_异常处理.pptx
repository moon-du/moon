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4"/>
  </p:handoutMasterIdLst>
  <p:sldIdLst>
    <p:sldId id="1080" r:id="rId3"/>
    <p:sldId id="1081" r:id="rId5"/>
    <p:sldId id="1091" r:id="rId6"/>
    <p:sldId id="1092" r:id="rId7"/>
    <p:sldId id="1082" r:id="rId8"/>
    <p:sldId id="1093" r:id="rId9"/>
    <p:sldId id="1085" r:id="rId10"/>
    <p:sldId id="1086" r:id="rId11"/>
    <p:sldId id="1087" r:id="rId12"/>
    <p:sldId id="1088" r:id="rId13"/>
    <p:sldId id="1094" r:id="rId14"/>
    <p:sldId id="1095" r:id="rId15"/>
    <p:sldId id="1089" r:id="rId16"/>
    <p:sldId id="1084" r:id="rId17"/>
    <p:sldId id="1103" r:id="rId18"/>
    <p:sldId id="1104" r:id="rId19"/>
    <p:sldId id="1105" r:id="rId20"/>
    <p:sldId id="1106" r:id="rId21"/>
    <p:sldId id="1107" r:id="rId22"/>
    <p:sldId id="1108" r:id="rId23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buFont typeface="Arial" panose="020B0604020202020204" pitchFamily="34" charset="0"/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66CCFF"/>
    <a:srgbClr val="FF6600"/>
    <a:srgbClr val="FFFFFF"/>
    <a:srgbClr val="FFFF99"/>
    <a:srgbClr val="FF9933"/>
    <a:srgbClr val="FF66CC"/>
    <a:srgbClr val="FF33CC"/>
    <a:srgbClr val="FF99FF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632" autoAdjust="0"/>
    <p:restoredTop sz="94805" autoAdjust="0"/>
  </p:normalViewPr>
  <p:slideViewPr>
    <p:cSldViewPr snapToObjects="1" showGuides="1">
      <p:cViewPr varScale="1">
        <p:scale>
          <a:sx n="72" d="100"/>
          <a:sy n="72" d="100"/>
        </p:scale>
        <p:origin x="-672" y="-18"/>
      </p:cViewPr>
      <p:guideLst>
        <p:guide orient="horz" pos="2115"/>
        <p:guide pos="368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handoutMaster" Target="handoutMasters/handoutMaster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BA593B-C7F3-4649-B760-8A9E538DD7F3}" type="datetimeFigureOut">
              <a:rPr lang="zh-CN" altLang="en-US" smtClean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FA9E79-3371-400B-AF86-A63F5C94FB3B}" type="slidenum">
              <a:rPr lang="zh-CN" altLang="en-US" smtClean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页眉占位符 1"/>
          <p:cNvSpPr>
            <a:spLocks noGrp="1" noChangeArrowheads="1"/>
          </p:cNvSpPr>
          <p:nvPr>
            <p:ph type="hdr" sz="quarter" idx="4294967295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1" name="日期占位符 2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>
                <a:latin typeface="Times New Roman" panose="02020603050405020304" pitchFamily="18" charset="0"/>
              </a:defRPr>
            </a:lvl1pPr>
          </a:lstStyle>
          <a:p>
            <a:fld id="{E9B07FDD-F1B3-4E5B-BC2D-FED26B65F69F}" type="datetime1">
              <a:rPr lang="zh-CN" altLang="en-US" smtClean="0"/>
            </a:fld>
            <a:endParaRPr lang="zh-CN" altLang="en-US" sz="1200" dirty="0"/>
          </a:p>
        </p:txBody>
      </p:sp>
      <p:sp>
        <p:nvSpPr>
          <p:cNvPr id="2052" name="幻灯片图像占位符 3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2053" name="备注占位符 4"/>
          <p:cNvSpPr>
            <a:spLocks noGrp="1" noRot="1" noChangeAspect="1" noChangeArrowheads="1"/>
          </p:cNvSpPr>
          <p:nvPr/>
        </p:nvSpPr>
        <p:spPr bwMode="auto"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defTabSz="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4572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9144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13716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1828800" defTabSz="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单击此处编辑母版文本样式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第二级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第三级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第四级</a:t>
            </a:r>
            <a:endParaRPr lang="zh-CN" dirty="0">
              <a:latin typeface="Times New Roman" panose="02020603050405020304" pitchFamily="18" charset="0"/>
            </a:endParaRPr>
          </a:p>
          <a:p>
            <a:pPr>
              <a:buFontTx/>
              <a:buNone/>
            </a:pPr>
            <a:r>
              <a:rPr lang="zh-CN" dirty="0">
                <a:latin typeface="Times New Roman" panose="02020603050405020304" pitchFamily="18" charset="0"/>
              </a:rPr>
              <a:t>第五级</a:t>
            </a:r>
            <a:endParaRPr lang="zh-CN" dirty="0">
              <a:latin typeface="Times New Roman" panose="02020603050405020304" pitchFamily="18" charset="0"/>
            </a:endParaRPr>
          </a:p>
        </p:txBody>
      </p:sp>
      <p:sp>
        <p:nvSpPr>
          <p:cNvPr id="2054" name="页脚占位符 5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Times New Roman" panose="02020603050405020304" pitchFamily="18" charset="0"/>
              </a:defRPr>
            </a:lvl1pPr>
          </a:lstStyle>
          <a:p>
            <a:endParaRPr lang="zh-CN" altLang="zh-CN" dirty="0"/>
          </a:p>
        </p:txBody>
      </p:sp>
      <p:sp>
        <p:nvSpPr>
          <p:cNvPr id="2055" name="灯片编号占位符 6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>
                <a:latin typeface="Times New Roman" panose="02020603050405020304" pitchFamily="18" charset="0"/>
              </a:defRPr>
            </a:lvl1pPr>
          </a:lstStyle>
          <a:p>
            <a:fld id="{E9EF8A88-7B05-4B03-ACDA-4A6B434EDC9B}" type="slidenum">
              <a:rPr lang="zh-CN" altLang="en-US" smtClean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algn="l" defTabSz="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eaLnBrk="1" hangingPunct="1"/>
            <a:endParaRPr lang="zh-CN" altLang="en-US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Times New Roman" panose="02020603050405020304" pitchFamily="18" charset="0"/>
              </a:rPr>
              <a:t>利用到目前为止的学习的知识点做一个</a:t>
            </a:r>
            <a:r>
              <a:rPr lang="zh-CN" altLang="en-US" smtClean="0">
                <a:latin typeface="Times New Roman" panose="02020603050405020304" pitchFamily="18" charset="0"/>
              </a:rPr>
              <a:t>程序练习（面向过程）：</a:t>
            </a:r>
            <a:r>
              <a:rPr lang="zh-CN" altLang="en-US" dirty="0" smtClean="0">
                <a:latin typeface="Times New Roman" panose="02020603050405020304" pitchFamily="18" charset="0"/>
              </a:rPr>
              <a:t>自动取款机（以文件形式存储用例数据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账号、密码、余额）（参考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案例</a:t>
            </a: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）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</a:rPr>
              <a:t>、使用登录功能替代银行卡插卡动作，登录需正确校验账号和密码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</a:rPr>
              <a:t>、登录成功后，可选择不同服务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查询余额、取款、转账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、取款需满足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取款金额以</a:t>
            </a:r>
            <a:r>
              <a:rPr lang="en-US" altLang="zh-CN" dirty="0" smtClean="0">
                <a:latin typeface="Times New Roman" panose="02020603050405020304" pitchFamily="18" charset="0"/>
              </a:rPr>
              <a:t>50</a:t>
            </a:r>
            <a:r>
              <a:rPr lang="zh-CN" altLang="en-US" dirty="0" smtClean="0">
                <a:latin typeface="Times New Roman" panose="02020603050405020304" pitchFamily="18" charset="0"/>
              </a:rPr>
              <a:t>为单位、账号余额充足、单笔限额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1000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4</a:t>
            </a:r>
            <a:r>
              <a:rPr lang="zh-CN" altLang="en-US" dirty="0" smtClean="0">
                <a:latin typeface="Times New Roman" panose="02020603050405020304" pitchFamily="18" charset="0"/>
              </a:rPr>
              <a:t>、转账需满足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2000</a:t>
            </a:r>
            <a:endParaRPr lang="en-US" altLang="zh-CN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Times New Roman" panose="02020603050405020304" pitchFamily="18" charset="0"/>
              </a:rPr>
              <a:t>利用到目前为止的学习的知识点做一个</a:t>
            </a:r>
            <a:r>
              <a:rPr lang="zh-CN" altLang="en-US" smtClean="0">
                <a:latin typeface="Times New Roman" panose="02020603050405020304" pitchFamily="18" charset="0"/>
              </a:rPr>
              <a:t>程序练习（面向过程）：</a:t>
            </a:r>
            <a:r>
              <a:rPr lang="zh-CN" altLang="en-US" dirty="0" smtClean="0">
                <a:latin typeface="Times New Roman" panose="02020603050405020304" pitchFamily="18" charset="0"/>
              </a:rPr>
              <a:t>自动取款机（以文件形式存储用例数据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账号、密码、余额）（参考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案例</a:t>
            </a: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）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</a:rPr>
              <a:t>、使用登录功能替代银行卡插卡动作，登录需正确校验账号和密码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</a:rPr>
              <a:t>、登录成功后，可选择不同服务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查询余额、取款、转账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、取款需满足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取款金额以</a:t>
            </a:r>
            <a:r>
              <a:rPr lang="en-US" altLang="zh-CN" dirty="0" smtClean="0">
                <a:latin typeface="Times New Roman" panose="02020603050405020304" pitchFamily="18" charset="0"/>
              </a:rPr>
              <a:t>50</a:t>
            </a:r>
            <a:r>
              <a:rPr lang="zh-CN" altLang="en-US" dirty="0" smtClean="0">
                <a:latin typeface="Times New Roman" panose="02020603050405020304" pitchFamily="18" charset="0"/>
              </a:rPr>
              <a:t>为单位、账号余额充足、单笔限额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1000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4</a:t>
            </a:r>
            <a:r>
              <a:rPr lang="zh-CN" altLang="en-US" dirty="0" smtClean="0">
                <a:latin typeface="Times New Roman" panose="02020603050405020304" pitchFamily="18" charset="0"/>
              </a:rPr>
              <a:t>、转账需满足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2000</a:t>
            </a:r>
            <a:endParaRPr lang="en-US" altLang="zh-CN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Times New Roman" panose="02020603050405020304" pitchFamily="18" charset="0"/>
              </a:rPr>
              <a:t>利用到目前为止的学习的知识点做一个</a:t>
            </a:r>
            <a:r>
              <a:rPr lang="zh-CN" altLang="en-US" smtClean="0">
                <a:latin typeface="Times New Roman" panose="02020603050405020304" pitchFamily="18" charset="0"/>
              </a:rPr>
              <a:t>程序练习（面向过程）：</a:t>
            </a:r>
            <a:r>
              <a:rPr lang="zh-CN" altLang="en-US" dirty="0" smtClean="0">
                <a:latin typeface="Times New Roman" panose="02020603050405020304" pitchFamily="18" charset="0"/>
              </a:rPr>
              <a:t>自动取款机（以文件形式存储用例数据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账号、密码、余额）（参考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案例</a:t>
            </a: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）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</a:rPr>
              <a:t>、使用登录功能替代银行卡插卡动作，登录需正确校验账号和密码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</a:rPr>
              <a:t>、登录成功后，可选择不同服务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查询余额、取款、转账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、取款需满足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取款金额以</a:t>
            </a:r>
            <a:r>
              <a:rPr lang="en-US" altLang="zh-CN" dirty="0" smtClean="0">
                <a:latin typeface="Times New Roman" panose="02020603050405020304" pitchFamily="18" charset="0"/>
              </a:rPr>
              <a:t>50</a:t>
            </a:r>
            <a:r>
              <a:rPr lang="zh-CN" altLang="en-US" dirty="0" smtClean="0">
                <a:latin typeface="Times New Roman" panose="02020603050405020304" pitchFamily="18" charset="0"/>
              </a:rPr>
              <a:t>为单位、账号余额充足、单笔限额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1000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4</a:t>
            </a:r>
            <a:r>
              <a:rPr lang="zh-CN" altLang="en-US" dirty="0" smtClean="0">
                <a:latin typeface="Times New Roman" panose="02020603050405020304" pitchFamily="18" charset="0"/>
              </a:rPr>
              <a:t>、转账需满足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2000</a:t>
            </a:r>
            <a:endParaRPr lang="en-US" altLang="zh-CN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Times New Roman" panose="02020603050405020304" pitchFamily="18" charset="0"/>
              </a:rPr>
              <a:t>利用到目前为止的学习的知识点做一个</a:t>
            </a:r>
            <a:r>
              <a:rPr lang="zh-CN" altLang="en-US" smtClean="0">
                <a:latin typeface="Times New Roman" panose="02020603050405020304" pitchFamily="18" charset="0"/>
              </a:rPr>
              <a:t>程序练习（面向过程）：</a:t>
            </a:r>
            <a:r>
              <a:rPr lang="zh-CN" altLang="en-US" dirty="0" smtClean="0">
                <a:latin typeface="Times New Roman" panose="02020603050405020304" pitchFamily="18" charset="0"/>
              </a:rPr>
              <a:t>自动取款机（以文件形式存储用例数据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账号、密码、余额）（参考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案例</a:t>
            </a: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）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</a:rPr>
              <a:t>、使用登录功能替代银行卡插卡动作，登录需正确校验账号和密码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</a:rPr>
              <a:t>、登录成功后，可选择不同服务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查询余额、取款、转账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、取款需满足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取款金额以</a:t>
            </a:r>
            <a:r>
              <a:rPr lang="en-US" altLang="zh-CN" dirty="0" smtClean="0">
                <a:latin typeface="Times New Roman" panose="02020603050405020304" pitchFamily="18" charset="0"/>
              </a:rPr>
              <a:t>50</a:t>
            </a:r>
            <a:r>
              <a:rPr lang="zh-CN" altLang="en-US" dirty="0" smtClean="0">
                <a:latin typeface="Times New Roman" panose="02020603050405020304" pitchFamily="18" charset="0"/>
              </a:rPr>
              <a:t>为单位、账号余额充足、单笔限额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1000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4</a:t>
            </a:r>
            <a:r>
              <a:rPr lang="zh-CN" altLang="en-US" dirty="0" smtClean="0">
                <a:latin typeface="Times New Roman" panose="02020603050405020304" pitchFamily="18" charset="0"/>
              </a:rPr>
              <a:t>、转账需满足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2000</a:t>
            </a:r>
            <a:endParaRPr lang="en-US" altLang="zh-CN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Times New Roman" panose="02020603050405020304" pitchFamily="18" charset="0"/>
              </a:rPr>
              <a:t>利用到目前为止的学习的知识点做一个</a:t>
            </a:r>
            <a:r>
              <a:rPr lang="zh-CN" altLang="en-US" smtClean="0">
                <a:latin typeface="Times New Roman" panose="02020603050405020304" pitchFamily="18" charset="0"/>
              </a:rPr>
              <a:t>程序练习（面向过程）：</a:t>
            </a:r>
            <a:r>
              <a:rPr lang="zh-CN" altLang="en-US" dirty="0" smtClean="0">
                <a:latin typeface="Times New Roman" panose="02020603050405020304" pitchFamily="18" charset="0"/>
              </a:rPr>
              <a:t>自动取款机（以文件形式存储用例数据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账号、密码、余额）（参考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案例</a:t>
            </a: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）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</a:rPr>
              <a:t>、使用登录功能替代银行卡插卡动作，登录需正确校验账号和密码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</a:rPr>
              <a:t>、登录成功后，可选择不同服务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查询余额、取款、转账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、取款需满足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取款金额以</a:t>
            </a:r>
            <a:r>
              <a:rPr lang="en-US" altLang="zh-CN" dirty="0" smtClean="0">
                <a:latin typeface="Times New Roman" panose="02020603050405020304" pitchFamily="18" charset="0"/>
              </a:rPr>
              <a:t>50</a:t>
            </a:r>
            <a:r>
              <a:rPr lang="zh-CN" altLang="en-US" dirty="0" smtClean="0">
                <a:latin typeface="Times New Roman" panose="02020603050405020304" pitchFamily="18" charset="0"/>
              </a:rPr>
              <a:t>为单位、账号余额充足、单笔限额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1000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4</a:t>
            </a:r>
            <a:r>
              <a:rPr lang="zh-CN" altLang="en-US" dirty="0" smtClean="0">
                <a:latin typeface="Times New Roman" panose="02020603050405020304" pitchFamily="18" charset="0"/>
              </a:rPr>
              <a:t>、转账需满足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2000</a:t>
            </a:r>
            <a:endParaRPr lang="en-US" altLang="zh-CN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Times New Roman" panose="02020603050405020304" pitchFamily="18" charset="0"/>
              </a:rPr>
              <a:t>利用到目前为止的学习的知识点做一个</a:t>
            </a:r>
            <a:r>
              <a:rPr lang="zh-CN" altLang="en-US" smtClean="0">
                <a:latin typeface="Times New Roman" panose="02020603050405020304" pitchFamily="18" charset="0"/>
              </a:rPr>
              <a:t>程序练习（面向过程）：</a:t>
            </a:r>
            <a:r>
              <a:rPr lang="zh-CN" altLang="en-US" dirty="0" smtClean="0">
                <a:latin typeface="Times New Roman" panose="02020603050405020304" pitchFamily="18" charset="0"/>
              </a:rPr>
              <a:t>自动取款机（以文件形式存储用例数据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账号、密码、余额）（参考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案例</a:t>
            </a: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）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</a:rPr>
              <a:t>、使用登录功能替代银行卡插卡动作，登录需正确校验账号和密码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</a:rPr>
              <a:t>、登录成功后，可选择不同服务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查询余额、取款、转账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、取款需满足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取款金额以</a:t>
            </a:r>
            <a:r>
              <a:rPr lang="en-US" altLang="zh-CN" dirty="0" smtClean="0">
                <a:latin typeface="Times New Roman" panose="02020603050405020304" pitchFamily="18" charset="0"/>
              </a:rPr>
              <a:t>50</a:t>
            </a:r>
            <a:r>
              <a:rPr lang="zh-CN" altLang="en-US" dirty="0" smtClean="0">
                <a:latin typeface="Times New Roman" panose="02020603050405020304" pitchFamily="18" charset="0"/>
              </a:rPr>
              <a:t>为单位、账号余额充足、单笔限额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1000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4</a:t>
            </a:r>
            <a:r>
              <a:rPr lang="zh-CN" altLang="en-US" dirty="0" smtClean="0">
                <a:latin typeface="Times New Roman" panose="02020603050405020304" pitchFamily="18" charset="0"/>
              </a:rPr>
              <a:t>、转账需满足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2000</a:t>
            </a:r>
            <a:endParaRPr lang="en-US" altLang="zh-CN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6C0A3F6E-5A83-4945-B490-88B1218DACD4}" type="slidenum">
              <a:rPr lang="zh-CN" altLang="en-US" smtClean="0"/>
            </a:fld>
            <a:endParaRPr lang="en-US" altLang="zh-CN" dirty="0" smtClean="0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31788" y="676275"/>
            <a:ext cx="6135687" cy="3452813"/>
          </a:xfrm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5525" y="4338685"/>
            <a:ext cx="5023884" cy="4114587"/>
          </a:xfrm>
          <a:prstGeom prst="rect">
            <a:avLst/>
          </a:prstGeom>
          <a:noFill/>
        </p:spPr>
        <p:txBody>
          <a:bodyPr lIns="89891" tIns="44945" rIns="89891" bIns="44945"/>
          <a:lstStyle/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dirty="0" smtClean="0">
                <a:latin typeface="Times New Roman" panose="02020603050405020304" pitchFamily="18" charset="0"/>
              </a:rPr>
              <a:t>利用到目前为止的学习的知识点做一个</a:t>
            </a:r>
            <a:r>
              <a:rPr lang="zh-CN" altLang="en-US" smtClean="0">
                <a:latin typeface="Times New Roman" panose="02020603050405020304" pitchFamily="18" charset="0"/>
              </a:rPr>
              <a:t>程序练习（面向过程）：</a:t>
            </a:r>
            <a:r>
              <a:rPr lang="zh-CN" altLang="en-US" dirty="0" smtClean="0">
                <a:latin typeface="Times New Roman" panose="02020603050405020304" pitchFamily="18" charset="0"/>
              </a:rPr>
              <a:t>自动取款机（以文件形式存储用例数据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账号、密码、余额）（参考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案例</a:t>
            </a: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）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1</a:t>
            </a:r>
            <a:r>
              <a:rPr lang="zh-CN" altLang="en-US" dirty="0" smtClean="0">
                <a:latin typeface="Times New Roman" panose="02020603050405020304" pitchFamily="18" charset="0"/>
              </a:rPr>
              <a:t>、使用登录功能替代银行卡插卡动作，登录需正确校验账号和密码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2</a:t>
            </a:r>
            <a:r>
              <a:rPr lang="zh-CN" altLang="en-US" dirty="0" smtClean="0">
                <a:latin typeface="Times New Roman" panose="02020603050405020304" pitchFamily="18" charset="0"/>
              </a:rPr>
              <a:t>、登录成功后，可选择不同服务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查询余额、取款、转账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3</a:t>
            </a:r>
            <a:r>
              <a:rPr lang="zh-CN" altLang="en-US" dirty="0" smtClean="0">
                <a:latin typeface="Times New Roman" panose="02020603050405020304" pitchFamily="18" charset="0"/>
              </a:rPr>
              <a:t>、取款需满足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取款金额以</a:t>
            </a:r>
            <a:r>
              <a:rPr lang="en-US" altLang="zh-CN" dirty="0" smtClean="0">
                <a:latin typeface="Times New Roman" panose="02020603050405020304" pitchFamily="18" charset="0"/>
              </a:rPr>
              <a:t>50</a:t>
            </a:r>
            <a:r>
              <a:rPr lang="zh-CN" altLang="en-US" dirty="0" smtClean="0">
                <a:latin typeface="Times New Roman" panose="02020603050405020304" pitchFamily="18" charset="0"/>
              </a:rPr>
              <a:t>为单位、账号余额充足、单笔限额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1000</a:t>
            </a:r>
            <a:endParaRPr lang="en-US" altLang="zh-CN" dirty="0" smtClean="0">
              <a:latin typeface="Times New Roman" panose="02020603050405020304" pitchFamily="18" charset="0"/>
            </a:endParaRPr>
          </a:p>
          <a:p>
            <a:pPr marL="0" marR="0" indent="0" algn="l" defTabSz="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dirty="0" smtClean="0">
                <a:latin typeface="Times New Roman" panose="02020603050405020304" pitchFamily="18" charset="0"/>
              </a:rPr>
              <a:t>4</a:t>
            </a:r>
            <a:r>
              <a:rPr lang="zh-CN" altLang="en-US" dirty="0" smtClean="0">
                <a:latin typeface="Times New Roman" panose="02020603050405020304" pitchFamily="18" charset="0"/>
              </a:rPr>
              <a:t>、转账需满足</a:t>
            </a:r>
            <a:r>
              <a:rPr lang="en-US" altLang="zh-CN" dirty="0" smtClean="0">
                <a:latin typeface="Times New Roman" panose="02020603050405020304" pitchFamily="18" charset="0"/>
              </a:rPr>
              <a:t>-</a:t>
            </a:r>
            <a:r>
              <a:rPr lang="zh-CN" altLang="en-US" dirty="0" smtClean="0">
                <a:latin typeface="Times New Roman" panose="02020603050405020304" pitchFamily="18" charset="0"/>
              </a:rPr>
              <a:t>账号余额充足、单笔限额</a:t>
            </a:r>
            <a:r>
              <a:rPr lang="en-US" altLang="zh-CN" dirty="0" smtClean="0">
                <a:latin typeface="Times New Roman" panose="02020603050405020304" pitchFamily="18" charset="0"/>
              </a:rPr>
              <a:t>2000</a:t>
            </a:r>
            <a:endParaRPr lang="en-US" altLang="zh-CN" dirty="0" smtClean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16" descr="Dscpe_01_Lg_cropped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322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217"/>
          <p:cNvSpPr>
            <a:spLocks noChangeArrowheads="1"/>
          </p:cNvSpPr>
          <p:nvPr/>
        </p:nvSpPr>
        <p:spPr bwMode="invGray">
          <a:xfrm>
            <a:off x="0" y="1430338"/>
            <a:ext cx="12192000" cy="369887"/>
          </a:xfrm>
          <a:prstGeom prst="rect">
            <a:avLst/>
          </a:prstGeom>
          <a:solidFill>
            <a:srgbClr val="0052A5">
              <a:alpha val="50195"/>
            </a:srgbClr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6" name="Rectangle 250"/>
          <p:cNvSpPr>
            <a:spLocks noChangeArrowheads="1"/>
          </p:cNvSpPr>
          <p:nvPr/>
        </p:nvSpPr>
        <p:spPr bwMode="auto">
          <a:xfrm>
            <a:off x="0" y="3141663"/>
            <a:ext cx="12192000" cy="368300"/>
          </a:xfrm>
          <a:prstGeom prst="rect">
            <a:avLst/>
          </a:prstGeom>
          <a:solidFill>
            <a:srgbClr val="E48F1B"/>
          </a:solidFill>
          <a:ln w="12700" algn="ctr">
            <a:noFill/>
            <a:miter lim="800000"/>
          </a:ln>
          <a:effectLst/>
        </p:spPr>
        <p:txBody>
          <a:bodyPr anchor="ctr">
            <a:spAutoFit/>
          </a:bodyPr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8" name="图片 14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407368" y="6300028"/>
            <a:ext cx="6192688" cy="369332"/>
          </a:xfrm>
          <a:prstGeom prst="rect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成都市武侯区新南路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44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号附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1</a:t>
            </a:r>
            <a:r>
              <a:rPr lang="zh-CN" altLang="en-US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rgbClr val="FFFFFF"/>
                </a:solidFill>
              </a:rPr>
              <a:t>楼腾云商务大厦 </a:t>
            </a:r>
            <a:r>
              <a:rPr lang="en-US" altLang="zh-CN" dirty="0">
                <a:ln w="10160">
                  <a:solidFill>
                    <a:schemeClr val="accent1"/>
                  </a:solidFill>
                  <a:prstDash val="solid"/>
                </a:ln>
                <a:solidFill>
                  <a:schemeClr val="accent1">
                    <a:lumMod val="50000"/>
                  </a:schemeClr>
                </a:solidFill>
              </a:rPr>
              <a:t>02885062021</a:t>
            </a:r>
            <a:endParaRPr lang="zh-CN" altLang="en-US" dirty="0">
              <a:ln w="10160">
                <a:solidFill>
                  <a:schemeClr val="accent1"/>
                </a:solidFill>
                <a:prstDash val="solid"/>
              </a:ln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80698" name="Rectangle 122"/>
          <p:cNvSpPr>
            <a:spLocks noGrp="1" noChangeArrowheads="1"/>
          </p:cNvSpPr>
          <p:nvPr>
            <p:ph type="ctrTitle"/>
          </p:nvPr>
        </p:nvSpPr>
        <p:spPr bwMode="auto">
          <a:xfrm>
            <a:off x="508000" y="420690"/>
            <a:ext cx="11074400" cy="2352675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38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en-US" altLang="zh-CN" noProof="0" smtClean="0"/>
          </a:p>
        </p:txBody>
      </p:sp>
      <p:sp>
        <p:nvSpPr>
          <p:cNvPr id="280799" name="Rectangle 223"/>
          <p:cNvSpPr>
            <a:spLocks noGrp="1" noChangeArrowheads="1"/>
          </p:cNvSpPr>
          <p:nvPr>
            <p:ph type="subTitle" idx="1"/>
          </p:nvPr>
        </p:nvSpPr>
        <p:spPr>
          <a:xfrm>
            <a:off x="5852584" y="3836988"/>
            <a:ext cx="5831416" cy="1504950"/>
          </a:xfrm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 algn="r">
              <a:buFont typeface="Times" pitchFamily="18" charset="0"/>
              <a:buNone/>
              <a:defRPr sz="26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en-US" altLang="zh-CN" noProof="0" smtClean="0"/>
          </a:p>
        </p:txBody>
      </p:sp>
    </p:spTree>
  </p:cSld>
  <p:clrMapOvr>
    <a:masterClrMapping/>
  </p:clrMapOvr>
  <p:transition/>
  <p:hf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5" y="3857628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5" y="1857364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19800" y="1362075"/>
            <a:ext cx="5435600" cy="44196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85728"/>
            <a:ext cx="10972800" cy="642934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cut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4" y="1214422"/>
            <a:ext cx="6815666" cy="491174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214422"/>
            <a:ext cx="4011084" cy="491174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1214421"/>
            <a:ext cx="7315200" cy="351315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</p:spTree>
  </p:cSld>
  <p:clrMapOvr>
    <a:masterClrMapping/>
  </p:clrMapOvr>
  <p:transition>
    <p:cut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>
    <p:cut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84685" y="1357298"/>
            <a:ext cx="2770716" cy="442437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70418" y="1357298"/>
            <a:ext cx="8111067" cy="442437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</p:spTree>
  </p:cSld>
  <p:clrMapOvr>
    <a:masterClrMapping/>
  </p:clrMapOvr>
  <p:transition/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70417" y="285728"/>
            <a:ext cx="11074400" cy="64772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 hasCustomPrompt="1"/>
          </p:nvPr>
        </p:nvSpPr>
        <p:spPr>
          <a:xfrm>
            <a:off x="381000" y="1362075"/>
            <a:ext cx="11074400" cy="4419600"/>
          </a:xfrm>
        </p:spPr>
        <p:txBody>
          <a:bodyPr/>
          <a:lstStyle/>
          <a:p>
            <a:pPr lvl="0"/>
            <a:r>
              <a:rPr lang="zh-CN" altLang="en-US" noProof="0" smtClean="0"/>
              <a:t>单击图标添加图表</a:t>
            </a:r>
            <a:endParaRPr lang="zh-CN" altLang="en-US" noProof="0" smtClean="0"/>
          </a:p>
        </p:txBody>
      </p:sp>
    </p:spTree>
  </p:cSld>
  <p:clrMapOvr>
    <a:masterClrMapping/>
  </p:clrMapOvr>
  <p:transition/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3.jpe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7" descr="slide_header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invGray">
          <a:xfrm>
            <a:off x="0" y="-1588"/>
            <a:ext cx="12193588" cy="1143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7" name="Rectangle 17"/>
          <p:cNvSpPr>
            <a:spLocks noChangeArrowheads="1"/>
          </p:cNvSpPr>
          <p:nvPr/>
        </p:nvSpPr>
        <p:spPr bwMode="gray">
          <a:xfrm>
            <a:off x="0" y="1139825"/>
            <a:ext cx="12192000" cy="57181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pPr eaLnBrk="0" hangingPunct="0">
              <a:buFont typeface="Arial" panose="020B0604020202020204" pitchFamily="34" charset="0"/>
              <a:buNone/>
            </a:pPr>
            <a:endParaRPr lang="zh-CN" altLang="en-US"/>
          </a:p>
        </p:txBody>
      </p:sp>
      <p:sp>
        <p:nvSpPr>
          <p:cNvPr id="1028" name="Rectangle 52"/>
          <p:cNvSpPr>
            <a:spLocks noGrp="1" noChangeArrowheads="1"/>
          </p:cNvSpPr>
          <p:nvPr>
            <p:ph type="body" idx="1"/>
          </p:nvPr>
        </p:nvSpPr>
        <p:spPr bwMode="gray">
          <a:xfrm>
            <a:off x="381000" y="1362075"/>
            <a:ext cx="11074400" cy="4419600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dirty="0" smtClean="0"/>
              <a:t>单击此处编辑母版文本样式</a:t>
            </a:r>
            <a:endParaRPr lang="zh-CN" altLang="en-US" dirty="0" smtClean="0"/>
          </a:p>
          <a:p>
            <a:pPr lvl="1"/>
            <a:r>
              <a:rPr lang="zh-CN" altLang="en-US" dirty="0" smtClean="0"/>
              <a:t>第二级</a:t>
            </a:r>
            <a:endParaRPr lang="zh-CN" altLang="en-US" dirty="0" smtClean="0"/>
          </a:p>
          <a:p>
            <a:pPr lvl="2"/>
            <a:r>
              <a:rPr lang="zh-CN" altLang="en-US" dirty="0" smtClean="0"/>
              <a:t>第三级</a:t>
            </a:r>
            <a:endParaRPr lang="zh-CN" altLang="en-US" dirty="0" smtClean="0"/>
          </a:p>
          <a:p>
            <a:pPr lvl="3"/>
            <a:r>
              <a:rPr lang="zh-CN" altLang="en-US" dirty="0" smtClean="0"/>
              <a:t>第四级</a:t>
            </a:r>
            <a:endParaRPr lang="zh-CN" altLang="en-US" dirty="0" smtClean="0"/>
          </a:p>
          <a:p>
            <a:pPr lvl="4"/>
            <a:r>
              <a:rPr lang="zh-CN" altLang="en-US" dirty="0" smtClean="0"/>
              <a:t>第五级</a:t>
            </a:r>
            <a:endParaRPr lang="en-US" altLang="zh-CN" dirty="0" smtClean="0"/>
          </a:p>
        </p:txBody>
      </p:sp>
      <p:sp>
        <p:nvSpPr>
          <p:cNvPr id="1029" name="Rectangle 53"/>
          <p:cNvSpPr>
            <a:spLocks noGrp="1" noChangeArrowheads="1"/>
          </p:cNvSpPr>
          <p:nvPr>
            <p:ph type="title"/>
          </p:nvPr>
        </p:nvSpPr>
        <p:spPr bwMode="invGray">
          <a:xfrm>
            <a:off x="369888" y="285728"/>
            <a:ext cx="11074400" cy="647721"/>
          </a:xfrm>
          <a:prstGeom prst="rect">
            <a:avLst/>
          </a:prstGeom>
          <a:noFill/>
          <a:ln w="9525" algn="ctr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/>
            <a:r>
              <a:rPr lang="zh-CN" altLang="en-US" dirty="0" smtClean="0"/>
              <a:t>单击此处编辑母版标题样式</a:t>
            </a:r>
            <a:endParaRPr lang="en-US" altLang="zh-CN" dirty="0" smtClean="0"/>
          </a:p>
        </p:txBody>
      </p:sp>
      <p:sp>
        <p:nvSpPr>
          <p:cNvPr id="7" name="矩形 6"/>
          <p:cNvSpPr/>
          <p:nvPr/>
        </p:nvSpPr>
        <p:spPr>
          <a:xfrm>
            <a:off x="9118009" y="6253750"/>
            <a:ext cx="2954655" cy="461665"/>
          </a:xfrm>
          <a:prstGeom prst="rect">
            <a:avLst/>
          </a:prstGeom>
          <a:noFill/>
        </p:spPr>
        <p:txBody>
          <a:bodyPr wrap="none">
            <a:spAutoFit/>
            <a:scene3d>
              <a:camera prst="orthographicFront">
                <a:rot lat="0" lon="0" rev="0"/>
              </a:camera>
              <a:lightRig rig="contrasting" dir="t">
                <a:rot lat="0" lon="0" rev="4500000"/>
              </a:lightRig>
            </a:scene3d>
            <a:sp3d contourW="6350" prstMaterial="metal">
              <a:bevelT w="127000" h="31750" prst="relaxedInset"/>
              <a:contourClr>
                <a:schemeClr val="accent1">
                  <a:shade val="75000"/>
                </a:schemeClr>
              </a:contourClr>
            </a:sp3d>
          </a:bodyPr>
          <a:lstStyle/>
          <a:p>
            <a:pPr eaLnBrk="0" hangingPunct="0">
              <a:buFont typeface="Arial" panose="020B0604020202020204" pitchFamily="34" charset="0"/>
              <a:buNone/>
              <a:defRPr/>
            </a:pPr>
            <a:r>
              <a:rPr lang="zh-CN" altLang="en-US" sz="2400" b="1" cap="all" dirty="0">
                <a:ln w="0"/>
                <a:gradFill flip="none">
                  <a:gsLst>
                    <a:gs pos="0">
                      <a:schemeClr val="accent1">
                        <a:tint val="75000"/>
                        <a:shade val="75000"/>
                        <a:satMod val="170000"/>
                      </a:schemeClr>
                    </a:gs>
                    <a:gs pos="49000">
                      <a:schemeClr val="accent1">
                        <a:tint val="88000"/>
                        <a:shade val="65000"/>
                        <a:satMod val="172000"/>
                      </a:schemeClr>
                    </a:gs>
                    <a:gs pos="50000">
                      <a:schemeClr val="accent1">
                        <a:shade val="65000"/>
                        <a:satMod val="130000"/>
                      </a:schemeClr>
                    </a:gs>
                    <a:gs pos="92000">
                      <a:schemeClr val="accent1">
                        <a:shade val="50000"/>
                        <a:satMod val="120000"/>
                      </a:schemeClr>
                    </a:gs>
                    <a:gs pos="100000">
                      <a:schemeClr val="accent1">
                        <a:shade val="48000"/>
                        <a:satMod val="120000"/>
                      </a:schemeClr>
                    </a:gs>
                  </a:gsLst>
                  <a:lin ang="5400000"/>
                </a:gradFill>
                <a:effectLst>
                  <a:reflection blurRad="12700" stA="50000" endPos="50000" dist="5000" dir="5400000" sy="-100000" rotWithShape="0"/>
                </a:effectLst>
                <a:latin typeface="Arial" panose="020B0604020202020204" pitchFamily="34" charset="0"/>
                <a:ea typeface="+mn-ea"/>
              </a:rPr>
              <a:t>汇聚智慧，动力无限</a:t>
            </a:r>
            <a:endParaRPr lang="zh-CN" altLang="en-US" sz="2400" b="1" cap="all" dirty="0">
              <a:ln w="0"/>
              <a:gradFill flip="none">
                <a:gsLst>
                  <a:gs pos="0">
                    <a:schemeClr val="accent1">
                      <a:tint val="75000"/>
                      <a:shade val="75000"/>
                      <a:satMod val="170000"/>
                    </a:schemeClr>
                  </a:gs>
                  <a:gs pos="49000">
                    <a:schemeClr val="accent1">
                      <a:tint val="88000"/>
                      <a:shade val="65000"/>
                      <a:satMod val="172000"/>
                    </a:schemeClr>
                  </a:gs>
                  <a:gs pos="50000">
                    <a:schemeClr val="accent1">
                      <a:shade val="65000"/>
                      <a:satMod val="130000"/>
                    </a:schemeClr>
                  </a:gs>
                  <a:gs pos="92000">
                    <a:schemeClr val="accent1">
                      <a:shade val="50000"/>
                      <a:satMod val="120000"/>
                    </a:schemeClr>
                  </a:gs>
                  <a:gs pos="100000">
                    <a:schemeClr val="accent1">
                      <a:shade val="48000"/>
                      <a:satMod val="120000"/>
                    </a:schemeClr>
                  </a:gs>
                </a:gsLst>
                <a:lin ang="5400000"/>
              </a:gradFill>
              <a:effectLst>
                <a:reflection blurRad="12700" stA="50000" endPos="50000" dist="5000" dir="5400000" sy="-100000" rotWithShape="0"/>
              </a:effectLst>
              <a:latin typeface="Arial" panose="020B0604020202020204" pitchFamily="34" charset="0"/>
              <a:ea typeface="+mn-ea"/>
            </a:endParaRPr>
          </a:p>
        </p:txBody>
      </p:sp>
      <p:pic>
        <p:nvPicPr>
          <p:cNvPr id="1031" name="图片 8"/>
          <p:cNvPicPr>
            <a:picLocks noChangeAspect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8504238" y="6165850"/>
            <a:ext cx="615950" cy="612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cut/>
  </p:transition>
  <p:timing>
    <p:tnLst>
      <p:par>
        <p:cTn id="1" dur="indefinite" restart="never" nodeType="tmRoot"/>
      </p:par>
    </p:tnLst>
  </p:timing>
  <p:hf sldNum="0" hdr="0" ftr="0"/>
  <p:txStyles>
    <p:titleStyle>
      <a:lvl1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200" b="1">
          <a:solidFill>
            <a:schemeClr val="bg1"/>
          </a:solidFill>
          <a:latin typeface="Arial" panose="020B0604020202020204" pitchFamily="34" charset="0"/>
          <a:ea typeface="Arial Unicode MS" pitchFamily="34" charset="-128"/>
          <a:cs typeface="Arial Unicode MS" pitchFamily="34" charset="-128"/>
        </a:defRPr>
      </a:lvl9pPr>
    </p:titleStyle>
    <p:bodyStyle>
      <a:lvl1pPr marL="347980" indent="-347980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rgbClr val="00529B"/>
        </a:buClr>
        <a:buFont typeface="Times" pitchFamily="18" charset="0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3500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92265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209675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Arial" panose="020B0604020202020204" pitchFamily="34" charset="0"/>
        <a:buChar char="-"/>
        <a:defRPr sz="2000">
          <a:solidFill>
            <a:schemeClr val="tx1"/>
          </a:solidFill>
          <a:latin typeface="+mn-lt"/>
          <a:ea typeface="+mn-ea"/>
          <a:cs typeface="+mn-cs"/>
        </a:defRPr>
      </a:lvl4pPr>
      <a:lvl5pPr marL="14973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5pPr>
      <a:lvl6pPr marL="19545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4117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28689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326130" indent="-173355" algn="l" rtl="0" eaLnBrk="1" fontAlgn="base" hangingPunct="1">
        <a:lnSpc>
          <a:spcPct val="90000"/>
        </a:lnSpc>
        <a:spcBef>
          <a:spcPct val="30000"/>
        </a:spcBef>
        <a:spcAft>
          <a:spcPct val="10000"/>
        </a:spcAft>
        <a:buClr>
          <a:schemeClr val="tx1"/>
        </a:buClr>
        <a:buFont typeface="Times" pitchFamily="18" charset="0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8.1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简介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8.2 try…except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8.3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引发异常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8.4 try…finally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8.5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代码注释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  <a:buFontTx/>
              <a:buChar char="•"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8.6 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程序调试</a:t>
            </a:r>
            <a:endParaRPr lang="zh-CN" alt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第八章 异常处理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在程序运行时，如果代码引发了错误，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就会中断程序，并输出错误提示，这样的问题大家之前在编写代码的过程中经常碰到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当然这类问题可以避免，但是在实际的应用中，很多错误是编写代码的人员无法控制的，比如用户输入不合规定的数据或者需要打开的文件不存在，这些情况被称作“异常”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一个好的程序需要能处理可能发生的异常，避免程序因此中断，即希望程序执行过程中即使出现异常，程序也能正常的执行下去，这种情况下就需要用到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中的异常处理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68300" y="1271905"/>
            <a:ext cx="10789285" cy="522033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代码执行产生错误，无法继续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4680" y="1818005"/>
            <a:ext cx="6226810" cy="439547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8.1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简介</a:t>
            </a:r>
            <a:endParaRPr lang="zh-CN" altLang="en-US" sz="4000" b="1" dirty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65760" y="1285875"/>
            <a:ext cx="10988040" cy="5250180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例子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输入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0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会导致当前程序的异常退出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希望的行为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程序不要退出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提示用户输入错误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继续让用户重新输入数字，继续执行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471420"/>
            <a:ext cx="7619365" cy="162814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715646" y="112613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中使用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try…except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语句来处理异常，具体做法是将可能引发异常的语句放到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try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块中执行，当发生异常时，跳过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try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块中剩余的语句，直接跳转至</a:t>
            </a:r>
            <a:r>
              <a:rPr lang="en-US" altLang="zh-CN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except</a:t>
            </a:r>
            <a:r>
              <a:rPr lang="zh-CN" altLang="en-US" sz="22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中的语句来处理异常</a:t>
            </a: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2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8.2 try…except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495" y="2817495"/>
            <a:ext cx="6256655" cy="395605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8.2 try…except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306070" y="1249045"/>
            <a:ext cx="11367135" cy="5631815"/>
          </a:xfrm>
        </p:spPr>
        <p:txBody>
          <a:bodyPr/>
          <a:p>
            <a:pPr>
              <a:buFont typeface="Wingdings" panose="05000000000000000000" charset="0"/>
              <a:buChar char="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try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代码块指明作用域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ZeroDivisionError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指明专门捕获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ZeroDivisionError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异常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except 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代码块是异常处理的代码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执行结果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除以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的异常被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try ... except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捕获了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并执行了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except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里面的代码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其它的异常不会被捕获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except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语句也可以专门处理指定的异常，即在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except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语句后跟异常名称，如果不指定异常名称则表示处理所有异常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上述例子中的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except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</a:t>
            </a: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后跟的</a:t>
            </a:r>
            <a:r>
              <a:rPr lang="en-US" altLang="zh-CN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ValueError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就是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内建的</a:t>
            </a:r>
            <a:r>
              <a:rPr lang="zh-CN" altLang="en-US" sz="240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异常名称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8.2 try…except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1155983" y="2588895"/>
            <a:ext cx="5072098" cy="21704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中常见的内建异常：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8.2 try…except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983432" y="2060848"/>
          <a:ext cx="9505056" cy="370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6231"/>
                <a:gridCol w="6978825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Exception</a:t>
                      </a:r>
                      <a:endParaRPr lang="en-US" altLang="zh-CN" sz="1400" b="1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所有异常的基类</a:t>
                      </a:r>
                      <a:endParaRPr lang="zh-CN" altLang="en-US" sz="14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AttributeError</a:t>
                      </a:r>
                      <a:endParaRPr lang="en-US" altLang="zh-CN" sz="1400" b="1" kern="1200" dirty="0" err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特性引用或赋值失败时引发</a:t>
                      </a:r>
                      <a:endParaRPr lang="zh-CN" altLang="en-US" sz="14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IOError</a:t>
                      </a:r>
                      <a:endParaRPr lang="en-US" altLang="zh-CN" sz="1400" b="1" kern="1200" dirty="0" err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试图打开不存在文件时引发</a:t>
                      </a:r>
                      <a:endParaRPr lang="zh-CN" altLang="en-US" sz="14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IndexError</a:t>
                      </a:r>
                      <a:endParaRPr lang="en-US" altLang="zh-CN" sz="1400" b="1" kern="1200" dirty="0" err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在使用序列中不存在的索引时引发</a:t>
                      </a:r>
                      <a:endParaRPr lang="zh-CN" altLang="en-US" sz="14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KeyError</a:t>
                      </a:r>
                      <a:endParaRPr lang="en-US" altLang="zh-CN" sz="1400" b="1" kern="1200" dirty="0" err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在使用映射中不存在的键时引发</a:t>
                      </a:r>
                      <a:endParaRPr lang="zh-CN" altLang="en-US" sz="14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NameError</a:t>
                      </a:r>
                      <a:endParaRPr lang="en-US" altLang="zh-CN" sz="1400" b="1" kern="1200" dirty="0" err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在找不到名字时引发</a:t>
                      </a:r>
                      <a:endParaRPr lang="zh-CN" altLang="en-US" sz="14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SyntaxError</a:t>
                      </a:r>
                      <a:endParaRPr lang="en-US" altLang="zh-CN" sz="1400" b="1" kern="1200" dirty="0" err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在代码为错误形式时引发</a:t>
                      </a:r>
                      <a:endParaRPr lang="zh-CN" altLang="en-US" sz="14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TypeError</a:t>
                      </a:r>
                      <a:endParaRPr lang="en-US" altLang="zh-CN" sz="1400" b="1" kern="1200" dirty="0" err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在内建操作或者函数应用于错误类型的对象时引发</a:t>
                      </a:r>
                      <a:endParaRPr lang="zh-CN" altLang="en-US" sz="14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ValueError</a:t>
                      </a:r>
                      <a:endParaRPr lang="en-US" altLang="zh-CN" sz="1400" b="1" kern="1200" dirty="0" err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在内建操作或者函数应用于正确类型的对象，但是该对象使用不合适的值时引发</a:t>
                      </a:r>
                      <a:endParaRPr lang="zh-CN" altLang="en-US" sz="14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CN" sz="1400" b="1" kern="12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ZeroDivisionError</a:t>
                      </a:r>
                      <a:endParaRPr lang="en-US" altLang="zh-CN" sz="1400" b="1" kern="1200" dirty="0" err="1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4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在除法或者模除操作的第二个参数为</a:t>
                      </a:r>
                      <a:r>
                        <a:rPr lang="en-US" altLang="zh-CN" sz="14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0</a:t>
                      </a:r>
                      <a:r>
                        <a:rPr lang="zh-CN" altLang="en-US" sz="14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宋体" panose="02010600030101010101" pitchFamily="2" charset="-122"/>
                          <a:ea typeface="宋体" panose="02010600030101010101" pitchFamily="2" charset="-122"/>
                          <a:cs typeface="+mn-cs"/>
                        </a:rPr>
                        <a:t>时引发</a:t>
                      </a:r>
                      <a:endParaRPr lang="zh-CN" altLang="en-US" sz="1400" b="0" kern="12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宋体" panose="02010600030101010101" pitchFamily="2" charset="-122"/>
                        <a:ea typeface="宋体" panose="02010600030101010101" pitchFamily="2" charset="-122"/>
                        <a:cs typeface="+mn-cs"/>
                      </a:endParaRPr>
                    </a:p>
                  </a:txBody>
                  <a:tcPr>
                    <a:gradFill>
                      <a:gsLst>
                        <a:gs pos="0">
                          <a:schemeClr val="accent1">
                            <a:tint val="66000"/>
                            <a:satMod val="160000"/>
                          </a:schemeClr>
                        </a:gs>
                        <a:gs pos="50000">
                          <a:schemeClr val="accent1">
                            <a:tint val="44500"/>
                            <a:satMod val="160000"/>
                          </a:schemeClr>
                        </a:gs>
                        <a:gs pos="100000">
                          <a:schemeClr val="accent1">
                            <a:tint val="23500"/>
                            <a:satMod val="160000"/>
                          </a:schemeClr>
                        </a:gs>
                      </a:gsLst>
                      <a:lin ang="5400000" scaled="0"/>
                    </a:gradFill>
                  </a:tcPr>
                </a:tc>
              </a:tr>
            </a:tbl>
          </a:graphicData>
        </a:graphic>
      </p:graphicFrame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8.2 try…except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1000" y="1078865"/>
            <a:ext cx="10972800" cy="5098415"/>
          </a:xfrm>
        </p:spPr>
        <p:txBody>
          <a:bodyPr/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charset="0"/>
              <a:buChar char="u"/>
            </a:pP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charset="0"/>
              <a:buChar char="u"/>
            </a:pPr>
            <a:endParaRPr lang="en-US" altLang="zh-CN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ZeroDivisionError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指明专门捕获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ZeroDivisionError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异常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NameError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指明专门捕获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NameError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异常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对应的处理代码区块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执行结果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NameError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而不是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ZeroDivisionError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1205" y="1372235"/>
            <a:ext cx="5321300" cy="223647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8.2 try…except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6255" y="1320800"/>
            <a:ext cx="10728960" cy="512889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捕获后得到详细的异常信息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e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就是异常对象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我们可以打印出里面存储的具体错误信息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5370" y="1870710"/>
            <a:ext cx="4305935" cy="120777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8.2 try…except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96240" y="1396365"/>
            <a:ext cx="10957560" cy="520509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有时我们并不知道会抛什么异常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捕获所有异常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Exception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指明所有异常（父类）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7575" y="2545715"/>
            <a:ext cx="5171440" cy="145796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8.2 try…except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6240" y="1244600"/>
            <a:ext cx="10957560" cy="520509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简单写成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如果要知道异常信息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795" y="1763395"/>
            <a:ext cx="6229350" cy="154114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795" y="4274185"/>
            <a:ext cx="6340475" cy="203454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有些情况中，当没有异常发生时执行一段代码是很有用的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python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中使用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try…except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语句时，可以结合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else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来实现这种没有发生的场景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8.2 try…except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31820" y="2919095"/>
            <a:ext cx="5875655" cy="324993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307" name="Rectangle 3"/>
          <p:cNvSpPr>
            <a:spLocks noChangeArrowheads="1"/>
          </p:cNvSpPr>
          <p:nvPr/>
        </p:nvSpPr>
        <p:spPr bwMode="auto">
          <a:xfrm>
            <a:off x="857251" y="1340768"/>
            <a:ext cx="9474200" cy="3817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lIns="92075" tIns="46038" rIns="92075" bIns="46038"/>
          <a:lstStyle/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finally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语句表示最后，即无论是否发生异常都需要执行的语句块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可以和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try…except…else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宋体" panose="02010600030101010101" pitchFamily="2" charset="-122"/>
              </a:rPr>
              <a:t>一起使用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  <a:p>
            <a:pPr marL="228600" indent="-228600" algn="just">
              <a:lnSpc>
                <a:spcPct val="150000"/>
              </a:lnSpc>
              <a:spcBef>
                <a:spcPct val="50000"/>
              </a:spcBef>
              <a:spcAft>
                <a:spcPct val="15000"/>
              </a:spcAft>
              <a:buClr>
                <a:schemeClr val="bg1"/>
              </a:buClr>
            </a:pP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宋体" panose="02010600030101010101" pitchFamily="2" charset="-122"/>
            </a:endParaRPr>
          </a:p>
        </p:txBody>
      </p:sp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8.4 try…finally</a:t>
            </a:r>
            <a:endParaRPr lang="en-US" altLang="zh-CN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4270" y="2727325"/>
            <a:ext cx="5594985" cy="385064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代码注释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515" y="1296670"/>
            <a:ext cx="10789285" cy="509841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的注释用来帮助读者理解代码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可以用中文、日文、英文。。。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它对代码的执行不起任何影响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虽然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Python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抽象级高，易理解，但仍需要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大段代码需要表明意图（总结性的话）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注意点需要标注（比如一个变量的用途等）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团队开发，别人需要看你的代码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自己看，过一段时间忘记了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代码注释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73075" y="1350645"/>
            <a:ext cx="10880725" cy="517461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开头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虽然可以不和代码保持缩进，但尽量一致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#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如果在一行的开头是整行注释，如果是在一行代码后面，那就是行中注释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6325" y="2827655"/>
            <a:ext cx="4398010" cy="136207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" y="4848225"/>
            <a:ext cx="10090785" cy="65532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8.5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代码注释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473075" y="1350645"/>
            <a:ext cx="10880725" cy="5174615"/>
          </a:xfrm>
        </p:spPr>
        <p:txBody>
          <a:bodyPr/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多行注释选中需要注释的内容，再用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Ctrl+/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多行注释还可以用</a:t>
            </a:r>
            <a:r>
              <a:rPr lang="en-US" altLang="zh-CN" sz="2400">
                <a:latin typeface="宋体" panose="02010600030101010101" pitchFamily="2" charset="-122"/>
                <a:ea typeface="宋体" panose="02010600030101010101" pitchFamily="2" charset="-122"/>
              </a:rPr>
              <a:t>''' '''</a:t>
            </a:r>
            <a:r>
              <a:rPr lang="zh-CN" altLang="en-US" sz="2400">
                <a:latin typeface="宋体" panose="02010600030101010101" pitchFamily="2" charset="-122"/>
                <a:ea typeface="宋体" panose="02010600030101010101" pitchFamily="2" charset="-122"/>
              </a:rPr>
              <a:t>，多用于生成文档后的注释内容</a:t>
            </a:r>
            <a:endParaRPr lang="zh-CN" altLang="en-US" sz="240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0280" y="2339340"/>
            <a:ext cx="4660900" cy="13525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965575"/>
            <a:ext cx="5730240" cy="1014730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8.6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程序调试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396875" y="1238250"/>
            <a:ext cx="10880725" cy="5113655"/>
          </a:xfrm>
        </p:spPr>
        <p:txBody>
          <a:bodyPr/>
          <a:p>
            <a:pPr marL="0" indent="0">
              <a:buFont typeface="Wingdings" panose="05000000000000000000" charset="0"/>
              <a:buNone/>
            </a:pPr>
            <a:r>
              <a:rPr lang="zh-CN" altLang="en-US"/>
              <a:t>小例子：</a:t>
            </a:r>
            <a:endParaRPr lang="zh-CN" altLang="en-US"/>
          </a:p>
          <a:p>
            <a:pPr>
              <a:buFont typeface="Wingdings" panose="05000000000000000000" charset="0"/>
              <a:buChar char="u"/>
            </a:pPr>
            <a:r>
              <a:rPr lang="zh-CN" altLang="en-US"/>
              <a:t>文件存储了每个人的年龄</a:t>
            </a:r>
            <a:endParaRPr lang="zh-CN" altLang="en-US"/>
          </a:p>
          <a:p>
            <a:pPr>
              <a:buFont typeface="Wingdings" panose="05000000000000000000" charset="0"/>
              <a:buChar char="u"/>
            </a:pPr>
            <a:r>
              <a:rPr lang="zh-CN" altLang="en-US"/>
              <a:t>统计人数最多的年龄（见案例</a:t>
            </a:r>
            <a:r>
              <a:rPr lang="en-US" altLang="zh-CN"/>
              <a:t>debug1</a:t>
            </a:r>
            <a:r>
              <a:rPr lang="zh-CN" altLang="en-US">
                <a:ea typeface="宋体" panose="02010600030101010101" pitchFamily="2" charset="-122"/>
              </a:rPr>
              <a:t>）</a:t>
            </a:r>
            <a:endParaRPr lang="zh-CN" altLang="en-US">
              <a:ea typeface="宋体" panose="02010600030101010101" pitchFamily="2" charset="-122"/>
            </a:endParaRPr>
          </a:p>
          <a:p>
            <a:pPr indent="230505" fontAlgn="auto">
              <a:buFont typeface="Wingdings" panose="05000000000000000000" charset="0"/>
              <a:buChar char="Ø"/>
            </a:pPr>
            <a:endParaRPr lang="zh-CN" altLang="en-US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3241040"/>
            <a:ext cx="10417810" cy="129349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838200" y="36512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8.6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程序调试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47040" y="1203960"/>
            <a:ext cx="10819765" cy="5234940"/>
          </a:xfrm>
        </p:spPr>
        <p:txBody>
          <a:bodyPr>
            <a:normAutofit/>
          </a:bodyPr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先从文件中把每个学生的年龄读入到一个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list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对象中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buFont typeface="Wingdings" panose="05000000000000000000" charset="0"/>
              <a:buChar char="u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再从上面的</a:t>
            </a:r>
            <a:r>
              <a:rPr lang="en-US" altLang="zh-CN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list</a:t>
            </a: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中得到一个字典对象，记录每个年龄所对应的学生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indent="230505" fontAlgn="auto">
              <a:buFont typeface="Wingdings" panose="05000000000000000000" charset="0"/>
              <a:buChar char="Ø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230505" indent="-230505" fontAlgn="auto"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230505" indent="-230505" fontAlgn="auto"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auto"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auto">
              <a:buFont typeface="Wingdings" panose="05000000000000000000" charset="0"/>
              <a:buChar char="u"/>
            </a:pP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auto">
              <a:buFont typeface="Wingdings" panose="05000000000000000000" charset="0"/>
              <a:buChar char="u"/>
            </a:pPr>
            <a:r>
              <a:rPr lang="zh-CN" altLang="en-US" sz="24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遍历上面字典对象，根据每个年龄对应的学生列表的长度，算出人数最多的年龄</a:t>
            </a:r>
            <a:endParaRPr lang="zh-CN" altLang="en-US" sz="24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1920240"/>
            <a:ext cx="9077960" cy="4495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390" y="3194050"/>
            <a:ext cx="6372860" cy="2078355"/>
          </a:xfrm>
          <a:prstGeom prst="rect">
            <a:avLst/>
          </a:prstGeom>
        </p:spPr>
      </p:pic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/>
          <p:nvPr/>
        </p:nvSpPr>
        <p:spPr bwMode="auto">
          <a:xfrm>
            <a:off x="762000" y="363855"/>
            <a:ext cx="10515600" cy="760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914400" lvl="0" indent="-914400" defTabSz="0">
              <a:lnSpc>
                <a:spcPct val="90000"/>
              </a:lnSpc>
            </a:pPr>
            <a:r>
              <a:rPr lang="en-US" altLang="zh-CN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8.6 </a:t>
            </a:r>
            <a:r>
              <a:rPr lang="zh-CN" altLang="en-US" sz="4000" b="1" dirty="0" smtClean="0">
                <a:solidFill>
                  <a:srgbClr val="FFFF00"/>
                </a:solidFill>
                <a:latin typeface="宋体" panose="02010600030101010101" pitchFamily="2" charset="-122"/>
                <a:cs typeface="+mj-cs"/>
                <a:sym typeface="Calibri Light" panose="020F0302020204030204" pitchFamily="34" charset="0"/>
              </a:rPr>
              <a:t>程序调试</a:t>
            </a:r>
            <a:endParaRPr lang="zh-CN" altLang="en-US" sz="4000" b="1" dirty="0" smtClean="0">
              <a:solidFill>
                <a:srgbClr val="FFFF00"/>
              </a:solidFill>
              <a:latin typeface="宋体" panose="02010600030101010101" pitchFamily="2" charset="-122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idx="1"/>
          </p:nvPr>
        </p:nvSpPr>
        <p:spPr>
          <a:xfrm>
            <a:off x="468630" y="1287780"/>
            <a:ext cx="10895965" cy="5052695"/>
          </a:xfrm>
        </p:spPr>
        <p:txBody>
          <a:bodyPr>
            <a:normAutofit lnSpcReduction="20000"/>
          </a:bodyPr>
          <a:p>
            <a:pPr>
              <a:buFont typeface="Wingdings" panose="05000000000000000000" charset="0"/>
              <a:buChar char="u"/>
            </a:pPr>
            <a:r>
              <a:rPr lang="zh-CN" altLang="en-US"/>
              <a:t>提供的能力：</a:t>
            </a:r>
            <a:endParaRPr lang="en-US" altLang="zh-CN"/>
          </a:p>
          <a:p>
            <a:pPr indent="230505" fontAlgn="auto">
              <a:buFont typeface="Wingdings" panose="05000000000000000000" charset="0"/>
              <a:buChar char="Ø"/>
            </a:pPr>
            <a:r>
              <a:rPr lang="en-US" altLang="zh-CN"/>
              <a:t> </a:t>
            </a:r>
            <a:r>
              <a:rPr lang="zh-CN" altLang="en-US"/>
              <a:t>设置断点</a:t>
            </a:r>
            <a:endParaRPr lang="zh-CN" altLang="en-US"/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/>
              <a:t>单步执行</a:t>
            </a:r>
            <a:endParaRPr lang="zh-CN" altLang="en-US"/>
          </a:p>
          <a:p>
            <a:pPr indent="230505" fontAlgn="auto">
              <a:buFont typeface="Wingdings" panose="05000000000000000000" charset="0"/>
              <a:buChar char="Ø"/>
            </a:pPr>
            <a:r>
              <a:rPr lang="zh-CN" altLang="en-US"/>
              <a:t>查看变量、表达式的值（用</a:t>
            </a:r>
            <a:r>
              <a:rPr lang="en-US" altLang="zh-CN"/>
              <a:t>print()</a:t>
            </a:r>
            <a:r>
              <a:rPr lang="zh-CN" altLang="en-US"/>
              <a:t>方法查看关键变量或表达式的值）</a:t>
            </a:r>
            <a:endParaRPr lang="zh-CN" altLang="en-US"/>
          </a:p>
        </p:txBody>
      </p:sp>
    </p:spTree>
  </p:cSld>
  <p:clrMapOvr>
    <a:masterClrMapping/>
  </p:clrMapOvr>
  <p:transition>
    <p:checker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artner PPT- one template-v8_rm">
  <a:themeElements>
    <a:clrScheme name="">
      <a:dk1>
        <a:srgbClr val="000000"/>
      </a:dk1>
      <a:lt1>
        <a:srgbClr val="FFFFFF"/>
      </a:lt1>
      <a:dk2>
        <a:srgbClr val="F8F8F8"/>
      </a:dk2>
      <a:lt2>
        <a:srgbClr val="808080"/>
      </a:lt2>
      <a:accent1>
        <a:srgbClr val="3366CC"/>
      </a:accent1>
      <a:accent2>
        <a:srgbClr val="FF0000"/>
      </a:accent2>
      <a:accent3>
        <a:srgbClr val="FFFFFF"/>
      </a:accent3>
      <a:accent4>
        <a:srgbClr val="000000"/>
      </a:accent4>
      <a:accent5>
        <a:srgbClr val="ADB8E2"/>
      </a:accent5>
      <a:accent6>
        <a:srgbClr val="E70000"/>
      </a:accent6>
      <a:hlink>
        <a:srgbClr val="FF9900"/>
      </a:hlink>
      <a:folHlink>
        <a:srgbClr val="6699FF"/>
      </a:folHlink>
    </a:clrScheme>
    <a:fontScheme name="Gartner PPT- one template-v8_rm">
      <a:majorFont>
        <a:latin typeface="Arial"/>
        <a:ea typeface="Arial Unicode MS"/>
        <a:cs typeface="Arial Unicode MS"/>
      </a:majorFont>
      <a:minorFont>
        <a:latin typeface="Arial"/>
        <a:ea typeface="Arial Unicode MS"/>
        <a:cs typeface="Arial Unicode M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134B82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>
        <a:spAutoFit/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Gartner PPT- one template-v8_rm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artner PPT- one template-v8_rm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artner PPT- one template-v8_rm 8">
        <a:dk1>
          <a:srgbClr val="000000"/>
        </a:dk1>
        <a:lt1>
          <a:srgbClr val="FFFFFF"/>
        </a:lt1>
        <a:dk2>
          <a:srgbClr val="F8F8F8"/>
        </a:dk2>
        <a:lt2>
          <a:srgbClr val="808080"/>
        </a:lt2>
        <a:accent1>
          <a:srgbClr val="CCFF66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E2FFB8"/>
        </a:accent5>
        <a:accent6>
          <a:srgbClr val="E7B900"/>
        </a:accent6>
        <a:hlink>
          <a:srgbClr val="0066FF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FFFFFF"/>
      </a:accent3>
      <a:accent4>
        <a:srgbClr val="000000"/>
      </a:accent4>
      <a:accent5>
        <a:srgbClr val="B5CBE7"/>
      </a:accent5>
      <a:accent6>
        <a:srgbClr val="D7712B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汇智动力</Template>
  <TotalTime>0</TotalTime>
  <Words>1878</Words>
  <Application>WPS 演示</Application>
  <PresentationFormat>自定义</PresentationFormat>
  <Paragraphs>206</Paragraphs>
  <Slides>20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1" baseType="lpstr">
      <vt:lpstr>Arial</vt:lpstr>
      <vt:lpstr>宋体</vt:lpstr>
      <vt:lpstr>Wingdings</vt:lpstr>
      <vt:lpstr>Arial Unicode MS</vt:lpstr>
      <vt:lpstr>Times</vt:lpstr>
      <vt:lpstr>Times New Roman</vt:lpstr>
      <vt:lpstr>Calibri Light</vt:lpstr>
      <vt:lpstr>Wingdings</vt:lpstr>
      <vt:lpstr>微软雅黑</vt:lpstr>
      <vt:lpstr>Arial Unicode MS</vt:lpstr>
      <vt:lpstr>Gartner PPT- one template-v8_rm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USER-</dc:creator>
  <cp:lastModifiedBy>康暁逗鍀鈕</cp:lastModifiedBy>
  <cp:revision>1104</cp:revision>
  <dcterms:created xsi:type="dcterms:W3CDTF">2014-03-18T11:00:00Z</dcterms:created>
  <dcterms:modified xsi:type="dcterms:W3CDTF">2019-07-09T07:30:59Z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2052-10.1.0.7224</vt:lpwstr>
  </property>
</Properties>
</file>