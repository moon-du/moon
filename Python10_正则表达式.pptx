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1084" r:id="rId3"/>
    <p:sldId id="1085" r:id="rId5"/>
    <p:sldId id="1086" r:id="rId6"/>
    <p:sldId id="1088" r:id="rId7"/>
    <p:sldId id="1089" r:id="rId8"/>
    <p:sldId id="1105" r:id="rId9"/>
    <p:sldId id="1106" r:id="rId10"/>
    <p:sldId id="1107" r:id="rId11"/>
    <p:sldId id="1108" r:id="rId12"/>
    <p:sldId id="1109" r:id="rId13"/>
    <p:sldId id="1110" r:id="rId14"/>
    <p:sldId id="1111" r:id="rId15"/>
    <p:sldId id="1112" r:id="rId16"/>
    <p:sldId id="1113" r:id="rId17"/>
    <p:sldId id="1114" r:id="rId18"/>
    <p:sldId id="1115" r:id="rId19"/>
    <p:sldId id="1116" r:id="rId20"/>
    <p:sldId id="1117" r:id="rId21"/>
    <p:sldId id="1118" r:id="rId22"/>
    <p:sldId id="1120" r:id="rId23"/>
    <p:sldId id="1119" r:id="rId24"/>
    <p:sldId id="1096" r:id="rId25"/>
    <p:sldId id="1097" r:id="rId26"/>
    <p:sldId id="1098" r:id="rId27"/>
    <p:sldId id="1099" r:id="rId28"/>
    <p:sldId id="1100" r:id="rId29"/>
  </p:sldIdLst>
  <p:sldSz cx="12192000" cy="6858000"/>
  <p:notesSz cx="6858000" cy="9144000"/>
  <p:custDataLst>
    <p:tags r:id="rId3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66CCFF"/>
    <a:srgbClr val="FFFFFF"/>
    <a:srgbClr val="FFFF99"/>
    <a:srgbClr val="FF9933"/>
    <a:srgbClr val="FF66CC"/>
    <a:srgbClr val="FF33CC"/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2" autoAdjust="0"/>
    <p:restoredTop sz="94660"/>
  </p:normalViewPr>
  <p:slideViewPr>
    <p:cSldViewPr snapToObjects="1" showGuides="1">
      <p:cViewPr varScale="1">
        <p:scale>
          <a:sx n="63" d="100"/>
          <a:sy n="63" d="100"/>
        </p:scale>
        <p:origin x="816" y="48"/>
      </p:cViewPr>
      <p:guideLst>
        <p:guide orient="horz" pos="2115"/>
        <p:guide pos="3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A593B-C7F3-4649-B760-8A9E538DD7F3}" type="datetimeFigureOut">
              <a:rPr lang="zh-CN" altLang="en-US" smtClean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A9E79-3371-400B-AF86-A63F5C94FB3B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latin typeface="Times New Roman" panose="02020603050405020304" pitchFamily="18" charset="0"/>
              </a:defRPr>
            </a:lvl1pPr>
          </a:lstStyle>
          <a:p>
            <a:fld id="{E9B07FDD-F1B3-4E5B-BC2D-FED26B65F69F}" type="datetime1">
              <a:rPr lang="zh-CN" altLang="en-US" smtClean="0"/>
            </a:fld>
            <a:endParaRPr lang="zh-CN" altLang="en-US" sz="1200" dirty="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单击此处编辑母版文本样式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第二级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第三级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第四级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第五级</a:t>
            </a:r>
            <a:endParaRPr lang="zh-CN" dirty="0">
              <a:latin typeface="Times New Roman" panose="02020603050405020304" pitchFamily="18" charset="0"/>
            </a:endParaRP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>
                <a:latin typeface="Times New Roman" panose="02020603050405020304" pitchFamily="18" charset="0"/>
              </a:defRPr>
            </a:lvl1pPr>
          </a:lstStyle>
          <a:p>
            <a:fld id="{E9EF8A88-7B05-4B03-ACDA-4A6B434EDC9B}" type="slidenum">
              <a:rPr lang="zh-CN" altLang="en-US" smtClean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- Learn how to perform functional tests using </a:t>
            </a:r>
            <a:r>
              <a:rPr lang="en-US" altLang="zh-CN" dirty="0" err="1">
                <a:latin typeface="Times New Roman" panose="02020603050405020304" pitchFamily="18" charset="0"/>
              </a:rPr>
              <a:t>WinRunner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6" descr="Dscpe_01_Lg_cropp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17"/>
          <p:cNvSpPr>
            <a:spLocks noChangeArrowheads="1"/>
          </p:cNvSpPr>
          <p:nvPr/>
        </p:nvSpPr>
        <p:spPr bwMode="invGray">
          <a:xfrm>
            <a:off x="0" y="1430338"/>
            <a:ext cx="12192000" cy="369887"/>
          </a:xfrm>
          <a:prstGeom prst="rect">
            <a:avLst/>
          </a:prstGeom>
          <a:solidFill>
            <a:srgbClr val="0052A5">
              <a:alpha val="50195"/>
            </a:srgbClr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Rectangle 250"/>
          <p:cNvSpPr>
            <a:spLocks noChangeArrowheads="1"/>
          </p:cNvSpPr>
          <p:nvPr/>
        </p:nvSpPr>
        <p:spPr bwMode="auto">
          <a:xfrm>
            <a:off x="0" y="3141663"/>
            <a:ext cx="12192000" cy="368300"/>
          </a:xfrm>
          <a:prstGeom prst="rect">
            <a:avLst/>
          </a:prstGeom>
          <a:solidFill>
            <a:srgbClr val="E48F1B"/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8" name="图片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07368" y="6300028"/>
            <a:ext cx="6192688" cy="36933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成都市武侯区新南路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44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号附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1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楼腾云商务大厦 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</a:rPr>
              <a:t>02885062021</a:t>
            </a:r>
            <a:endParaRPr lang="zh-CN" altLang="en-US" dirty="0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0698" name="Rectangle 122"/>
          <p:cNvSpPr>
            <a:spLocks noGrp="1" noChangeArrowheads="1"/>
          </p:cNvSpPr>
          <p:nvPr>
            <p:ph type="ctrTitle"/>
          </p:nvPr>
        </p:nvSpPr>
        <p:spPr bwMode="auto">
          <a:xfrm>
            <a:off x="508000" y="420690"/>
            <a:ext cx="11074400" cy="235267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zh-CN" noProof="0"/>
          </a:p>
        </p:txBody>
      </p:sp>
      <p:sp>
        <p:nvSpPr>
          <p:cNvPr id="280799" name="Rectangle 223"/>
          <p:cNvSpPr>
            <a:spLocks noGrp="1" noChangeArrowheads="1"/>
          </p:cNvSpPr>
          <p:nvPr>
            <p:ph type="subTitle" idx="1"/>
          </p:nvPr>
        </p:nvSpPr>
        <p:spPr>
          <a:xfrm>
            <a:off x="5852584" y="3836988"/>
            <a:ext cx="5831416" cy="150495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 typeface="Times" pitchFamily="18" charset="0"/>
              <a:buNone/>
              <a:defRPr sz="26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3857628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1857364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85728"/>
            <a:ext cx="10972800" cy="64293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1214422"/>
            <a:ext cx="6815666" cy="4911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4422"/>
            <a:ext cx="4011084" cy="49117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cut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214421"/>
            <a:ext cx="7315200" cy="35131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4685" y="1357298"/>
            <a:ext cx="2770716" cy="442437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0418" y="1357298"/>
            <a:ext cx="8111067" cy="442437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417" y="285728"/>
            <a:ext cx="11074400" cy="6477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381000" y="1362075"/>
            <a:ext cx="11074400" cy="4419600"/>
          </a:xfrm>
        </p:spPr>
        <p:txBody>
          <a:bodyPr/>
          <a:lstStyle/>
          <a:p>
            <a:pPr lvl="0"/>
            <a:r>
              <a:rPr lang="zh-CN" altLang="en-US" noProof="0"/>
              <a:t>单击图标添加图表</a:t>
            </a:r>
            <a:endParaRPr lang="zh-CN" altLang="en-US" noProof="0"/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7" descr="slide_heade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invGray">
          <a:xfrm>
            <a:off x="0" y="-1588"/>
            <a:ext cx="12193588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ChangeArrowheads="1"/>
          </p:cNvSpPr>
          <p:nvPr/>
        </p:nvSpPr>
        <p:spPr bwMode="gray">
          <a:xfrm>
            <a:off x="0" y="1139825"/>
            <a:ext cx="12192000" cy="5718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028" name="Rectangle 52"/>
          <p:cNvSpPr>
            <a:spLocks noGrp="1" noChangeArrowheads="1"/>
          </p:cNvSpPr>
          <p:nvPr>
            <p:ph type="body" idx="1"/>
          </p:nvPr>
        </p:nvSpPr>
        <p:spPr bwMode="gray">
          <a:xfrm>
            <a:off x="381000" y="1362075"/>
            <a:ext cx="11074400" cy="4419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29" name="Rectangle 53"/>
          <p:cNvSpPr>
            <a:spLocks noGrp="1" noChangeArrowheads="1"/>
          </p:cNvSpPr>
          <p:nvPr>
            <p:ph type="title"/>
          </p:nvPr>
        </p:nvSpPr>
        <p:spPr bwMode="invGray">
          <a:xfrm>
            <a:off x="369888" y="285728"/>
            <a:ext cx="11074400" cy="64772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1031" name="图片 8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ut/>
  </p:transition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347980" indent="-347980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rgbClr val="00529B"/>
        </a:buClr>
        <a:buFont typeface="Times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3500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92265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20967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4973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9545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4117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28689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3261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10.1 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简介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10.2 re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模块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10.3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元字符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第十章 正则表达式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正则表达式是用来描述某种字符串规则的一种逻辑公式，使用预先定义好的特定字符组成一种“规则字符串”，经常用于检索或替换满足规则的文本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正则表达式的特点：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、灵活性、逻辑性和功能性非常强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、可以迅速地用极简单的方式达到字符串的复杂控制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、对于刚接触的人，比较晦涩难懂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10.1 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例子：要在一堆电子档案中找到所有人的电话信息、要在一份文档中提取出某些记录、要校验某条数据是否满足特定的规则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上述需求都可以通过正则表达式来完成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正则表达式并不是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中特有的功能，它是一种通用的方法。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本身有很强的文本、字符串处理能力，经常与文本、字符串打交道，使用正则表达式的地方有很多，因此需要掌握正则表达式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10.1 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通过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模块提供对正则表达式的支持，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模块提供了几个方法对输入的字符串进行确切的查询，每种方法都接收一个正则表达式和一个待查找匹配的字符串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re.findall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()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re.match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()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re.search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()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检索字符串中所有的</a:t>
            </a: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abb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并以列表的形式返回，这个会经常用到计算统一字符出现的次数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472" y="2539954"/>
            <a:ext cx="8341763" cy="13210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4378560"/>
            <a:ext cx="5818107" cy="922648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使用符号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^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表示匹配以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ab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开头的字符串返回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也可以判断字符串是否以</a:t>
            </a: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ab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开始的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456" y="2473276"/>
            <a:ext cx="8243240" cy="2741674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使用符号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$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符号表示以</a:t>
            </a: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b,w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结尾的字符串返回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也可以判断是否以字符串</a:t>
            </a: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b,w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结束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472" y="2571418"/>
            <a:ext cx="6438342" cy="3089829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[...]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的意思匹配括号内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，或者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，或者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的值返回列表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456" y="2204864"/>
            <a:ext cx="9565750" cy="2448272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'\d'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是正则语法规则用来匹配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到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9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之间的数返回列表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需要注意的是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11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会当成字符串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'1'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'1'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返回而不是返回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'11'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这个字符串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464" y="2584864"/>
            <a:ext cx="8618974" cy="2068272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解决的办法就需要取几位数就写几个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\d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604" y="2348880"/>
            <a:ext cx="10145128" cy="2232248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'\D'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表示不要数字，也就是除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了数字以外的内容返回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271" y="2489151"/>
            <a:ext cx="9887458" cy="1879697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'\w'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匹配从小写</a:t>
            </a:r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到</a:t>
            </a:r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，大写</a:t>
            </a:r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到</a:t>
            </a:r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，数字</a:t>
            </a:r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到</a:t>
            </a:r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9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900" y="2348880"/>
            <a:ext cx="10020300" cy="2160240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'\W'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匹配除字母和数字以外的字符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463" y="2276872"/>
            <a:ext cx="9307953" cy="2088232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 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表示匹配括号内里面的内容，这里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.*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是正则贪婪匹配语法，就是最大范围的匹配准则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456" y="2647097"/>
            <a:ext cx="8530094" cy="1934031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.*?</a:t>
            </a: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，非贪婪模式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471" y="2276872"/>
            <a:ext cx="9217025" cy="1944216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re.I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大写的</a:t>
            </a: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表示匹配时不区分大小写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456" y="2250036"/>
            <a:ext cx="7749651" cy="2691132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5340" y="1643050"/>
            <a:ext cx="92170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re.S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大写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这样代表比匹配包括换行符在内的所有字符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40" y="2256552"/>
            <a:ext cx="9013080" cy="2756624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400" y="1268760"/>
            <a:ext cx="9217060" cy="246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match( 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方法：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re.match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(pattern, string, flags=0)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第一个参数是正则表达式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如果匹配成功，则返回一个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Match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，否则返回一个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None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第二个参数表示要匹配的字符串；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第三个参数是标志位，用于控制正则表达式的匹配方式，如：是否区分大小写，多行匹配等等。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136" y="3730972"/>
            <a:ext cx="5886936" cy="2990189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5400" y="1268760"/>
            <a:ext cx="976223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match()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方法：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需要特别注意的是，这个方法并不是完全匹配。它仅仅决定在字符串开始的位置是否匹配。所以当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pattern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结束时若还有剩余字符，仍然视为成功。想要完全匹配，可以在表达式末尾加上边界匹配符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'$’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例如：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match('[0-9]+','1abc')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是匹配成功的。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所以必须要加上边界符，写成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'[0-9]+$'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去进行匹配：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例如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 match('[0-9]+$','1abc')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这样就不能匹配成功了，必须全部都是数字才可以。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730972"/>
            <a:ext cx="6121896" cy="283544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5400" y="1268760"/>
            <a:ext cx="976223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match()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方法：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match().span()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返回匹配结果的位置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match().group()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提取匹配结果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匹配对象在起始位置返回结果 ，不在起始位置不能使用这两个方法，程序会抛异常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053864"/>
            <a:ext cx="5897611" cy="3565090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10.2 </a:t>
            </a: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re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3794" name="AutoShape 2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6" name="AutoShape 4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98" name="AutoShape 6" descr="python浅谈正则的常用方法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643050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71600" y="1268760"/>
            <a:ext cx="921706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search()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方法：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re.search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(pattern, string, flags=0)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扫描整个字符串并返回第一个成功的匹配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匹配成功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 </a:t>
            </a: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re.search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()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返回一个匹配的对象，否则返回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None.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08157"/>
            <a:ext cx="8225770" cy="3070343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正则表达式不仅仅只包含最基本的字符和数字，还包含一些具有特殊意义的专用字符，这些字符被称为“元字符”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正是因为元字符的使用，使正则表达式具有处理能力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也正是因为元字符，才使正则表达式具备了前面介绍的特点：通过极简单的方式达到字符串的复杂控制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10.3 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元字符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中支持的正则表达式元字符和语法：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10.3 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元字符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87488" y="1988840"/>
            <a:ext cx="6984776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10.3 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元字符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31504" y="1844824"/>
            <a:ext cx="6696744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10.3 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元字符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59496" y="1844824"/>
            <a:ext cx="6408712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10.3 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元字符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31504" y="1916832"/>
            <a:ext cx="648072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</p:sld>
</file>

<file path=ppt/tags/tag1.xml><?xml version="1.0" encoding="utf-8"?>
<p:tagLst xmlns:p="http://schemas.openxmlformats.org/presentationml/2006/main">
  <p:tag name="KSO_WM_DOC_GUID" val="{6bc4e3fc-7d00-41f2-8bec-841c566598c5}"/>
</p:tagLst>
</file>

<file path=ppt/theme/theme1.xml><?xml version="1.0" encoding="utf-8"?>
<a:theme xmlns:a="http://schemas.openxmlformats.org/drawingml/2006/main" name="Gartner PPT- one template-v8_rm">
  <a:themeElements>
    <a:clrScheme name="">
      <a:dk1>
        <a:srgbClr val="000000"/>
      </a:dk1>
      <a:lt1>
        <a:srgbClr val="FFFFFF"/>
      </a:lt1>
      <a:dk2>
        <a:srgbClr val="F8F8F8"/>
      </a:dk2>
      <a:lt2>
        <a:srgbClr val="808080"/>
      </a:lt2>
      <a:accent1>
        <a:srgbClr val="3366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ADB8E2"/>
      </a:accent5>
      <a:accent6>
        <a:srgbClr val="E70000"/>
      </a:accent6>
      <a:hlink>
        <a:srgbClr val="FF9900"/>
      </a:hlink>
      <a:folHlink>
        <a:srgbClr val="6699FF"/>
      </a:folHlink>
    </a:clrScheme>
    <a:fontScheme name="Gartner PPT- one template-v8_rm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Gartner PPT- one template-v8_r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tner PPT- one template-v8_r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8">
        <a:dk1>
          <a:srgbClr val="000000"/>
        </a:dk1>
        <a:lt1>
          <a:srgbClr val="FFFFFF"/>
        </a:lt1>
        <a:dk2>
          <a:srgbClr val="F8F8F8"/>
        </a:dk2>
        <a:lt2>
          <a:srgbClr val="808080"/>
        </a:lt2>
        <a:accent1>
          <a:srgbClr val="CCFF66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E2FFB8"/>
        </a:accent5>
        <a:accent6>
          <a:srgbClr val="E7B900"/>
        </a:accent6>
        <a:hlink>
          <a:srgbClr val="0066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汇智动力</Template>
  <TotalTime>0</TotalTime>
  <Words>1756</Words>
  <Application>WPS 演示</Application>
  <PresentationFormat>宽屏</PresentationFormat>
  <Paragraphs>243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宋体</vt:lpstr>
      <vt:lpstr>Wingdings</vt:lpstr>
      <vt:lpstr>Arial Unicode MS</vt:lpstr>
      <vt:lpstr>Times</vt:lpstr>
      <vt:lpstr>Times New Roman</vt:lpstr>
      <vt:lpstr>华文楷体</vt:lpstr>
      <vt:lpstr>Calibri Light</vt:lpstr>
      <vt:lpstr>微软雅黑</vt:lpstr>
      <vt:lpstr>Arial Unicode MS</vt:lpstr>
      <vt:lpstr>Gartner PPT- one template-v8_rm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勇敢的心</cp:lastModifiedBy>
  <cp:revision>1181</cp:revision>
  <dcterms:created xsi:type="dcterms:W3CDTF">2014-03-18T11:00:00Z</dcterms:created>
  <dcterms:modified xsi:type="dcterms:W3CDTF">2019-09-18T03:30:14Z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2052-11.1.0.8527</vt:lpwstr>
  </property>
</Properties>
</file>