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1077" r:id="rId3"/>
    <p:sldId id="1097" r:id="rId5"/>
    <p:sldId id="1099" r:id="rId6"/>
    <p:sldId id="1103" r:id="rId7"/>
    <p:sldId id="1108" r:id="rId8"/>
    <p:sldId id="1114" r:id="rId9"/>
    <p:sldId id="1104" r:id="rId10"/>
    <p:sldId id="1107" r:id="rId11"/>
    <p:sldId id="1105" r:id="rId12"/>
    <p:sldId id="1101" r:id="rId13"/>
    <p:sldId id="1102" r:id="rId14"/>
    <p:sldId id="1115" r:id="rId15"/>
  </p:sldIdLst>
  <p:sldSz cx="1219200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66CCFF"/>
    <a:srgbClr val="FFFFFF"/>
    <a:srgbClr val="FFFF99"/>
    <a:srgbClr val="FF9933"/>
    <a:srgbClr val="FF66CC"/>
    <a:srgbClr val="FF33CC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32" autoAdjust="0"/>
    <p:restoredTop sz="94805" autoAdjust="0"/>
  </p:normalViewPr>
  <p:slideViewPr>
    <p:cSldViewPr snapToObjects="1" showGuides="1">
      <p:cViewPr varScale="1">
        <p:scale>
          <a:sx n="72" d="100"/>
          <a:sy n="72" d="100"/>
        </p:scale>
        <p:origin x="-672" y="-90"/>
      </p:cViewPr>
      <p:guideLst>
        <p:guide orient="horz" pos="2115"/>
        <p:guide pos="37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A593B-C7F3-4649-B760-8A9E538DD7F3}" type="datetimeFigureOut">
              <a:rPr lang="zh-CN" altLang="en-US" smtClean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9E79-3371-400B-AF86-A63F5C94FB3B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Times New Roman" panose="02020603050405020304" pitchFamily="18" charset="0"/>
              </a:defRPr>
            </a:lvl1pPr>
          </a:lstStyle>
          <a:p>
            <a:fld id="{E9B07FDD-F1B3-4E5B-BC2D-FED26B65F69F}" type="datetime1">
              <a:rPr lang="zh-CN" altLang="en-US" smtClean="0"/>
            </a:fld>
            <a:endParaRPr lang="zh-CN" altLang="en-US" sz="1200" dirty="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单击此处编辑母版文本样式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第二级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第三级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第四级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第五级</a:t>
            </a:r>
            <a:endParaRPr lang="zh-CN" dirty="0">
              <a:latin typeface="Times New Roman" panose="02020603050405020304" pitchFamily="18" charset="0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>
                <a:latin typeface="Times New Roman" panose="02020603050405020304" pitchFamily="18" charset="0"/>
              </a:defRPr>
            </a:lvl1pPr>
          </a:lstStyle>
          <a:p>
            <a:fld id="{E9EF8A88-7B05-4B03-ACDA-4A6B434EDC9B}" type="slidenum">
              <a:rPr lang="zh-CN" altLang="en-US" smtClean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zh-CN" altLang="en-US" dirty="0" smtClean="0">
                <a:latin typeface="Times New Roman" panose="02020603050405020304" pitchFamily="18" charset="0"/>
              </a:rPr>
              <a:t>利用到目前为止的学习的知识点做一个</a:t>
            </a:r>
            <a:r>
              <a:rPr lang="zh-CN" altLang="en-US" smtClean="0">
                <a:latin typeface="Times New Roman" panose="02020603050405020304" pitchFamily="18" charset="0"/>
              </a:rPr>
              <a:t>程序练习：</a:t>
            </a:r>
            <a:r>
              <a:rPr lang="zh-CN" altLang="en-US" dirty="0" smtClean="0">
                <a:latin typeface="Times New Roman" panose="02020603050405020304" pitchFamily="18" charset="0"/>
              </a:rPr>
              <a:t>点球大战游戏（基于之前做的猜数字游戏思路）（参考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案例</a:t>
            </a: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、足球比赛经过</a:t>
            </a:r>
            <a:r>
              <a:rPr lang="en-US" altLang="zh-CN" dirty="0" smtClean="0">
                <a:latin typeface="Times New Roman" panose="02020603050405020304" pitchFamily="18" charset="0"/>
              </a:rPr>
              <a:t>90</a:t>
            </a:r>
            <a:r>
              <a:rPr lang="zh-CN" altLang="en-US" dirty="0" smtClean="0">
                <a:latin typeface="Times New Roman" panose="02020603050405020304" pitchFamily="18" charset="0"/>
              </a:rPr>
              <a:t>分钟的赛事后，如果比分相同，则双方各派</a:t>
            </a:r>
            <a:r>
              <a:rPr lang="en-US" altLang="zh-CN" dirty="0" smtClean="0">
                <a:latin typeface="Times New Roman" panose="02020603050405020304" pitchFamily="18" charset="0"/>
              </a:rPr>
              <a:t>5</a:t>
            </a:r>
            <a:r>
              <a:rPr lang="zh-CN" altLang="en-US" dirty="0" smtClean="0">
                <a:latin typeface="Times New Roman" panose="02020603050405020304" pitchFamily="18" charset="0"/>
              </a:rPr>
              <a:t>名队员进行点球大战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</a:rPr>
              <a:t>5</a:t>
            </a:r>
            <a:r>
              <a:rPr lang="zh-CN" altLang="en-US" dirty="0" smtClean="0">
                <a:latin typeface="Times New Roman" panose="02020603050405020304" pitchFamily="18" charset="0"/>
              </a:rPr>
              <a:t>轮点球大战双方交替进行，即在</a:t>
            </a: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轮比赛中双方各射门一次、守门一次，</a:t>
            </a:r>
            <a:r>
              <a:rPr lang="en-US" altLang="zh-CN" dirty="0" smtClean="0">
                <a:latin typeface="Times New Roman" panose="02020603050405020304" pitchFamily="18" charset="0"/>
              </a:rPr>
              <a:t>5</a:t>
            </a:r>
            <a:r>
              <a:rPr lang="zh-CN" altLang="en-US" dirty="0" smtClean="0">
                <a:latin typeface="Times New Roman" panose="02020603050405020304" pitchFamily="18" charset="0"/>
              </a:rPr>
              <a:t>轮比赛结束后对比双方得分确定获胜方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、如果</a:t>
            </a:r>
            <a:r>
              <a:rPr lang="en-US" altLang="zh-CN" dirty="0" smtClean="0">
                <a:latin typeface="Times New Roman" panose="02020603050405020304" pitchFamily="18" charset="0"/>
              </a:rPr>
              <a:t>5</a:t>
            </a:r>
            <a:r>
              <a:rPr lang="zh-CN" altLang="en-US" dirty="0" smtClean="0">
                <a:latin typeface="Times New Roman" panose="02020603050405020304" pitchFamily="18" charset="0"/>
              </a:rPr>
              <a:t>轮比赛后比分相同，则进行第</a:t>
            </a:r>
            <a:r>
              <a:rPr lang="en-US" altLang="zh-CN" dirty="0" smtClean="0">
                <a:latin typeface="Times New Roman" panose="02020603050405020304" pitchFamily="18" charset="0"/>
              </a:rPr>
              <a:t>6</a:t>
            </a:r>
            <a:r>
              <a:rPr lang="zh-CN" altLang="en-US" dirty="0" smtClean="0">
                <a:latin typeface="Times New Roman" panose="02020603050405020304" pitchFamily="18" charset="0"/>
              </a:rPr>
              <a:t>轮比赛，如果第</a:t>
            </a:r>
            <a:r>
              <a:rPr lang="en-US" altLang="zh-CN" dirty="0" smtClean="0">
                <a:latin typeface="Times New Roman" panose="02020603050405020304" pitchFamily="18" charset="0"/>
              </a:rPr>
              <a:t>6</a:t>
            </a:r>
            <a:r>
              <a:rPr lang="zh-CN" altLang="en-US" dirty="0" smtClean="0">
                <a:latin typeface="Times New Roman" panose="02020603050405020304" pitchFamily="18" charset="0"/>
              </a:rPr>
              <a:t>轮比分还相同，那么进入下一轮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</a:rPr>
              <a:t>、在</a:t>
            </a:r>
            <a:r>
              <a:rPr lang="en-US" altLang="zh-CN" dirty="0" smtClean="0">
                <a:latin typeface="Times New Roman" panose="02020603050405020304" pitchFamily="18" charset="0"/>
              </a:rPr>
              <a:t>5</a:t>
            </a:r>
            <a:r>
              <a:rPr lang="zh-CN" altLang="en-US" dirty="0" smtClean="0">
                <a:latin typeface="Times New Roman" panose="02020603050405020304" pitchFamily="18" charset="0"/>
              </a:rPr>
              <a:t>轮比赛过程中，如果能提前确定获胜方，则提前结束比赛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6" descr="Dscpe_01_Lg_cropp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17"/>
          <p:cNvSpPr>
            <a:spLocks noChangeArrowheads="1"/>
          </p:cNvSpPr>
          <p:nvPr/>
        </p:nvSpPr>
        <p:spPr bwMode="invGray">
          <a:xfrm>
            <a:off x="0" y="1430338"/>
            <a:ext cx="12192000" cy="369887"/>
          </a:xfrm>
          <a:prstGeom prst="rect">
            <a:avLst/>
          </a:prstGeom>
          <a:solidFill>
            <a:srgbClr val="0052A5">
              <a:alpha val="50195"/>
            </a:srgbClr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Rectangle 250"/>
          <p:cNvSpPr>
            <a:spLocks noChangeArrowheads="1"/>
          </p:cNvSpPr>
          <p:nvPr/>
        </p:nvSpPr>
        <p:spPr bwMode="auto">
          <a:xfrm>
            <a:off x="0" y="3141663"/>
            <a:ext cx="12192000" cy="368300"/>
          </a:xfrm>
          <a:prstGeom prst="rect">
            <a:avLst/>
          </a:prstGeom>
          <a:solidFill>
            <a:srgbClr val="E48F1B"/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8" name="图片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368" y="6300028"/>
            <a:ext cx="6192688" cy="36933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成都市武侯区新南路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44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号附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楼腾云商务大厦 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02885062021</a:t>
            </a:r>
            <a:endParaRPr lang="zh-CN" altLang="en-US" dirty="0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0698" name="Rectangle 122"/>
          <p:cNvSpPr>
            <a:spLocks noGrp="1" noChangeArrowheads="1"/>
          </p:cNvSpPr>
          <p:nvPr>
            <p:ph type="ctrTitle"/>
          </p:nvPr>
        </p:nvSpPr>
        <p:spPr bwMode="auto">
          <a:xfrm>
            <a:off x="508000" y="420690"/>
            <a:ext cx="11074400" cy="235267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zh-CN" noProof="0" smtClean="0"/>
          </a:p>
        </p:txBody>
      </p:sp>
      <p:sp>
        <p:nvSpPr>
          <p:cNvPr id="280799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852584" y="3836988"/>
            <a:ext cx="5831416" cy="150495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 typeface="Times" pitchFamily="18" charset="0"/>
              <a:buNone/>
              <a:defRPr sz="2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385762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185736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85728"/>
            <a:ext cx="10972800" cy="64293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1214422"/>
            <a:ext cx="6815666" cy="4911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4422"/>
            <a:ext cx="4011084" cy="49117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214421"/>
            <a:ext cx="7315200" cy="35131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4685" y="1357298"/>
            <a:ext cx="2770716" cy="44243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0418" y="1357298"/>
            <a:ext cx="8111067" cy="44243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417" y="285728"/>
            <a:ext cx="11074400" cy="6477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381000" y="1362075"/>
            <a:ext cx="11074400" cy="44196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 smtClean="0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slide_head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invGray">
          <a:xfrm>
            <a:off x="0" y="-1588"/>
            <a:ext cx="12193588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ChangeArrowheads="1"/>
          </p:cNvSpPr>
          <p:nvPr/>
        </p:nvSpPr>
        <p:spPr bwMode="gray">
          <a:xfrm>
            <a:off x="0" y="1139825"/>
            <a:ext cx="12192000" cy="5718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28" name="Rectangle 5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81000" y="1362075"/>
            <a:ext cx="11074400" cy="4419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1029" name="Rectangle 53"/>
          <p:cNvSpPr>
            <a:spLocks noGrp="1" noChangeArrowheads="1"/>
          </p:cNvSpPr>
          <p:nvPr>
            <p:ph type="title"/>
          </p:nvPr>
        </p:nvSpPr>
        <p:spPr bwMode="invGray">
          <a:xfrm>
            <a:off x="369888" y="285728"/>
            <a:ext cx="11074400" cy="64772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1031" name="图片 8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ut/>
  </p:transition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347980" indent="-347980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rgbClr val="00529B"/>
        </a:buClr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3500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92265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20967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4973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9545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4117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28689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3261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5.1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简介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5.2 from…import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5.3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自定义的模块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5.4 dir()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函数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第五章 模块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662305" y="1340485"/>
            <a:ext cx="9820910" cy="42424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前面学习了如何使用函数，通过函数能够在程序中实现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代码的重用</a:t>
            </a:r>
            <a:endParaRPr lang="zh-CN" altLang="en-US" sz="2400" dirty="0" smtClean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那么当需要在程序中重用其他程序内的代码，应该怎么办？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    --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通过模块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模块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可以理解成一个包含函数和变量的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文件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，且必须以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FF0000"/>
                </a:solidFill>
                <a:latin typeface="宋体" panose="02010600030101010101" pitchFamily="2" charset="-122"/>
              </a:rPr>
              <a:t>py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为扩展名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。通过在程序中引入模块，就可以使用其中的函数和变量，这也是使用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标准库的方法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5.2 from…import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语句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400" dirty="0" smtClean="0"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latin typeface="宋体" panose="02010600030101010101" pitchFamily="2" charset="-122"/>
              </a:rPr>
              <a:t>中引入模块可以使用</a:t>
            </a:r>
            <a:r>
              <a:rPr lang="en-US" altLang="zh-CN" sz="2400" smtClean="0">
                <a:solidFill>
                  <a:srgbClr val="FF0000"/>
                </a:solidFill>
                <a:latin typeface="宋体" panose="02010600030101010101" pitchFamily="2" charset="-122"/>
              </a:rPr>
              <a:t>from…import</a:t>
            </a:r>
            <a:r>
              <a:rPr lang="zh-CN" altLang="en-US" sz="2400" smtClean="0">
                <a:latin typeface="宋体" panose="02010600030101010101" pitchFamily="2" charset="-122"/>
              </a:rPr>
              <a:t>语句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dirty="0" smtClean="0">
                <a:latin typeface="宋体" panose="02010600030101010101" pitchFamily="2" charset="-122"/>
              </a:rPr>
              <a:t>如果想要引入整个</a:t>
            </a:r>
            <a:r>
              <a:rPr lang="zh-CN" altLang="en-US" sz="2400" smtClean="0">
                <a:latin typeface="宋体" panose="02010600030101010101" pitchFamily="2" charset="-122"/>
              </a:rPr>
              <a:t>模块，语法：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400" smtClean="0">
                <a:latin typeface="宋体" panose="02010600030101010101" pitchFamily="2" charset="-122"/>
              </a:rPr>
              <a:t>	import </a:t>
            </a:r>
            <a:r>
              <a:rPr lang="zh-CN" altLang="en-US" sz="2400" smtClean="0">
                <a:latin typeface="宋体" panose="02010600030101010101" pitchFamily="2" charset="-122"/>
              </a:rPr>
              <a:t>模块名称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dirty="0" smtClean="0">
                <a:latin typeface="宋体" panose="02010600030101010101" pitchFamily="2" charset="-122"/>
              </a:rPr>
              <a:t>如果只想引入模块中的某个函数或</a:t>
            </a:r>
            <a:r>
              <a:rPr lang="zh-CN" altLang="en-US" sz="2400" smtClean="0">
                <a:latin typeface="宋体" panose="02010600030101010101" pitchFamily="2" charset="-122"/>
              </a:rPr>
              <a:t>变量，语法：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400" smtClean="0">
                <a:latin typeface="宋体" panose="02010600030101010101" pitchFamily="2" charset="-122"/>
              </a:rPr>
              <a:t>    from </a:t>
            </a:r>
            <a:r>
              <a:rPr lang="zh-CN" altLang="en-US" sz="2400" smtClean="0">
                <a:latin typeface="宋体" panose="02010600030101010101" pitchFamily="2" charset="-122"/>
              </a:rPr>
              <a:t>模块名称 </a:t>
            </a:r>
            <a:r>
              <a:rPr lang="en-US" altLang="zh-CN" sz="2400" smtClean="0">
                <a:latin typeface="宋体" panose="02010600030101010101" pitchFamily="2" charset="-122"/>
              </a:rPr>
              <a:t>import </a:t>
            </a:r>
            <a:r>
              <a:rPr lang="zh-CN" altLang="en-US" sz="2400" smtClean="0">
                <a:latin typeface="宋体" panose="02010600030101010101" pitchFamily="2" charset="-122"/>
              </a:rPr>
              <a:t>函数名或变量名</a:t>
            </a:r>
            <a:endParaRPr lang="en-US" altLang="zh-CN" sz="2400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45171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这里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先提前介绍一个标准库中的随机数模块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random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random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模块中包含很多生成随机数的方法，比如</a:t>
            </a:r>
            <a:r>
              <a:rPr lang="en-US" altLang="zh-CN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randint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方法就能生成一个限定范围内的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随机整数</a:t>
            </a:r>
            <a:endParaRPr lang="en-US" altLang="zh-CN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randint()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：生成指定范围内的一个随机数</a:t>
            </a:r>
            <a:endParaRPr lang="en-US" altLang="zh-CN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None/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5.2 from…import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语句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45171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导入整个模块：</a:t>
            </a:r>
            <a:endParaRPr lang="en-US" altLang="zh-CN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import  random</a:t>
            </a:r>
            <a:endParaRPr lang="en-US" altLang="zh-CN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导入模块中的某个函数或变量：</a:t>
            </a:r>
            <a:endParaRPr lang="en-US" altLang="zh-CN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from  random  import  randint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5.2 from…import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语句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5.2 from…import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语句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dirty="0" smtClean="0">
                <a:latin typeface="宋体" panose="02010600030101010101" pitchFamily="2" charset="-122"/>
              </a:rPr>
              <a:t>我们可以直接使用</a:t>
            </a:r>
            <a:r>
              <a:rPr lang="en-US" altLang="zh-CN" sz="2400" dirty="0" smtClean="0">
                <a:latin typeface="宋体" panose="02010600030101010101" pitchFamily="2" charset="-122"/>
              </a:rPr>
              <a:t>[import random]</a:t>
            </a:r>
            <a:r>
              <a:rPr lang="zh-CN" altLang="en-US" sz="2400" dirty="0" smtClean="0">
                <a:latin typeface="宋体" panose="02010600030101010101" pitchFamily="2" charset="-122"/>
              </a:rPr>
              <a:t>将整个模块都引入到</a:t>
            </a:r>
            <a:r>
              <a:rPr lang="zh-CN" altLang="en-US" sz="2400" smtClean="0">
                <a:latin typeface="宋体" panose="02010600030101010101" pitchFamily="2" charset="-122"/>
              </a:rPr>
              <a:t>程序中：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400" smtClean="0">
                <a:latin typeface="宋体" panose="02010600030101010101" pitchFamily="2" charset="-122"/>
              </a:rPr>
              <a:t>	import random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smtClean="0">
                <a:latin typeface="宋体" panose="02010600030101010101" pitchFamily="2" charset="-122"/>
              </a:rPr>
              <a:t>如果</a:t>
            </a:r>
            <a:r>
              <a:rPr lang="zh-CN" altLang="en-US" sz="2400" dirty="0" smtClean="0">
                <a:latin typeface="宋体" panose="02010600030101010101" pitchFamily="2" charset="-122"/>
              </a:rPr>
              <a:t>是直接引入的整个</a:t>
            </a:r>
            <a:r>
              <a:rPr lang="en-US" altLang="zh-CN" sz="2400" dirty="0" smtClean="0">
                <a:latin typeface="宋体" panose="02010600030101010101" pitchFamily="2" charset="-122"/>
              </a:rPr>
              <a:t>random</a:t>
            </a:r>
            <a:r>
              <a:rPr lang="zh-CN" altLang="en-US" sz="2400" dirty="0" smtClean="0">
                <a:latin typeface="宋体" panose="02010600030101010101" pitchFamily="2" charset="-122"/>
              </a:rPr>
              <a:t>模块，那么在使用模块中函数或属性时一定要指出函数或属性的所属模块，否则</a:t>
            </a:r>
            <a:r>
              <a:rPr lang="zh-CN" altLang="en-US" sz="2400" smtClean="0">
                <a:latin typeface="宋体" panose="02010600030101010101" pitchFamily="2" charset="-122"/>
              </a:rPr>
              <a:t>会出错，例如：</a:t>
            </a:r>
            <a:r>
              <a:rPr lang="en-US" altLang="zh-CN" sz="2400" smtClean="0">
                <a:solidFill>
                  <a:srgbClr val="FF0000"/>
                </a:solidFill>
                <a:latin typeface="宋体" panose="02010600030101010101" pitchFamily="2" charset="-122"/>
              </a:rPr>
              <a:t>random.randint()</a:t>
            </a:r>
            <a:endParaRPr lang="en-US" altLang="zh-CN" sz="2400" dirty="0" smtClean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3714750"/>
            <a:ext cx="7558405" cy="166878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5.2 from…import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语句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199" y="1428736"/>
            <a:ext cx="10585813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5.2 from…import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语句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dirty="0" smtClean="0">
                <a:latin typeface="宋体" panose="02010600030101010101" pitchFamily="2" charset="-122"/>
              </a:rPr>
              <a:t>小练习：前面猜数字的小游戏，使用模块来增加一些随机性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smtClean="0">
                <a:latin typeface="宋体" panose="02010600030101010101" pitchFamily="2" charset="-122"/>
              </a:rPr>
              <a:t>这里</a:t>
            </a:r>
            <a:r>
              <a:rPr lang="zh-CN" altLang="en-US" sz="2400" dirty="0" smtClean="0">
                <a:latin typeface="宋体" panose="02010600030101010101" pitchFamily="2" charset="-122"/>
              </a:rPr>
              <a:t>先提前介绍一个标准库中的随机数模块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random</a:t>
            </a:r>
            <a:r>
              <a:rPr lang="zh-CN" altLang="en-US" sz="2400" dirty="0" smtClean="0">
                <a:latin typeface="宋体" panose="02010600030101010101" pitchFamily="2" charset="-122"/>
              </a:rPr>
              <a:t>，</a:t>
            </a:r>
            <a:r>
              <a:rPr lang="en-US" altLang="zh-CN" sz="2400" dirty="0" smtClean="0">
                <a:latin typeface="宋体" panose="02010600030101010101" pitchFamily="2" charset="-122"/>
              </a:rPr>
              <a:t>random</a:t>
            </a:r>
            <a:r>
              <a:rPr lang="zh-CN" altLang="en-US" sz="2400" dirty="0" smtClean="0">
                <a:latin typeface="宋体" panose="02010600030101010101" pitchFamily="2" charset="-122"/>
              </a:rPr>
              <a:t>模块中包含很多生成随机数的方法，比如</a:t>
            </a:r>
            <a:r>
              <a:rPr lang="en-US" altLang="zh-CN" sz="2400" dirty="0" err="1" smtClean="0">
                <a:solidFill>
                  <a:srgbClr val="FF0000"/>
                </a:solidFill>
                <a:latin typeface="宋体" panose="02010600030101010101" pitchFamily="2" charset="-122"/>
              </a:rPr>
              <a:t>randint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()</a:t>
            </a:r>
            <a:r>
              <a:rPr lang="zh-CN" altLang="en-US" sz="2400" dirty="0" smtClean="0">
                <a:latin typeface="宋体" panose="02010600030101010101" pitchFamily="2" charset="-122"/>
              </a:rPr>
              <a:t>方法就能生成一个限定范围内的随机整数，我们通过引入</a:t>
            </a:r>
            <a:r>
              <a:rPr lang="en-US" altLang="zh-CN" sz="2400" dirty="0" smtClean="0">
                <a:latin typeface="宋体" panose="02010600030101010101" pitchFamily="2" charset="-122"/>
              </a:rPr>
              <a:t>random</a:t>
            </a:r>
            <a:r>
              <a:rPr lang="zh-CN" altLang="en-US" sz="2400" dirty="0" smtClean="0">
                <a:latin typeface="宋体" panose="02010600030101010101" pitchFamily="2" charset="-122"/>
              </a:rPr>
              <a:t>模块中的这个方法来练习</a:t>
            </a:r>
            <a:endParaRPr lang="en-US" altLang="zh-CN" sz="2400" dirty="0" smtClean="0"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2998470"/>
            <a:ext cx="3809365" cy="380936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在使用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from…import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语句从模块中引入函数时，为了避免冲突和便于理解，同样是也为了使用方便，还可以使用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as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语句给引入的函数换个名字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5.2 from…import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语句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0" y="3344545"/>
            <a:ext cx="7256145" cy="211582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自定义模块实际上是十分简单的，我们也一直在这样做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每个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程序只要保存在以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为后缀名的文件中，就是一个模块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引入自定义的模块，需要模块文件位于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环境变量路径下或与当前运行程序同一路径下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5.3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自定义的模块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563246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dir()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函数是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内建的函数，用来列出模块中的函数、类和变量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如果给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dir()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函数提供一个模块名称，它返回该模块中的名称列表，如果不提供，则返回当前模块的名称列表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5.4 dir()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函数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042920"/>
            <a:ext cx="10395585" cy="303530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smtClean="0">
                <a:latin typeface="宋体" panose="02010600030101010101" pitchFamily="2" charset="-122"/>
              </a:rPr>
              <a:t>练习：</a:t>
            </a:r>
            <a:r>
              <a:rPr lang="zh-CN" altLang="en-US" sz="2400" dirty="0" smtClean="0">
                <a:latin typeface="宋体" panose="02010600030101010101" pitchFamily="2" charset="-122"/>
              </a:rPr>
              <a:t>点球大战游戏（基于之前做的猜数字游戏</a:t>
            </a:r>
            <a:r>
              <a:rPr lang="zh-CN" altLang="en-US" sz="2400" smtClean="0">
                <a:latin typeface="宋体" panose="02010600030101010101" pitchFamily="2" charset="-122"/>
              </a:rPr>
              <a:t>思路）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宋体" panose="02010600030101010101" pitchFamily="2" charset="-122"/>
              </a:rPr>
              <a:t>  足球</a:t>
            </a:r>
            <a:r>
              <a:rPr lang="zh-CN" altLang="en-US" sz="2400" dirty="0" smtClean="0">
                <a:latin typeface="宋体" panose="02010600030101010101" pitchFamily="2" charset="-122"/>
              </a:rPr>
              <a:t>比赛经过</a:t>
            </a:r>
            <a:r>
              <a:rPr lang="en-US" altLang="zh-CN" sz="2400" dirty="0" smtClean="0">
                <a:latin typeface="宋体" panose="02010600030101010101" pitchFamily="2" charset="-122"/>
              </a:rPr>
              <a:t>90</a:t>
            </a:r>
            <a:r>
              <a:rPr lang="zh-CN" altLang="en-US" sz="2400" dirty="0" smtClean="0">
                <a:latin typeface="宋体" panose="02010600030101010101" pitchFamily="2" charset="-122"/>
              </a:rPr>
              <a:t>分钟的赛事后，如果比分相同，则双方各派</a:t>
            </a:r>
            <a:r>
              <a:rPr lang="en-US" altLang="zh-CN" sz="2400" dirty="0" smtClean="0">
                <a:latin typeface="宋体" panose="02010600030101010101" pitchFamily="2" charset="-122"/>
              </a:rPr>
              <a:t>5</a:t>
            </a:r>
            <a:r>
              <a:rPr lang="zh-CN" altLang="en-US" sz="2400" dirty="0" smtClean="0">
                <a:latin typeface="宋体" panose="02010600030101010101" pitchFamily="2" charset="-122"/>
              </a:rPr>
              <a:t>名队员进行点球大战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</a:pPr>
            <a:r>
              <a:rPr lang="en-US" altLang="zh-CN" sz="2400" smtClean="0">
                <a:latin typeface="宋体" panose="02010600030101010101" pitchFamily="2" charset="-122"/>
              </a:rPr>
              <a:t>  5</a:t>
            </a:r>
            <a:r>
              <a:rPr lang="zh-CN" altLang="en-US" sz="2400" dirty="0" smtClean="0">
                <a:latin typeface="宋体" panose="02010600030101010101" pitchFamily="2" charset="-122"/>
              </a:rPr>
              <a:t>轮点球大战双方交替进行，即在</a:t>
            </a:r>
            <a:r>
              <a:rPr lang="en-US" altLang="zh-CN" sz="2400" dirty="0" smtClean="0">
                <a:latin typeface="宋体" panose="02010600030101010101" pitchFamily="2" charset="-122"/>
              </a:rPr>
              <a:t>1</a:t>
            </a:r>
            <a:r>
              <a:rPr lang="zh-CN" altLang="en-US" sz="2400" dirty="0" smtClean="0">
                <a:latin typeface="宋体" panose="02010600030101010101" pitchFamily="2" charset="-122"/>
              </a:rPr>
              <a:t>轮比赛中双方各射门一次、守门一次，</a:t>
            </a:r>
            <a:r>
              <a:rPr lang="en-US" altLang="zh-CN" sz="2400" dirty="0" smtClean="0">
                <a:latin typeface="宋体" panose="02010600030101010101" pitchFamily="2" charset="-122"/>
              </a:rPr>
              <a:t>5</a:t>
            </a:r>
            <a:r>
              <a:rPr lang="zh-CN" altLang="en-US" sz="2400" smtClean="0">
                <a:latin typeface="宋体" panose="02010600030101010101" pitchFamily="2" charset="-122"/>
              </a:rPr>
              <a:t>轮比赛  结束</a:t>
            </a:r>
            <a:r>
              <a:rPr lang="zh-CN" altLang="en-US" sz="2400" dirty="0" smtClean="0">
                <a:latin typeface="宋体" panose="02010600030101010101" pitchFamily="2" charset="-122"/>
              </a:rPr>
              <a:t>后对比双方得分确定获胜方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宋体" panose="02010600030101010101" pitchFamily="2" charset="-122"/>
              </a:rPr>
              <a:t>  如果</a:t>
            </a:r>
            <a:r>
              <a:rPr lang="en-US" altLang="zh-CN" sz="2400" dirty="0" smtClean="0">
                <a:latin typeface="宋体" panose="02010600030101010101" pitchFamily="2" charset="-122"/>
              </a:rPr>
              <a:t>5</a:t>
            </a:r>
            <a:r>
              <a:rPr lang="zh-CN" altLang="en-US" sz="2400" dirty="0" smtClean="0">
                <a:latin typeface="宋体" panose="02010600030101010101" pitchFamily="2" charset="-122"/>
              </a:rPr>
              <a:t>轮比赛后比分相同，则进行第</a:t>
            </a:r>
            <a:r>
              <a:rPr lang="en-US" altLang="zh-CN" sz="2400" dirty="0" smtClean="0">
                <a:latin typeface="宋体" panose="02010600030101010101" pitchFamily="2" charset="-122"/>
              </a:rPr>
              <a:t>6</a:t>
            </a:r>
            <a:r>
              <a:rPr lang="zh-CN" altLang="en-US" sz="2400" dirty="0" smtClean="0">
                <a:latin typeface="宋体" panose="02010600030101010101" pitchFamily="2" charset="-122"/>
              </a:rPr>
              <a:t>轮比赛，如果第</a:t>
            </a:r>
            <a:r>
              <a:rPr lang="en-US" altLang="zh-CN" sz="2400" dirty="0" smtClean="0">
                <a:latin typeface="宋体" panose="02010600030101010101" pitchFamily="2" charset="-122"/>
              </a:rPr>
              <a:t>6</a:t>
            </a:r>
            <a:r>
              <a:rPr lang="zh-CN" altLang="en-US" sz="2400" dirty="0" smtClean="0">
                <a:latin typeface="宋体" panose="02010600030101010101" pitchFamily="2" charset="-122"/>
              </a:rPr>
              <a:t>轮比分还相同，那么进入下一轮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宋体" panose="02010600030101010101" pitchFamily="2" charset="-122"/>
              </a:rPr>
              <a:t>  在</a:t>
            </a:r>
            <a:r>
              <a:rPr lang="en-US" altLang="zh-CN" sz="2400" dirty="0" smtClean="0">
                <a:latin typeface="宋体" panose="02010600030101010101" pitchFamily="2" charset="-122"/>
              </a:rPr>
              <a:t>5</a:t>
            </a:r>
            <a:r>
              <a:rPr lang="zh-CN" altLang="en-US" sz="2400" dirty="0" smtClean="0">
                <a:latin typeface="宋体" panose="02010600030101010101" pitchFamily="2" charset="-122"/>
              </a:rPr>
              <a:t>轮比赛过程中，如果能提前确定获胜方，则提前结束比赛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eaLnBrk="1" hangingPunct="1"/>
            <a:endParaRPr lang="zh-CN" altLang="en-US" sz="2400" dirty="0" smtClean="0"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练习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OC_GUID" val="{b0aca8f2-9c0c-409a-9384-f7aa1c6c2635}"/>
</p:tagLst>
</file>

<file path=ppt/theme/theme1.xml><?xml version="1.0" encoding="utf-8"?>
<a:theme xmlns:a="http://schemas.openxmlformats.org/drawingml/2006/main" name="Gartner PPT- one template-v8_rm">
  <a:themeElements>
    <a:clrScheme name="">
      <a:dk1>
        <a:srgbClr val="000000"/>
      </a:dk1>
      <a:lt1>
        <a:srgbClr val="FFFFFF"/>
      </a:lt1>
      <a:dk2>
        <a:srgbClr val="F8F8F8"/>
      </a:dk2>
      <a:lt2>
        <a:srgbClr val="808080"/>
      </a:lt2>
      <a:accent1>
        <a:srgbClr val="3366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00"/>
      </a:accent6>
      <a:hlink>
        <a:srgbClr val="FF9900"/>
      </a:hlink>
      <a:folHlink>
        <a:srgbClr val="6699FF"/>
      </a:folHlink>
    </a:clrScheme>
    <a:fontScheme name="Gartner PPT- one template-v8_rm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Gartner PPT- one template-v8_r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tner PPT- one template-v8_r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汇智动力</Template>
  <TotalTime>0</TotalTime>
  <Words>1297</Words>
  <Application>WPS 演示</Application>
  <PresentationFormat>自定义</PresentationFormat>
  <Paragraphs>76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 Unicode MS</vt:lpstr>
      <vt:lpstr>Times</vt:lpstr>
      <vt:lpstr>Times New Roman</vt:lpstr>
      <vt:lpstr>Calibri Light</vt:lpstr>
      <vt:lpstr>华文楷体</vt:lpstr>
      <vt:lpstr>微软雅黑</vt:lpstr>
      <vt:lpstr>Arial Unicode MS</vt:lpstr>
      <vt:lpstr>Gartner PPT- one template-v8_rm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勇敢的心</cp:lastModifiedBy>
  <cp:revision>1076</cp:revision>
  <dcterms:created xsi:type="dcterms:W3CDTF">2014-03-18T11:00:00Z</dcterms:created>
  <dcterms:modified xsi:type="dcterms:W3CDTF">2020-04-08T06:24:12Z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2052-11.1.0.9564</vt:lpwstr>
  </property>
</Properties>
</file>