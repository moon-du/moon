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3"/>
  </p:handoutMasterIdLst>
  <p:sldIdLst>
    <p:sldId id="1079" r:id="rId3"/>
    <p:sldId id="1080" r:id="rId5"/>
    <p:sldId id="1081" r:id="rId6"/>
    <p:sldId id="1087" r:id="rId7"/>
    <p:sldId id="1105" r:id="rId8"/>
    <p:sldId id="1106" r:id="rId9"/>
    <p:sldId id="1127" r:id="rId10"/>
    <p:sldId id="1186" r:id="rId11"/>
    <p:sldId id="1088" r:id="rId12"/>
    <p:sldId id="1089" r:id="rId13"/>
    <p:sldId id="1128" r:id="rId14"/>
    <p:sldId id="1083" r:id="rId15"/>
    <p:sldId id="1129" r:id="rId16"/>
    <p:sldId id="1132" r:id="rId17"/>
    <p:sldId id="1130" r:id="rId18"/>
    <p:sldId id="1131" r:id="rId19"/>
    <p:sldId id="1133" r:id="rId20"/>
    <p:sldId id="1134" r:id="rId21"/>
    <p:sldId id="1109" r:id="rId22"/>
    <p:sldId id="1084" r:id="rId23"/>
    <p:sldId id="1090" r:id="rId24"/>
    <p:sldId id="1092" r:id="rId25"/>
    <p:sldId id="1108" r:id="rId26"/>
    <p:sldId id="1139" r:id="rId27"/>
    <p:sldId id="1094" r:id="rId28"/>
    <p:sldId id="1095" r:id="rId29"/>
    <p:sldId id="1137" r:id="rId30"/>
    <p:sldId id="1138" r:id="rId31"/>
    <p:sldId id="1140" r:id="rId32"/>
    <p:sldId id="1097" r:id="rId33"/>
    <p:sldId id="1167" r:id="rId34"/>
    <p:sldId id="1168" r:id="rId35"/>
    <p:sldId id="1135" r:id="rId36"/>
    <p:sldId id="1136" r:id="rId37"/>
    <p:sldId id="1142" r:id="rId38"/>
    <p:sldId id="1143" r:id="rId39"/>
    <p:sldId id="1098" r:id="rId40"/>
    <p:sldId id="1099" r:id="rId41"/>
    <p:sldId id="1100" r:id="rId42"/>
    <p:sldId id="1144" r:id="rId43"/>
    <p:sldId id="1145" r:id="rId44"/>
    <p:sldId id="1086" r:id="rId45"/>
    <p:sldId id="1107" r:id="rId46"/>
    <p:sldId id="1102" r:id="rId47"/>
    <p:sldId id="1103" r:id="rId48"/>
    <p:sldId id="1104" r:id="rId49"/>
    <p:sldId id="1110" r:id="rId50"/>
    <p:sldId id="1165" r:id="rId51"/>
    <p:sldId id="1166" r:id="rId52"/>
  </p:sldIdLst>
  <p:sldSz cx="12192000" cy="6858000"/>
  <p:notesSz cx="6858000" cy="9144000"/>
  <p:custDataLst>
    <p:tags r:id="rId5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600"/>
    <a:srgbClr val="66CC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32" autoAdjust="0"/>
    <p:restoredTop sz="93878" autoAdjust="0"/>
  </p:normalViewPr>
  <p:slideViewPr>
    <p:cSldViewPr snapToObjects="1" showGuides="1">
      <p:cViewPr varScale="1">
        <p:scale>
          <a:sx n="70" d="100"/>
          <a:sy n="70" d="100"/>
        </p:scale>
        <p:origin x="-756" y="-108"/>
      </p:cViewPr>
      <p:guideLst>
        <p:guide orient="horz" pos="2115"/>
        <p:guide pos="3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gs" Target="tags/tag3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单击此处编辑母版文本样式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第二级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第三级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第四级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第五级</a:t>
            </a:r>
            <a:endParaRPr lang="zh-CN" dirty="0">
              <a:latin typeface="Times New Roman" panose="02020603050405020304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补充知识点：在字典中键不可变且唯一，但键对应的值是可变的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 smtClean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485"/>
            <a:ext cx="9474200" cy="46996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4.1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简介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4.2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列表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4.3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元组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4.4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字典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4.5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序列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4.6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字符串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第四章 数据结构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数据结构就是处理一些数据的结构，或者说是用来存储一组相关数据的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smtClean="0">
                <a:latin typeface="宋体" panose="02010600030101010101" pitchFamily="2" charset="-122"/>
              </a:rPr>
              <a:t>在</a:t>
            </a:r>
            <a:r>
              <a:rPr lang="en-US" altLang="zh-CN" sz="2400" smtClean="0"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latin typeface="宋体" panose="02010600030101010101" pitchFamily="2" charset="-122"/>
              </a:rPr>
              <a:t>中有三种内建</a:t>
            </a:r>
            <a:r>
              <a:rPr lang="zh-CN" altLang="en-US" sz="2400" smtClean="0">
                <a:latin typeface="宋体" panose="02010600030101010101" pitchFamily="2" charset="-122"/>
              </a:rPr>
              <a:t>的数据结构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chemeClr val="accent2"/>
                </a:solidFill>
                <a:latin typeface="宋体" panose="02010600030101010101" pitchFamily="2" charset="-122"/>
              </a:rPr>
              <a:t>列表</a:t>
            </a:r>
            <a:endParaRPr lang="en-US" altLang="zh-CN" sz="24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元组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字典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列表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(list)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是处理一组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有序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项目的数据结构，即可以在一个列表中存储一个序列的项目，如购物清单、手机通讯录等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这个顺序被称为下标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索引（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index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）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中定义列表需要使用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方括号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，列表中的项目都包含在方括号中，项目之间使用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逗号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分隔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列表中的数据可以是任意数据类型，甚至可以是不同类型的混合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4.2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列表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11357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列表中的数据除了基本数据类型，还可以是其他复杂的数据结构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列表创建完成后，可以添加、删除或者搜索列表中的项目，即列表是可变的数据类型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4.2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列表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760" y="2045335"/>
            <a:ext cx="3950335" cy="240919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11357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列表函数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len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(list):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返回列表元素个数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max(list):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返回列表元素的最大值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min(list):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返回列表元素的最小值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4.2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列表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11357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列表方法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4.2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列表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5440" y="1971674"/>
          <a:ext cx="8785225" cy="4050030"/>
        </p:xfrm>
        <a:graphic>
          <a:graphicData uri="http://schemas.openxmlformats.org/drawingml/2006/table">
            <a:tbl>
              <a:tblPr/>
              <a:tblGrid>
                <a:gridCol w="2861945"/>
                <a:gridCol w="5923280"/>
              </a:tblGrid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list.append(obj)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在列表末尾添加新元素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list.count(obj)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返回指定元素在列表中出现的次数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89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list.extend(seq)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在列表末尾</a:t>
                      </a:r>
                      <a:r>
                        <a:rPr lang="zh-CN" altLang="en-US" sz="1800" b="0" i="0" u="none" strike="noStrike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追加一</a:t>
                      </a:r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个序列的元素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list.index(obj)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返回指定元素在列表中的索引位置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list.insert(index,obj)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在列表的指定位置插入元素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list.pop([index])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移除列表中的指定元素，默认为最后一个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list.reverse()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反向列表中的元素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list.sort()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对列表元素排序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升序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11357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改变列表元素：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&gt;&gt;&gt; a = [123, 'abc', 4.56, ['inner', 'list'] ]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&gt;&gt;&gt; a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   [123, 'abc', 4.56, ['inner', 'list'] ]</a:t>
            </a:r>
            <a:endParaRPr lang="en-US" altLang="zh-CN" sz="2400">
              <a:latin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&gt;&gt;&gt; a[0] = 4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&gt;&gt;&gt; a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   [4, 'abc', 4.56, ['inner', 'list'] ]</a:t>
            </a:r>
            <a:endParaRPr lang="en-US" altLang="zh-CN" sz="2400">
              <a:latin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&gt;&gt;&gt;a[3][0] = 'outter'</a:t>
            </a:r>
            <a:endParaRPr lang="en-US" altLang="zh-CN" sz="2400">
              <a:latin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	</a:t>
            </a:r>
            <a:r>
              <a:rPr lang="en-US" altLang="zh-CN" sz="2400">
                <a:latin typeface="宋体" panose="02010600030101010101" pitchFamily="2" charset="-122"/>
                <a:sym typeface="+mn-ea"/>
              </a:rPr>
              <a:t>[4, 'abc', 4.56, ['outter', 'list'] ]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4.2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列表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11357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练习：将列表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[45,23,2,5,3,2,6,45,43,21,66,2,3,2]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进行从小到大排序，不能用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sort()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函数，思路：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建一个新的列表，将列表中最小的元素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append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到新列表。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4.2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列表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元组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 err="1" smtClean="0">
                <a:solidFill>
                  <a:srgbClr val="FF0000"/>
                </a:solidFill>
                <a:latin typeface="宋体" panose="02010600030101010101" pitchFamily="2" charset="-122"/>
              </a:rPr>
              <a:t>tuple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和列表十分类似，只不过元组和字符串一样是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不可变的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，即不能修改元组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正是因为元组不可变，一般用于在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中定义一组不需要改变的值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中定义元组使用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圆括号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，元组中的项目同样使用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逗号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分隔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元组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510" y="4322445"/>
            <a:ext cx="4303395" cy="235077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空的元组由一对空的圆括号组成，比如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t1=()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然而，定义含有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个元素的元组，需要在唯一的一个元素后跟一个逗号，这样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才能区分元组和表达式中一个带圆括号的对象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元组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2765" y="1246505"/>
            <a:ext cx="10821035" cy="541972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存储学生的信息：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 姓名、年龄、身高、体重、昵称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问题？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59660"/>
            <a:ext cx="8335645" cy="29273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295400"/>
            <a:ext cx="10729595" cy="520763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内置类型字典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字典的定义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dict1 = {}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dict2 = { 'name': 'Jack', 'age': 40 }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value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的概念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dict2[ 'name' ]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dict2 [ 'age' ]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就像真正的字典前面的索引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访问不存在的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会导致程序异常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dict2.get( 'name', default =None)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48005" y="1239520"/>
            <a:ext cx="10805795" cy="52533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字典是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mutable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可以存储任意数量的元素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可以存储任何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数据类型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value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可以是任何类型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hash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的类型，最常用的效率也是最高的是数字或者字符串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key:value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键：值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对的形式存储数据，每个键是唯一的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根据键查找值的效率非常高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420" y="1320165"/>
            <a:ext cx="10729595" cy="50850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对应前面的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dict in dict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students['Douge Jose']['age']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360" y="2229485"/>
            <a:ext cx="3236595" cy="453771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850" y="1259205"/>
            <a:ext cx="10928985" cy="5146675"/>
          </a:xfrm>
        </p:spPr>
        <p:txBody>
          <a:bodyPr>
            <a:normAutofit lnSpcReduction="10000"/>
          </a:bodyPr>
          <a:p>
            <a:pPr marL="0" indent="0">
              <a:buFont typeface="Wingdings" panose="05000000000000000000" charset="0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字典解决的问题：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不清晰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age = students[0][1]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students[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'Douge Jose']['age']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查找麻烦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需要遍历式的查找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就可以得到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students[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'Douge Jose']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性能特别高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扩展性差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如果要加一个字段，只能在后面加，不然老代码会有问题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随意添加字段，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dict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没有先后的概念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0215" y="1266190"/>
            <a:ext cx="10729595" cy="50850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字典对象可以像下面这样直接进行赋值为添加对象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90" y="1892300"/>
            <a:ext cx="7207250" cy="363601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233170"/>
            <a:ext cx="10729595" cy="50850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如果赋值操作里面指定的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不存在，是添加对象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已经存在，则变成修改操作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11730"/>
            <a:ext cx="6118860" cy="246888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25780" y="1298575"/>
            <a:ext cx="10729595" cy="50850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检查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是否存在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Python 3.X 里不包含 has_key() 函数，被 __contains__(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替代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" y="2917190"/>
            <a:ext cx="8356600" cy="346646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2464" y="1267517"/>
          <a:ext cx="10187022" cy="4517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725"/>
                <a:gridCol w="7447297"/>
              </a:tblGrid>
              <a:tr h="371475"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方法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作用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clear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删除字典内的所有元素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copy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复制一个字典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fromkeys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创建一个新字典，以序列</a:t>
                      </a:r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seq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中的元素作为字典的键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get</a:t>
                      </a:r>
                      <a:r>
                        <a:rPr lang="zh-CN" altLang="en-US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key</a:t>
                      </a:r>
                      <a:r>
                        <a:rPr lang="zh-CN" altLang="en-US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）</a:t>
                      </a:r>
                      <a:endParaRPr lang="zh-CN" altLang="en-US" sz="18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返回指定键的值，如果键不在字典中则返回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None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items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以</a:t>
                      </a:r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dict_items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([(),…])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返回（键，值）元组对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keys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以</a:t>
                      </a:r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dict_keys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([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‘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’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,…])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返回字典所有的键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values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以</a:t>
                      </a:r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dict_values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([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‘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’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,….])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返回字典所有的值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pop</a:t>
                      </a:r>
                      <a:r>
                        <a:rPr lang="zh-CN" altLang="en-US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key</a:t>
                      </a:r>
                      <a:r>
                        <a:rPr lang="zh-CN" altLang="en-US" sz="18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）</a:t>
                      </a:r>
                      <a:endParaRPr lang="zh-CN" altLang="en-US" sz="18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删除并返回指定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key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的值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1464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popitem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随机删除并以元组返回某个键值对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75669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setdefault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key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，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value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）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和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get()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类似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,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但如果键不存在于字典中，将会添加键并将值设为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value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4245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update(dict2)</a:t>
                      </a:r>
                      <a:endParaRPr lang="en-US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把字典</a:t>
                      </a:r>
                      <a:r>
                        <a:rPr lang="en-US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dict2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的键</a:t>
                      </a:r>
                      <a:r>
                        <a:rPr lang="en-US" altLang="zh-CN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/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值对更新到</a:t>
                      </a:r>
                      <a:r>
                        <a:rPr lang="en-US" altLang="en-US" sz="180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dict</a:t>
                      </a: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里</a:t>
                      </a:r>
                      <a:endParaRPr lang="zh-CN" altLang="en-US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列表、元组和字符串都是序列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序列的两个主要特征是：索引操作符、切片操作符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索引操作符可以从序列中抓取一个特定的项目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切片操作符可以从序列中获取序列的一个切片，即一部分序列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485"/>
            <a:ext cx="9474200" cy="4512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列表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和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元组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有顺序的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序列，序列中的每个元素都对应一个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递增的序号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，列表和元组使用这样的序号作为索引 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但是与现实习惯中的序号不同在于，计算机中的序号都是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从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开始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）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索引操作符也称为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下标操作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，即在序列名后使用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方括号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，同时方括号中指定一个特定的数，就能够访问序列中对应位置的项目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字典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是无顺序的非序列，但是也可以使用键来访问字典中的某个元素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索引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使用整数索引访问列表或元组中的元素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使用键作为索引访问字典中的元素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索引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645" y="2745740"/>
            <a:ext cx="3456940" cy="396621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索引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84251" y="1467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索引可以是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负数</a:t>
            </a:r>
            <a:r>
              <a:rPr lang="zh-CN" altLang="en-US" sz="2400" dirty="0" smtClean="0">
                <a:latin typeface="宋体" panose="02010600030101010101" pitchFamily="2" charset="-122"/>
              </a:rPr>
              <a:t>，表示从序列尾</a:t>
            </a:r>
            <a:r>
              <a:rPr lang="zh-CN" altLang="en-US" sz="2400" smtClean="0">
                <a:latin typeface="宋体" panose="02010600030101010101" pitchFamily="2" charset="-122"/>
              </a:rPr>
              <a:t>开始计算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如</a:t>
            </a:r>
            <a:r>
              <a:rPr lang="en-US" altLang="zh-CN" sz="2400" dirty="0" smtClean="0">
                <a:latin typeface="宋体" panose="02010600030101010101" pitchFamily="2" charset="-122"/>
              </a:rPr>
              <a:t>l1[-1]</a:t>
            </a:r>
            <a:r>
              <a:rPr lang="zh-CN" altLang="en-US" sz="2400" dirty="0" smtClean="0">
                <a:latin typeface="宋体" panose="02010600030101010101" pitchFamily="2" charset="-122"/>
              </a:rPr>
              <a:t>表示序列</a:t>
            </a:r>
            <a:r>
              <a:rPr lang="en-US" altLang="zh-CN" sz="2400" dirty="0" smtClean="0">
                <a:latin typeface="宋体" panose="02010600030101010101" pitchFamily="2" charset="-122"/>
              </a:rPr>
              <a:t>l1</a:t>
            </a:r>
            <a:r>
              <a:rPr lang="zh-CN" altLang="en-US" sz="2400" dirty="0" smtClean="0">
                <a:latin typeface="宋体" panose="02010600030101010101" pitchFamily="2" charset="-122"/>
              </a:rPr>
              <a:t>的最后一个元素，</a:t>
            </a:r>
            <a:r>
              <a:rPr lang="en-US" altLang="zh-CN" sz="2400" dirty="0" smtClean="0">
                <a:latin typeface="宋体" panose="02010600030101010101" pitchFamily="2" charset="-122"/>
              </a:rPr>
              <a:t>l1[-2]</a:t>
            </a:r>
            <a:r>
              <a:rPr lang="zh-CN" altLang="en-US" sz="2400" dirty="0" smtClean="0">
                <a:latin typeface="宋体" panose="02010600030101010101" pitchFamily="2" charset="-122"/>
              </a:rPr>
              <a:t>表示序列</a:t>
            </a:r>
            <a:r>
              <a:rPr lang="en-US" altLang="zh-CN" sz="2400" dirty="0" smtClean="0">
                <a:latin typeface="宋体" panose="02010600030101010101" pitchFamily="2" charset="-122"/>
              </a:rPr>
              <a:t>l1</a:t>
            </a:r>
            <a:r>
              <a:rPr lang="zh-CN" altLang="en-US" sz="2400" dirty="0" smtClean="0">
                <a:latin typeface="宋体" panose="02010600030101010101" pitchFamily="2" charset="-122"/>
              </a:rPr>
              <a:t>的倒数第二个元素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3680" y="2966720"/>
            <a:ext cx="3556000" cy="37528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索引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84251" y="1467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序列里面包含序列的操作：</a:t>
            </a:r>
            <a:endParaRPr lang="zh-CN" altLang="en-US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35" y="2093595"/>
            <a:ext cx="4136390" cy="34029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5" y="2093595"/>
            <a:ext cx="4145915" cy="32873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切片操作符同样是序列名后跟一个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方括号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，方括号中有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一对的数字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，并用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冒号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分隔，第一个数表示切片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开始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的位置，第二个数表示切片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结束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的位置，注意开始的位置包含的切片中，但结束的位置不包含在切片中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包左不包右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切片操作符中的数字对，数是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可选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的，冒号是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必须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的。如果不指定第一个数，切片从序列首开始，如果不指定第二个数，切片从序列尾结束（包含），都不指定则返回整个列表的一个拷贝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同样的切片操作符中的数字可以为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负数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，表示从序列尾开始计算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切片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补充：只有序列（列表、元组）可以切片，字典无法使用切片操作符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切片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76937" y="2148839"/>
            <a:ext cx="8633787" cy="3129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切片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515" y="1283335"/>
            <a:ext cx="11017885" cy="506793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比如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，日志文件：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11:12:11&gt; </a:t>
            </a:r>
            <a:r>
              <a:rPr lang="en-US" altLang="zh-CN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001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enter chatroom, level2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11:12:16&gt; </a:t>
            </a:r>
            <a:r>
              <a:rPr lang="en-US" altLang="zh-CN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003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enter chatroom, level25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这是一个日志文件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记录游戏中某个人登录聊天室，并且他的等级是多少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每行记录一个进入的人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时间戳的长度固定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30505" indent="-230505" fontAlgn="auto"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我们要把所有进入聊天室的用户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取出来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30505" indent="-230505" fontAlgn="auto"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先要从每行日志字符串中把用户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扣出来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14300" indent="0" fontAlgn="auto">
              <a:buFont typeface="Wingdings" panose="05000000000000000000" charset="0"/>
              <a:buNone/>
            </a:pPr>
            <a:r>
              <a:rPr lang="zh-CN" altLang="en-US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str1 = '</a:t>
            </a:r>
            <a:r>
              <a:rPr lang="en-US" altLang="zh-CN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11:12:11&gt; 001 enter chatroom, level2'</a:t>
            </a:r>
            <a:endParaRPr lang="en-US" altLang="zh-CN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切片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9715" y="1261110"/>
            <a:ext cx="11017885" cy="506793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比如，日志文件：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11:12:11&gt;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level2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001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enter chatroom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 11:12:16&gt;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level25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003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enter chatroom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457200" fontAlgn="auto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我们要把所有进入聊天室的用户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取出来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457200" fontAlgn="auto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先要从每行日志字符串中把用户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扣出来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14300" indent="0" fontAlgn="auto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str1 = '</a:t>
            </a:r>
            <a:r>
              <a:rPr lang="en-US" altLang="zh-CN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11:12:11&gt; level2</a:t>
            </a:r>
            <a:r>
              <a:rPr lang="zh-CN" altLang="en-US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001 enter chatroom' </a:t>
            </a:r>
            <a:endParaRPr lang="en-US" altLang="zh-CN" sz="240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035" y="1125855"/>
            <a:ext cx="10819765" cy="523494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打印出列表里面所有学生名字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['Mike' , 'Jack', 'Mary', 'Pat', 'Will', 'Lisa' ]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190" y="2576195"/>
            <a:ext cx="8173720" cy="2271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90" y="5374640"/>
            <a:ext cx="8628380" cy="14306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可以使用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for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循环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来遍历列表、元组、字典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然而需要注意的是，遍历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字典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时是提取的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键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，而不是键对应的值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331720"/>
            <a:ext cx="3346450" cy="45548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805" y="1337945"/>
            <a:ext cx="10881995" cy="510032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列表生成式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下面是员工税前工资列表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</a:rPr>
              <a:t>[10000,15000,8000,4000,5000]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每个员工扣税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10%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请计算出所有员工的税后工资，存储在列表中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05" y="4190365"/>
            <a:ext cx="7452360" cy="21272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02285" y="1285240"/>
            <a:ext cx="10851515" cy="5207635"/>
          </a:xfrm>
        </p:spPr>
        <p:txBody>
          <a:bodyPr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列表生成式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典型的从源列表生成目标列表的处理场景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从源列表里面依次取出元素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做同样的处理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放入另一个列表中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List comprehensions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简洁、优雅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3788410"/>
            <a:ext cx="8115300" cy="157353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205" y="1263650"/>
            <a:ext cx="10791190" cy="531558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遍历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for one in alist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列出下面列表中所有学生的年龄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940" y="2187575"/>
            <a:ext cx="3182620" cy="469011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45440" y="1296670"/>
            <a:ext cx="10791190" cy="531558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列出下面列表中所有学生的年龄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1711960"/>
            <a:ext cx="6664960" cy="762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8500"/>
            <a:ext cx="5529580" cy="1064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180" y="1296670"/>
            <a:ext cx="3182620" cy="4690110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字典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0055" y="1309370"/>
            <a:ext cx="10728960" cy="512889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假设列表中保存了全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NBA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球员的年龄信息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我们需要找到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‘Lebron James'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的年龄，该怎么做？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61645" lvl="1" indent="0">
              <a:buFont typeface="Wingdings" panose="05000000000000000000" charset="0"/>
              <a:buNone/>
            </a:pPr>
            <a:r>
              <a:rPr lang="en-US" altLang="zh-CN" sz="2055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nba_age[1][1]</a:t>
            </a:r>
            <a:endParaRPr lang="en-US" altLang="zh-CN" sz="2055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" y="1927860"/>
            <a:ext cx="2940685" cy="230378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遍历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22885" y="1297305"/>
            <a:ext cx="11033125" cy="52501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这样做有什么问题？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假设有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2000000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条数据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30" y="1962150"/>
            <a:ext cx="6485890" cy="214820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列表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和</a:t>
            </a:r>
            <a:r>
              <a:rPr lang="zh-CN" altLang="en-US" sz="2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字典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是可变的，即可以修改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修改列表或字典中的某一个元素，只需要直接给被修改的元素</a:t>
            </a:r>
            <a:r>
              <a:rPr lang="zh-CN" altLang="en-US" sz="2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赋值</a:t>
            </a:r>
            <a:endParaRPr lang="zh-CN" altLang="en-US" sz="24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修改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36907" y="2400610"/>
            <a:ext cx="764857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向列表中添加元素，需要使用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append()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向字典中添加元素，直接给新键赋值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新增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3902" y="2357430"/>
            <a:ext cx="759142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从列表或字典中删除元素，使用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del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删除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3902" y="2043113"/>
            <a:ext cx="9929882" cy="331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3820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从列表或字典中删除元素，使用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pop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，元组的删除不能用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pop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删除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425" y="1762760"/>
            <a:ext cx="3972560" cy="50463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3820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从列表删除元素，使用</a:t>
            </a:r>
            <a:r>
              <a:rPr lang="en-US" altLang="zh-CN" sz="2400">
                <a:latin typeface="宋体" panose="02010600030101010101" pitchFamily="2" charset="-122"/>
                <a:sym typeface="+mn-ea"/>
              </a:rPr>
              <a:t>remove: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序列</a:t>
            </a: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-</a:t>
            </a:r>
            <a:r>
              <a:rPr lang="zh-CN" altLang="en-US" sz="28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删除</a:t>
            </a:r>
            <a:endParaRPr lang="zh-CN" altLang="en-US" sz="28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485" y="1806575"/>
            <a:ext cx="5010785" cy="402780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字符串和列表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list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之间有很多联系，它们之间可以相互转换，在编写代码过程中会经常使用，比如将一句话中的单词分别提取出来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将字符串转换成列表，需要使用字符串进行分割，使用字符串方法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split()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split()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方法会把字符串按照其中的空白字符进行分割，最终返回一个列表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1571612"/>
            <a:ext cx="10339176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除了空格，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split()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方法也可以指定其他分割符号，所以应该说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split()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方法默认按照空白字符进行分割，如果需要指定其他字符，需给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split()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方法传递参数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63321" y="3406453"/>
            <a:ext cx="9167839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496549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同样的也可以将列表拼接成字符串，使用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join()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但是需要注意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join()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方法比较特殊，它也是一个字符串方法，而不是列表的方法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join()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方法拼接列表，需要先指定一个拼接符号，然后使用这个拼接符号调用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join()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方法，将列表作为参数传递给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join()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17600" y="3364883"/>
            <a:ext cx="80581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485"/>
            <a:ext cx="9474200" cy="4334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字符串也是一种序列，因此可以遍历字符串、使用索引操作符、切片操作符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注意：不能使用索引访问去改变字符串中的字符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95340" y="2618094"/>
            <a:ext cx="76485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" name="图片 4" descr="字符串方法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193468"/>
            <a:ext cx="9901270" cy="5000659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7515" y="1293495"/>
            <a:ext cx="10774680" cy="5068570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find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返回指定的子字符串在字符串中出现的位置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&gt;&gt;&gt;'123456789'.find('456')</a:t>
            </a:r>
            <a:endParaRPr 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endParaRPr 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如果有多个，返回第一个，还可以指明从什么位置开始查找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&gt;&gt;&gt;'ok,good,name'.find(',')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&gt;&gt;&gt;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'ok,good,name'.find(',',3)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7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用途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001 come in, the name is Jack, level 9;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00432 come in, the name is Mick, level 23;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4.6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字符串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7515" y="1293495"/>
            <a:ext cx="10774680" cy="5068570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index() 检测字符串中是否包含子字符串 str ，如果指定 beg（开始） 和 end（结束） 范围，则检查是否包含在指定范围内，该方法与 python find()方法一样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&gt;&gt;&gt; str1='python is on the way'</a:t>
            </a:r>
            <a:endParaRPr 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&gt;&gt;&gt; str2='on'</a:t>
            </a:r>
            <a:endParaRPr 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&gt;&gt;&gt; print(str1.index(str2))</a:t>
            </a:r>
            <a:endParaRPr 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4</a:t>
            </a:r>
            <a:endParaRPr 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str不在 string中会报一个异常。影响后面程序执行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&gt;&gt;&gt;print(str1.index(str2,1,3))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Traceback (most recent call last):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File "&lt;stdin&gt;", line 1, in &lt;module&gt;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ValueError: substring not found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3758e686-c2e0-4105-8790-2d70788ebc4b}"/>
</p:tagLst>
</file>

<file path=ppt/tags/tag2.xml><?xml version="1.0" encoding="utf-8"?>
<p:tagLst xmlns:p="http://schemas.openxmlformats.org/presentationml/2006/main">
  <p:tag name="KSO_WM_UNIT_TABLE_BEAUTIFY" val="smartTable{7caf2376-e531-432f-a166-b38a40429b5c}"/>
</p:tagLst>
</file>

<file path=ppt/tags/tag3.xml><?xml version="1.0" encoding="utf-8"?>
<p:tagLst xmlns:p="http://schemas.openxmlformats.org/presentationml/2006/main">
  <p:tag name="KSO_WM_DOC_GUID" val="{b88bdf0f-e58a-4d8c-ae0f-9150f1350729}"/>
</p:tagLst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5015</Words>
  <Application>WPS 演示</Application>
  <PresentationFormat>自定义</PresentationFormat>
  <Paragraphs>507</Paragraphs>
  <Slides>49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Arial</vt:lpstr>
      <vt:lpstr>宋体</vt:lpstr>
      <vt:lpstr>Wingdings</vt:lpstr>
      <vt:lpstr>Arial Unicode MS</vt:lpstr>
      <vt:lpstr>Times</vt:lpstr>
      <vt:lpstr>Times New Roman</vt:lpstr>
      <vt:lpstr>Calibri Light</vt:lpstr>
      <vt:lpstr>华文楷体</vt:lpstr>
      <vt:lpstr>微软雅黑</vt:lpstr>
      <vt:lpstr>Arial Unicode MS</vt:lpstr>
      <vt:lpstr>Wingdings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1355</cp:revision>
  <dcterms:created xsi:type="dcterms:W3CDTF">2014-03-18T11:00:00Z</dcterms:created>
  <dcterms:modified xsi:type="dcterms:W3CDTF">2020-08-14T10:10:28Z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