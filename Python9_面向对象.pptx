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1081" r:id="rId3"/>
    <p:sldId id="1082" r:id="rId5"/>
    <p:sldId id="1083" r:id="rId6"/>
    <p:sldId id="1121" r:id="rId7"/>
    <p:sldId id="1085" r:id="rId8"/>
    <p:sldId id="1122" r:id="rId9"/>
    <p:sldId id="1087" r:id="rId10"/>
    <p:sldId id="1104" r:id="rId11"/>
    <p:sldId id="1106" r:id="rId12"/>
    <p:sldId id="1089" r:id="rId13"/>
    <p:sldId id="1108" r:id="rId14"/>
    <p:sldId id="1109" r:id="rId15"/>
    <p:sldId id="1116" r:id="rId16"/>
    <p:sldId id="1110" r:id="rId17"/>
    <p:sldId id="1111" r:id="rId18"/>
    <p:sldId id="1123" r:id="rId19"/>
    <p:sldId id="1124" r:id="rId20"/>
    <p:sldId id="1125" r:id="rId21"/>
    <p:sldId id="1090" r:id="rId22"/>
    <p:sldId id="1091" r:id="rId23"/>
    <p:sldId id="1126" r:id="rId24"/>
    <p:sldId id="1141" r:id="rId25"/>
    <p:sldId id="1115" r:id="rId26"/>
    <p:sldId id="1142" r:id="rId27"/>
    <p:sldId id="1143" r:id="rId28"/>
    <p:sldId id="1145" r:id="rId29"/>
    <p:sldId id="1148" r:id="rId30"/>
    <p:sldId id="1149" r:id="rId31"/>
    <p:sldId id="1146" r:id="rId32"/>
    <p:sldId id="1150" r:id="rId3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66CCFF"/>
    <a:srgbClr val="FFFFFF"/>
    <a:srgbClr val="FFFF99"/>
    <a:srgbClr val="FF9933"/>
    <a:srgbClr val="FF66CC"/>
    <a:srgbClr val="FF33CC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32" autoAdjust="0"/>
    <p:restoredTop sz="78506" autoAdjust="0"/>
  </p:normalViewPr>
  <p:slideViewPr>
    <p:cSldViewPr snapToObjects="1" showGuides="1">
      <p:cViewPr varScale="1">
        <p:scale>
          <a:sx n="72" d="100"/>
          <a:sy n="72" d="100"/>
        </p:scale>
        <p:origin x="-672" y="-90"/>
      </p:cViewPr>
      <p:guideLst>
        <p:guide orient="horz" pos="2160"/>
        <p:guide pos="36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A593B-C7F3-4649-B760-8A9E538DD7F3}" type="datetimeFigureOut">
              <a:rPr lang="zh-CN" altLang="en-US" smtClean="0">
                <a:latin typeface="Times New Roman" panose="02020603050405020304" charset="0"/>
              </a:rPr>
            </a:fld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9E79-3371-400B-AF86-A63F5C94FB3B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>
              <a:latin typeface="Times New Roman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Times New Roman" panose="02020603050405020304" charset="0"/>
              </a:defRPr>
            </a:lvl1pPr>
          </a:lstStyle>
          <a:p>
            <a:fld id="{E9B07FDD-F1B3-4E5B-BC2D-FED26B65F69F}" type="datetime1">
              <a:rPr lang="zh-CN" altLang="en-US" smtClean="0"/>
            </a:fld>
            <a:endParaRPr lang="zh-CN" altLang="en-US" sz="1200" dirty="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单击此处编辑母版文本样式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第二级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第三级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第四级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第五级</a:t>
            </a:r>
            <a:endParaRPr lang="zh-CN" dirty="0">
              <a:latin typeface="Times New Roman" panose="02020603050405020304" charset="0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>
                <a:latin typeface="Times New Roman" panose="02020603050405020304" charset="0"/>
              </a:defRPr>
            </a:lvl1pPr>
          </a:lstStyle>
          <a:p>
            <a:fld id="{E9EF8A88-7B05-4B03-ACDA-4A6B434EDC9B}" type="slidenum">
              <a:rPr lang="zh-CN" altLang="en-US" smtClean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6" descr="Dscpe_01_Lg_cropp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17"/>
          <p:cNvSpPr>
            <a:spLocks noChangeArrowheads="1"/>
          </p:cNvSpPr>
          <p:nvPr/>
        </p:nvSpPr>
        <p:spPr bwMode="invGray">
          <a:xfrm>
            <a:off x="0" y="1430338"/>
            <a:ext cx="12192000" cy="369887"/>
          </a:xfrm>
          <a:prstGeom prst="rect">
            <a:avLst/>
          </a:prstGeom>
          <a:solidFill>
            <a:srgbClr val="0052A5">
              <a:alpha val="50195"/>
            </a:srgbClr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Rectangle 250"/>
          <p:cNvSpPr>
            <a:spLocks noChangeArrowheads="1"/>
          </p:cNvSpPr>
          <p:nvPr/>
        </p:nvSpPr>
        <p:spPr bwMode="auto">
          <a:xfrm>
            <a:off x="0" y="3141663"/>
            <a:ext cx="12192000" cy="368300"/>
          </a:xfrm>
          <a:prstGeom prst="rect">
            <a:avLst/>
          </a:prstGeom>
          <a:solidFill>
            <a:srgbClr val="E48F1B"/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8" name="图片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368" y="6300028"/>
            <a:ext cx="6192688" cy="36933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成都市武侯区新南路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44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号附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楼腾云商务大厦 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02885062021</a:t>
            </a:r>
            <a:endParaRPr lang="zh-CN" altLang="en-US" dirty="0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0698" name="Rectangle 122"/>
          <p:cNvSpPr>
            <a:spLocks noGrp="1" noChangeArrowheads="1"/>
          </p:cNvSpPr>
          <p:nvPr>
            <p:ph type="ctrTitle"/>
          </p:nvPr>
        </p:nvSpPr>
        <p:spPr bwMode="auto">
          <a:xfrm>
            <a:off x="508000" y="420690"/>
            <a:ext cx="11074400" cy="235267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zh-CN" noProof="0" smtClean="0"/>
          </a:p>
        </p:txBody>
      </p:sp>
      <p:sp>
        <p:nvSpPr>
          <p:cNvPr id="280799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852584" y="3836988"/>
            <a:ext cx="5831416" cy="150495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 typeface="Times" pitchFamily="18" charset="0"/>
              <a:buNone/>
              <a:defRPr sz="2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385762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185736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85728"/>
            <a:ext cx="10972800" cy="64293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1214422"/>
            <a:ext cx="6815666" cy="4911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4422"/>
            <a:ext cx="4011084" cy="49117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214421"/>
            <a:ext cx="7315200" cy="35131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4685" y="1357298"/>
            <a:ext cx="2770716" cy="44243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0418" y="1357298"/>
            <a:ext cx="8111067" cy="44243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417" y="285728"/>
            <a:ext cx="11074400" cy="6477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381000" y="1362075"/>
            <a:ext cx="11074400" cy="44196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 smtClean="0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slide_head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invGray">
          <a:xfrm>
            <a:off x="0" y="-1588"/>
            <a:ext cx="12193588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ChangeArrowheads="1"/>
          </p:cNvSpPr>
          <p:nvPr/>
        </p:nvSpPr>
        <p:spPr bwMode="gray">
          <a:xfrm>
            <a:off x="0" y="1139825"/>
            <a:ext cx="12192000" cy="5718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28" name="Rectangle 5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81000" y="1362075"/>
            <a:ext cx="11074400" cy="4419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1029" name="Rectangle 53"/>
          <p:cNvSpPr>
            <a:spLocks noGrp="1" noChangeArrowheads="1"/>
          </p:cNvSpPr>
          <p:nvPr>
            <p:ph type="title"/>
          </p:nvPr>
        </p:nvSpPr>
        <p:spPr bwMode="invGray">
          <a:xfrm>
            <a:off x="369888" y="285728"/>
            <a:ext cx="11074400" cy="64772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1031" name="图片 8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ut/>
  </p:transition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347980" indent="-347980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rgbClr val="00529B"/>
        </a:buClr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3500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92265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20967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4973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9545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4117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28689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3261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45171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9.1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简介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9.2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类、对象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9.3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属性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9.4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方法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9.5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面向对象三大特性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第九章 面向对象编程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335280" y="1125855"/>
            <a:ext cx="10496550" cy="52946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首先回顾一下面向过程编程：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面向过程编程是一种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以事件为中心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的编程思想，分析解决问题的步骤，然后使用函数或语句块把这些步骤一步一步实现，使用的时候一个一个一次调用就可以了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使用面向过程思想编写的代码，相对条理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更清晰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更易读</a:t>
            </a:r>
            <a:endParaRPr lang="zh-CN" altLang="en-US" sz="2400" dirty="0" smtClean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228600" indent="-228600" algn="just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但是随着程序的增加，系统的膨胀，过程变得越来越复杂，变的不容易维护，一旦过程需要调整，修改十分麻烦，甚至很多代码都要重写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400050" y="1221740"/>
            <a:ext cx="10954385" cy="4926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“面向对象编程”是一种将数据和功能结合起来，用称为对象的东西包裹组织程序的一种方法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面向对象编程是一种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以对象为中心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的编程思想，把问题分解成各个对象，建立对象的目的不是为了完成一个步骤，而是分析在解决问题的步骤中事物的行为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面向对象强调的是将问题对象化，因为问题的解决都是由对象参与，而且这种编程思想更贴近现实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使用面向对象思想编写的代码，将数据和功能都封装在对象中，即使后续需要调整，只需要修改特定的对象，代码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更易维护</a:t>
            </a:r>
            <a:endParaRPr lang="zh-CN" altLang="en-US" sz="2200" dirty="0" smtClean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683261" y="1406173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例子：五子棋</a:t>
            </a:r>
            <a:endParaRPr lang="zh-CN" altLang="en-US" sz="2400" dirty="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以面向过程的思想去考虑是这样的：1、开始游戏，2、黑子先走，3、绘制画面，4、判断输赢，5、轮到白子，6、绘制画面，7、判断输赢，8、返回步骤2，9、输出最后结果。把上面每个步骤用不同的方法来实现。</a:t>
            </a:r>
            <a:endParaRPr lang="zh-CN" altLang="en-US" sz="2400" dirty="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以面向对象的思想去考虑，则是1、黑白双方，这两方的行为是一模一样的，2、棋盘系统，负责绘制画面，3、规则系统，负责判定诸如犯规、输赢等。第一类对象（玩家对象）负责接受用户输入，并告知第二类对象（棋盘对象）棋子布局的变化，棋盘对象接收到了棋子的变化就要负责在屏幕上面显示出这种变化，同时利用第三类对象（规则系统）来对棋局进行判定。</a:t>
            </a:r>
            <a:endParaRPr lang="zh-CN" altLang="en-US" sz="2400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面向对象编程最主要的两个概念</a:t>
            </a:r>
            <a:r>
              <a:rPr lang="zh-CN" altLang="en-US" sz="2400" smtClean="0">
                <a:latin typeface="宋体" panose="02010600030101010101" pitchFamily="2" charset="-122"/>
              </a:rPr>
              <a:t>是：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smtClean="0">
                <a:latin typeface="宋体" panose="02010600030101010101" pitchFamily="2" charset="-122"/>
              </a:rPr>
              <a:t>	</a:t>
            </a:r>
            <a:r>
              <a:rPr lang="zh-CN" altLang="en-US" sz="2400" smtClean="0">
                <a:latin typeface="宋体" panose="02010600030101010101" pitchFamily="2" charset="-122"/>
              </a:rPr>
              <a:t>类</a:t>
            </a:r>
            <a:r>
              <a:rPr lang="zh-CN" altLang="en-US" sz="2400" dirty="0" smtClean="0">
                <a:latin typeface="宋体" panose="02010600030101010101" pitchFamily="2" charset="-122"/>
              </a:rPr>
              <a:t>（</a:t>
            </a:r>
            <a:r>
              <a:rPr lang="en-US" altLang="zh-CN" sz="2400" smtClean="0">
                <a:latin typeface="宋体" panose="02010600030101010101" pitchFamily="2" charset="-122"/>
              </a:rPr>
              <a:t>class</a:t>
            </a:r>
            <a:r>
              <a:rPr lang="zh-CN" altLang="en-US" sz="2400" smtClean="0">
                <a:latin typeface="宋体" panose="02010600030101010101" pitchFamily="2" charset="-122"/>
              </a:rPr>
              <a:t>）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smtClean="0">
                <a:latin typeface="宋体" panose="02010600030101010101" pitchFamily="2" charset="-122"/>
              </a:rPr>
              <a:t>	</a:t>
            </a:r>
            <a:r>
              <a:rPr lang="zh-CN" altLang="en-US" sz="2400" smtClean="0">
                <a:latin typeface="宋体" panose="02010600030101010101" pitchFamily="2" charset="-122"/>
              </a:rPr>
              <a:t>对象</a:t>
            </a:r>
            <a:r>
              <a:rPr lang="zh-CN" altLang="en-US" sz="2400" dirty="0" smtClean="0">
                <a:latin typeface="宋体" panose="02010600030101010101" pitchFamily="2" charset="-122"/>
              </a:rPr>
              <a:t>（</a:t>
            </a:r>
            <a:r>
              <a:rPr lang="en-US" altLang="zh-CN" sz="2400" smtClean="0">
                <a:latin typeface="宋体" panose="02010600030101010101" pitchFamily="2" charset="-122"/>
              </a:rPr>
              <a:t>object</a:t>
            </a:r>
            <a:r>
              <a:rPr lang="zh-CN" altLang="en-US" sz="2400" smtClean="0">
                <a:latin typeface="宋体" panose="02010600030101010101" pitchFamily="2" charset="-122"/>
              </a:rPr>
              <a:t>）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  <a:defRPr/>
            </a:pP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类是一种抽象的类型，对象是这种类型的实例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一个类可以有属于它的函数，被称为类的“方法”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一个类</a:t>
            </a:r>
            <a:r>
              <a:rPr lang="en-US" altLang="zh-CN" sz="2400" dirty="0" smtClean="0">
                <a:latin typeface="宋体" panose="02010600030101010101" pitchFamily="2" charset="-122"/>
              </a:rPr>
              <a:t>/</a:t>
            </a:r>
            <a:r>
              <a:rPr lang="zh-CN" altLang="en-US" sz="2400" dirty="0" smtClean="0">
                <a:latin typeface="宋体" panose="02010600030101010101" pitchFamily="2" charset="-122"/>
              </a:rPr>
              <a:t>对象可以有属于它的变量，被称为类</a:t>
            </a:r>
            <a:r>
              <a:rPr lang="en-US" altLang="zh-CN" sz="2400" dirty="0" smtClean="0">
                <a:latin typeface="宋体" panose="02010600030101010101" pitchFamily="2" charset="-122"/>
              </a:rPr>
              <a:t>/</a:t>
            </a:r>
            <a:r>
              <a:rPr lang="zh-CN" altLang="en-US" sz="2400" dirty="0" smtClean="0">
                <a:latin typeface="宋体" panose="02010600030101010101" pitchFamily="2" charset="-122"/>
              </a:rPr>
              <a:t>对象的“域”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域根据所属不同，又分别被称为“类变量”和“实例变量”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方法和域合称为类的属性</a:t>
            </a:r>
            <a:endParaRPr lang="en-US" altLang="zh-CN" sz="2400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smtClean="0">
                <a:latin typeface="宋体" panose="02010600030101010101" pitchFamily="2" charset="-122"/>
              </a:rPr>
              <a:t>例子：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smtClean="0">
                <a:latin typeface="宋体" panose="02010600030101010101" pitchFamily="2" charset="-122"/>
              </a:rPr>
              <a:t>	</a:t>
            </a:r>
            <a:r>
              <a:rPr lang="zh-CN" altLang="en-US" sz="2400" smtClean="0">
                <a:latin typeface="宋体" panose="02010600030101010101" pitchFamily="2" charset="-122"/>
              </a:rPr>
              <a:t>“笔”</a:t>
            </a:r>
            <a:r>
              <a:rPr lang="zh-CN" altLang="en-US" sz="2400" dirty="0" smtClean="0">
                <a:latin typeface="宋体" panose="02010600030101010101" pitchFamily="2" charset="-122"/>
              </a:rPr>
              <a:t>作为一个抽象的概念，可以被看成是一个</a:t>
            </a:r>
            <a:r>
              <a:rPr lang="zh-CN" altLang="en-US" sz="2400" smtClean="0">
                <a:latin typeface="宋体" panose="02010600030101010101" pitchFamily="2" charset="-122"/>
              </a:rPr>
              <a:t>类。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smtClean="0">
                <a:latin typeface="宋体" panose="02010600030101010101" pitchFamily="2" charset="-122"/>
              </a:rPr>
              <a:t>	</a:t>
            </a:r>
            <a:r>
              <a:rPr lang="zh-CN" altLang="en-US" sz="2400" smtClean="0">
                <a:latin typeface="宋体" panose="02010600030101010101" pitchFamily="2" charset="-122"/>
              </a:rPr>
              <a:t>一</a:t>
            </a:r>
            <a:r>
              <a:rPr lang="zh-CN" altLang="en-US" sz="2400" dirty="0" smtClean="0">
                <a:latin typeface="宋体" panose="02010600030101010101" pitchFamily="2" charset="-122"/>
              </a:rPr>
              <a:t>支实实在在的笔则是“笔”这种类型的</a:t>
            </a:r>
            <a:r>
              <a:rPr lang="zh-CN" altLang="en-US" sz="2400" smtClean="0">
                <a:latin typeface="宋体" panose="02010600030101010101" pitchFamily="2" charset="-122"/>
              </a:rPr>
              <a:t>对象。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smtClean="0">
                <a:latin typeface="宋体" panose="02010600030101010101" pitchFamily="2" charset="-122"/>
              </a:rPr>
              <a:t>	</a:t>
            </a:r>
            <a:r>
              <a:rPr lang="zh-CN" altLang="en-US" sz="2400" smtClean="0">
                <a:latin typeface="宋体" panose="02010600030101010101" pitchFamily="2" charset="-122"/>
              </a:rPr>
              <a:t>笔</a:t>
            </a:r>
            <a:r>
              <a:rPr lang="zh-CN" altLang="en-US" sz="2400" dirty="0" smtClean="0">
                <a:latin typeface="宋体" panose="02010600030101010101" pitchFamily="2" charset="-122"/>
              </a:rPr>
              <a:t>可以写字，因此“写字”就是笔这个类的一种</a:t>
            </a:r>
            <a:r>
              <a:rPr lang="zh-CN" altLang="en-US" sz="2400" smtClean="0">
                <a:latin typeface="宋体" panose="02010600030101010101" pitchFamily="2" charset="-122"/>
              </a:rPr>
              <a:t>方法。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smtClean="0">
                <a:latin typeface="宋体" panose="02010600030101010101" pitchFamily="2" charset="-122"/>
              </a:rPr>
              <a:t>	</a:t>
            </a:r>
            <a:r>
              <a:rPr lang="zh-CN" altLang="en-US" sz="2400" smtClean="0">
                <a:latin typeface="宋体" panose="02010600030101010101" pitchFamily="2" charset="-122"/>
              </a:rPr>
              <a:t>每</a:t>
            </a:r>
            <a:r>
              <a:rPr lang="zh-CN" altLang="en-US" sz="2400" dirty="0" smtClean="0">
                <a:latin typeface="宋体" panose="02010600030101010101" pitchFamily="2" charset="-122"/>
              </a:rPr>
              <a:t>支笔有自己的颜色，“颜色”就是笔的变量</a:t>
            </a:r>
            <a:r>
              <a:rPr lang="zh-CN" altLang="en-US" sz="2400" smtClean="0">
                <a:latin typeface="宋体" panose="02010600030101010101" pitchFamily="2" charset="-122"/>
              </a:rPr>
              <a:t>。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smtClean="0">
                <a:latin typeface="宋体" panose="02010600030101010101" pitchFamily="2" charset="-122"/>
              </a:rPr>
              <a:t>		</a:t>
            </a:r>
            <a:r>
              <a:rPr lang="zh-CN" altLang="en-US" sz="2400" smtClean="0">
                <a:latin typeface="宋体" panose="02010600030101010101" pitchFamily="2" charset="-122"/>
              </a:rPr>
              <a:t>某种</a:t>
            </a:r>
            <a:r>
              <a:rPr lang="zh-CN" altLang="en-US" sz="2400" dirty="0" smtClean="0">
                <a:latin typeface="宋体" panose="02010600030101010101" pitchFamily="2" charset="-122"/>
              </a:rPr>
              <a:t>类型的笔有“产量”，但是这个“产量”并不属于某一支笔，因此“产量”是类变量，而不是实例变量</a:t>
            </a:r>
            <a:endParaRPr lang="zh-CN" altLang="en-US" sz="2400" dirty="0" smtClean="0"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9.2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类、对象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303020"/>
            <a:ext cx="10820400" cy="518985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类的定义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关键字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class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、类名（通常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首字母大写</a:t>
            </a:r>
            <a:r>
              <a:rPr lang="zh-CN" altLang="en-US" sz="2400" dirty="0" smtClean="0">
                <a:sym typeface="+mn-ea"/>
              </a:rPr>
              <a:t>，用于区分类名和函数名、变量名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属性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(attribute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classname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是一个变量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240" y="1866900"/>
            <a:ext cx="3872865" cy="10566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20" y="3884295"/>
            <a:ext cx="3486785" cy="97345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39475" cy="50886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静态变量（类变量）与实例变量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类变量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：分为公有属性和私有属性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公有属性：类的所有实例都可以访问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私有属性：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只能在类中访问（可以用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self.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调用）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实例变量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：类的具体实例所拥有的属性，一般定义在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__init__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方法里。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9.3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变量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660679" y="354330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9.3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属性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319530"/>
            <a:ext cx="9594850" cy="35667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39475" cy="50886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方法：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类方法、静态方法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sym typeface="+mn-ea"/>
              </a:rPr>
              <a:t>、构造方法和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实例方法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、类方法：是类对象所拥有的方法，需要用修饰器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"@</a:t>
            </a:r>
            <a:r>
              <a:rPr lang="en-US" altLang="zh-CN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classmethod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"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来标识其为类方法，对于类方法，第一个参数必须是类对象，一般 以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"</a:t>
            </a:r>
            <a:r>
              <a:rPr lang="en-US" altLang="zh-CN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cls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"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作为第一个参数（当然可以用其他名称的变量作为其第一个参数，但是大部分人都习惯以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'</a:t>
            </a:r>
            <a:r>
              <a:rPr lang="en-US" altLang="zh-CN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cls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'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作为第一个参数的名字，就最好用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'</a:t>
            </a:r>
            <a:r>
              <a:rPr lang="en-US" altLang="zh-CN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cls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'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了），能够通过实例对象和类对象去访问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9.4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方法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9.4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方法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560" y="1428750"/>
            <a:ext cx="9250680" cy="400050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39475" cy="50886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类方法还有一个用途就是可以对类变量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进行修改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54330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9.4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方法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685" y="2077720"/>
            <a:ext cx="5588000" cy="389890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39475" cy="50886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构造方法：</a:t>
            </a: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__init__(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前后是双下划线</a:t>
            </a: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)</a:t>
            </a:r>
            <a:endParaRPr lang="en-US" altLang="zh-CN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构造方法与其他普通方法不同的地方在于，当一个对象被创建后，会立即调用构造方法。通常用来定义类的实例变量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：</a:t>
            </a:r>
            <a:endParaRPr lang="zh-CN" altLang="en-US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9.4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方法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3340100"/>
            <a:ext cx="5922010" cy="310896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39475" cy="50886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实例方法：在类中最常定义的成员方法，它至少有一个参数并且必须以实例对象作为其第一个参数，一般以名为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'self'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的变量作为第一个参数（当然可以以其他名称的变量作为第一个参数）。在类外实例方法只能通过实例对象去调用，不能通过其他方式去调用。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9.4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方法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9.4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方法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320165"/>
            <a:ext cx="9617075" cy="419544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768"/>
            <a:ext cx="10739475" cy="50886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静态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方法：</a:t>
            </a:r>
            <a:r>
              <a:rPr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是一种普通函数，就位于类定义的命名空间中，它不会对任何实例类型进行操作。使用装饰器@staticmethod定义静态方法。类对象和实例都可以调用静态方法：</a:t>
            </a:r>
            <a:endParaRPr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9.4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方法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614045" y="1126138"/>
            <a:ext cx="10739475" cy="50886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静态方法与类方法都可以通过类或者实例来调用。其两个的特点都是不能够调用实例属性</a:t>
            </a:r>
            <a:endParaRPr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9.4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方法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840" y="1784985"/>
            <a:ext cx="5860415" cy="497903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9.4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方法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7835" y="1272540"/>
            <a:ext cx="1028827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小练习 ：创建一个名为</a:t>
            </a:r>
            <a:r>
              <a:rPr lang="en-US" alt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User </a:t>
            </a:r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的类，其中包含属性</a:t>
            </a:r>
            <a:r>
              <a:rPr lang="en-US" altLang="zh-CN" sz="2400" b="0">
                <a:latin typeface="宋体" panose="02010600030101010101" pitchFamily="2" charset="-122"/>
                <a:cs typeface="Calibri" panose="020F0502020204030204" charset="0"/>
              </a:rPr>
              <a:t>first_name </a:t>
            </a:r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b="0">
                <a:latin typeface="宋体" panose="02010600030101010101" pitchFamily="2" charset="-122"/>
                <a:cs typeface="Calibri" panose="020F0502020204030204" charset="0"/>
              </a:rPr>
              <a:t>last_name </a:t>
            </a:r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。在类</a:t>
            </a:r>
            <a:r>
              <a:rPr lang="en-US" altLang="zh-CN" sz="2400" b="0">
                <a:latin typeface="宋体" panose="02010600030101010101" pitchFamily="2" charset="-122"/>
                <a:cs typeface="Calibri" panose="020F0502020204030204" charset="0"/>
              </a:rPr>
              <a:t>User </a:t>
            </a:r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中定义一个名 为</a:t>
            </a:r>
            <a:r>
              <a:rPr lang="en-US" altLang="zh-CN" sz="2400" b="0">
                <a:latin typeface="宋体" panose="02010600030101010101" pitchFamily="2" charset="-122"/>
                <a:cs typeface="Calibri" panose="020F0502020204030204" charset="0"/>
              </a:rPr>
              <a:t>describe_user() </a:t>
            </a:r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的方法，它打印用户的</a:t>
            </a:r>
            <a:r>
              <a:rPr lang="en-US" altLang="zh-CN" sz="2400" b="0">
                <a:latin typeface="宋体" panose="02010600030101010101" pitchFamily="2" charset="-122"/>
                <a:cs typeface="Calibri" panose="020F0502020204030204" charset="0"/>
              </a:rPr>
              <a:t>first_name</a:t>
            </a:r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b="0">
                <a:latin typeface="宋体" panose="02010600030101010101" pitchFamily="2" charset="-122"/>
                <a:cs typeface="Calibri" panose="020F0502020204030204" charset="0"/>
              </a:rPr>
              <a:t>last_name</a:t>
            </a:r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；再定义一个名为</a:t>
            </a:r>
            <a:r>
              <a:rPr lang="en-US" altLang="zh-CN" sz="2400" b="0">
                <a:latin typeface="宋体" panose="02010600030101010101" pitchFamily="2" charset="-122"/>
                <a:cs typeface="Calibri" panose="020F0502020204030204" charset="0"/>
              </a:rPr>
              <a:t>greet_user() </a:t>
            </a:r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的方法，它向用户发出个性化的问候（</a:t>
            </a:r>
            <a:r>
              <a:rPr lang="en-US" altLang="zh-CN" sz="2400" b="0">
                <a:latin typeface="宋体" panose="02010600030101010101" pitchFamily="2" charset="-122"/>
                <a:cs typeface="Calibri" panose="020F0502020204030204" charset="0"/>
              </a:rPr>
              <a:t>hello +first_name+last_name</a:t>
            </a:r>
            <a:r>
              <a:rPr lang="zh-CN" alt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）。创建多个表示不同用户的实例，并对每个实例都调用上述两个方法。</a:t>
            </a:r>
            <a:endParaRPr lang="zh-CN" altLang="en-US" sz="24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面向对象三大特性：封装、继承、多态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、“封装”就是将抽象得到的数据和行为（或功能）相结合，形成一个有机的整体（即类）；封装的目的是增强安全性和简化编程，使用者不必了解具体的实现细节，而只是要通过外部接口，一特定的访问权限来使用类的成员。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50886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第一步：将内容封装到某处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63750"/>
            <a:ext cx="9184005" cy="280606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50886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第二步：从某处调用被封装的内容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调用被封装的内容时，有两种情况：通过对象直接调用和通过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self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间接调用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505" y="3201670"/>
            <a:ext cx="10509885" cy="252095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597535" y="1307465"/>
            <a:ext cx="10223500" cy="473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dirty="0" smtClean="0">
                <a:latin typeface="宋体" panose="02010600030101010101" pitchFamily="2" charset="-122"/>
              </a:rPr>
              <a:t>面向对象的编程带来的主要好处之一是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代码的重用</a:t>
            </a:r>
            <a:r>
              <a:rPr lang="zh-CN" altLang="en-US" sz="2400" dirty="0" smtClean="0">
                <a:latin typeface="宋体" panose="02010600030101010101" pitchFamily="2" charset="-122"/>
              </a:rPr>
              <a:t>，实现这种重用的方法之一是通过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继承机制</a:t>
            </a:r>
            <a:r>
              <a:rPr lang="zh-CN" altLang="en-US" sz="2400" dirty="0" smtClean="0">
                <a:latin typeface="宋体" panose="02010600030101010101" pitchFamily="2" charset="-122"/>
              </a:rPr>
              <a:t>，继承可以理解为类型和子类型之间的关系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smtClean="0">
                <a:latin typeface="宋体" panose="02010600030101010101" pitchFamily="2" charset="-122"/>
              </a:rPr>
              <a:t>被</a:t>
            </a:r>
            <a:r>
              <a:rPr lang="zh-CN" altLang="en-US" sz="2400" dirty="0" smtClean="0">
                <a:latin typeface="宋体" panose="02010600030101010101" pitchFamily="2" charset="-122"/>
              </a:rPr>
              <a:t>继承的类称为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基本类</a:t>
            </a:r>
            <a:r>
              <a:rPr lang="zh-CN" altLang="en-US" sz="2400" dirty="0" smtClean="0">
                <a:latin typeface="宋体" panose="02010600030101010101" pitchFamily="2" charset="-122"/>
              </a:rPr>
              <a:t>或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超类</a:t>
            </a:r>
            <a:r>
              <a:rPr lang="zh-CN" altLang="en-US" sz="2400" dirty="0" smtClean="0">
                <a:latin typeface="宋体" panose="02010600030101010101" pitchFamily="2" charset="-122"/>
              </a:rPr>
              <a:t>，继承后的类被称为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导出类</a:t>
            </a:r>
            <a:r>
              <a:rPr lang="zh-CN" altLang="en-US" sz="2400" dirty="0" smtClean="0">
                <a:latin typeface="宋体" panose="02010600030101010101" pitchFamily="2" charset="-122"/>
              </a:rPr>
              <a:t>或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子类</a:t>
            </a:r>
            <a:endParaRPr lang="en-US" altLang="zh-CN" sz="2400" dirty="0" smtClean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smtClean="0">
                <a:latin typeface="宋体" panose="02010600030101010101" pitchFamily="2" charset="-122"/>
              </a:rPr>
              <a:t>子</a:t>
            </a:r>
            <a:r>
              <a:rPr lang="zh-CN" altLang="en-US" sz="2400" dirty="0" smtClean="0">
                <a:latin typeface="宋体" panose="02010600030101010101" pitchFamily="2" charset="-122"/>
              </a:rPr>
              <a:t>类能够继承超类的属性，即方法和域，通过这种继承机制，相同的属性就不需要重复编写，因此很好的实现了代码重用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smtClean="0">
                <a:latin typeface="宋体" panose="02010600030101010101" pitchFamily="2" charset="-122"/>
              </a:rPr>
              <a:t>例子：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en-US" altLang="zh-CN" sz="2400" smtClean="0">
                <a:latin typeface="宋体" panose="02010600030101010101" pitchFamily="2" charset="-122"/>
              </a:rPr>
              <a:t>			     </a:t>
            </a:r>
            <a:r>
              <a:rPr lang="zh-CN" altLang="en-US" sz="2400" smtClean="0">
                <a:latin typeface="宋体" panose="02010600030101010101" pitchFamily="2" charset="-122"/>
              </a:rPr>
              <a:t>“动物”</a:t>
            </a:r>
            <a:r>
              <a:rPr lang="zh-CN" altLang="en-US" sz="2400" dirty="0" smtClean="0">
                <a:latin typeface="宋体" panose="02010600030101010101" pitchFamily="2" charset="-122"/>
              </a:rPr>
              <a:t>是“哺乳动物”的超</a:t>
            </a:r>
            <a:r>
              <a:rPr lang="zh-CN" altLang="en-US" sz="2400" smtClean="0">
                <a:latin typeface="宋体" panose="02010600030101010101" pitchFamily="2" charset="-122"/>
              </a:rPr>
              <a:t>类， “哺乳动物”</a:t>
            </a:r>
            <a:r>
              <a:rPr lang="zh-CN" altLang="en-US" sz="2400" dirty="0" smtClean="0">
                <a:latin typeface="宋体" panose="02010600030101010101" pitchFamily="2" charset="-122"/>
              </a:rPr>
              <a:t>是“动物”的</a:t>
            </a:r>
            <a:r>
              <a:rPr lang="zh-CN" altLang="en-US" sz="2400" smtClean="0">
                <a:latin typeface="宋体" panose="02010600030101010101" pitchFamily="2" charset="-122"/>
              </a:rPr>
              <a:t>子类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en-US" altLang="zh-CN" sz="2400" smtClean="0">
                <a:latin typeface="宋体" panose="02010600030101010101" pitchFamily="2" charset="-122"/>
              </a:rPr>
              <a:t>	     </a:t>
            </a:r>
            <a:r>
              <a:rPr lang="zh-CN" altLang="en-US" sz="2400" smtClean="0">
                <a:latin typeface="宋体" panose="02010600030101010101" pitchFamily="2" charset="-122"/>
              </a:rPr>
              <a:t>“动物”</a:t>
            </a:r>
            <a:r>
              <a:rPr lang="zh-CN" altLang="en-US" sz="2400" dirty="0" smtClean="0">
                <a:latin typeface="宋体" panose="02010600030101010101" pitchFamily="2" charset="-122"/>
              </a:rPr>
              <a:t>具备吃饭、睡觉、运动等属性，同样的“哺乳动物”继承</a:t>
            </a:r>
            <a:r>
              <a:rPr lang="zh-CN" altLang="en-US" sz="2400" smtClean="0">
                <a:latin typeface="宋体" panose="02010600030101010101" pitchFamily="2" charset="-122"/>
              </a:rPr>
              <a:t>于“动物”，也</a:t>
            </a:r>
            <a:r>
              <a:rPr lang="zh-CN" altLang="en-US" sz="2400" dirty="0" smtClean="0">
                <a:latin typeface="宋体" panose="02010600030101010101" pitchFamily="2" charset="-122"/>
              </a:rPr>
              <a:t>具备</a:t>
            </a:r>
            <a:r>
              <a:rPr lang="zh-CN" altLang="en-US" sz="2400" smtClean="0">
                <a:latin typeface="宋体" panose="02010600030101010101" pitchFamily="2" charset="-122"/>
              </a:rPr>
              <a:t>这些属性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7871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继承：让一个类去继承一个类，被继承的类称为父类或者超类、也可以称作基类，继承的类称为子类。并且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支持多继承，能够让一个子类有多个父类。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74754" name="Picture 2" descr="http://images0.cnblogs.com/blog2015/425762/201508/272229566093488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23902" y="2928934"/>
            <a:ext cx="6786610" cy="3426251"/>
          </a:xfrm>
          <a:prstGeom prst="rect">
            <a:avLst/>
          </a:prstGeom>
          <a:noFill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7871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小练习：定义一个父类，老虎类，名字叫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'tiger'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，体重默认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200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斤，定义一个方法，输出老虎的体重。再定义两个子类，东北虎和华南虎，执行从父类继承的方法。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7871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latin typeface="宋体" panose="02010600030101010101" pitchFamily="2" charset="-122"/>
                <a:sym typeface="+mn-ea"/>
              </a:rPr>
              <a:t>子类在继承过程中，可以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新增</a:t>
            </a:r>
            <a:r>
              <a:rPr lang="zh-CN" altLang="en-US" sz="2400" dirty="0" smtClean="0">
                <a:latin typeface="宋体" panose="02010600030101010101" pitchFamily="2" charset="-122"/>
                <a:sym typeface="+mn-ea"/>
              </a:rPr>
              <a:t>独有的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属性</a:t>
            </a:r>
            <a:endParaRPr lang="zh-CN" altLang="en-US" sz="2400" dirty="0" smtClean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比如：东北虎和华南虎新增独有的颜色和跳跃高度，东北虎是黄白色，跳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米高，华南虎是黄黑色，跳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米高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3156585"/>
            <a:ext cx="6539865" cy="338264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7871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latin typeface="宋体" panose="02010600030101010101" pitchFamily="2" charset="-122"/>
                <a:sym typeface="+mn-ea"/>
              </a:rPr>
              <a:t>子类在继承过程中，可以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新增</a:t>
            </a:r>
            <a:r>
              <a:rPr lang="zh-CN" altLang="en-US" sz="2400" dirty="0" smtClean="0">
                <a:latin typeface="宋体" panose="02010600030101010101" pitchFamily="2" charset="-122"/>
                <a:sym typeface="+mn-ea"/>
              </a:rPr>
              <a:t>独有的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属性</a:t>
            </a:r>
            <a:endParaRPr lang="zh-CN" altLang="en-US" sz="2400" dirty="0" smtClean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792605"/>
            <a:ext cx="7818120" cy="433006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7871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latin typeface="宋体" panose="02010600030101010101" pitchFamily="2" charset="-122"/>
                <a:sym typeface="+mn-ea"/>
              </a:rPr>
              <a:t>子类</a:t>
            </a:r>
            <a:r>
              <a:rPr lang="zh-CN" altLang="en-US" sz="2400" dirty="0" smtClean="0">
                <a:latin typeface="+mn-lt"/>
                <a:ea typeface="+mn-ea"/>
                <a:sym typeface="+mn-ea"/>
              </a:rPr>
              <a:t>也可以同时</a:t>
            </a:r>
            <a:r>
              <a:rPr lang="zh-CN" altLang="en-US" sz="2400" dirty="0" smtClean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继承</a:t>
            </a:r>
            <a:r>
              <a:rPr lang="zh-CN" altLang="en-US" sz="2400" dirty="0" smtClean="0">
                <a:latin typeface="+mn-lt"/>
                <a:ea typeface="+mn-ea"/>
                <a:sym typeface="+mn-ea"/>
              </a:rPr>
              <a:t>于</a:t>
            </a:r>
            <a:r>
              <a:rPr lang="zh-CN" altLang="en-US" sz="2400" dirty="0" smtClean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多个父类</a:t>
            </a:r>
            <a:endParaRPr lang="zh-CN" altLang="en-US" sz="2400" dirty="0" smtClean="0">
              <a:solidFill>
                <a:srgbClr val="FF0000"/>
              </a:solidFill>
              <a:latin typeface="+mn-lt"/>
              <a:ea typeface="+mn-ea"/>
              <a:sym typeface="+mn-ea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7625" y="1736090"/>
            <a:ext cx="3834130" cy="499935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7871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dirty="0" smtClean="0">
                <a:latin typeface="+mn-lt"/>
                <a:ea typeface="+mn-ea"/>
                <a:sym typeface="+mn-ea"/>
              </a:rPr>
              <a:t>通过子类继承超类，能够提高代码的</a:t>
            </a:r>
            <a:r>
              <a:rPr lang="zh-CN" altLang="en-US" sz="2400" dirty="0" smtClean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重用性</a:t>
            </a:r>
            <a:endParaRPr lang="en-US" altLang="zh-CN" sz="2400" dirty="0" smtClean="0">
              <a:solidFill>
                <a:srgbClr val="FF0000"/>
              </a:solidFill>
              <a:latin typeface="+mn-lt"/>
              <a:ea typeface="+mn-ea"/>
            </a:endParaRPr>
          </a:p>
          <a:p>
            <a:pPr marL="347980" indent="-347980" defTabSz="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defRPr/>
            </a:pPr>
            <a:r>
              <a:rPr lang="zh-CN" altLang="en-US" sz="2400" dirty="0" smtClean="0">
                <a:latin typeface="+mn-lt"/>
                <a:ea typeface="+mn-ea"/>
                <a:sym typeface="+mn-ea"/>
              </a:rPr>
              <a:t>同时还具备另外一个优点：如果超类发生变更，它能</a:t>
            </a:r>
            <a:r>
              <a:rPr lang="zh-CN" altLang="en-US" sz="2400" dirty="0" smtClean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自动的反映</a:t>
            </a:r>
            <a:r>
              <a:rPr lang="zh-CN" altLang="en-US" sz="2400" dirty="0" smtClean="0">
                <a:latin typeface="+mn-lt"/>
                <a:ea typeface="+mn-ea"/>
                <a:sym typeface="+mn-ea"/>
              </a:rPr>
              <a:t>到子类中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2059940"/>
            <a:ext cx="3797300" cy="479361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59715" y="1125855"/>
            <a:ext cx="11463655" cy="3818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ym typeface="+mn-ea"/>
              </a:rPr>
              <a:t>当子类和父类都存在相同的run()方法时，我们说，子类的run()覆盖了父类的run()，在代码运行的时候，总是会调用子类的run()。这样，我们就获得了继承的另一个好处：多态。</a:t>
            </a:r>
            <a:endParaRPr lang="zh-CN" altLang="en-US" sz="2200" dirty="0" smtClean="0">
              <a:sym typeface="+mn-ea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2150745"/>
            <a:ext cx="4657090" cy="471170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21310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9.5 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面向对象三大特性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04825" y="1363980"/>
            <a:ext cx="10728960" cy="5128895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个房间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，每个里面可能是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斤老虎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斤羊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游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戏开始后，系统随机给出房间号，游戏者喂里面的动物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喂老虎应该输入单词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meat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，喂羊输入单词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grass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喂对了，体重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增加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斤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。喂错了，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体重减少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斤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敲房间的门，里面的动物会叫，老虎的声音是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Wow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，羊的声音是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Mie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，动物每叫一次体重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斤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游戏者强记每个房间的动物是什么，以便不需要敲门就可以喂正确的食物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游戏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分钟结束后，看看你喂的动物总体重是多少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rtner PPT- one template-v8_rm">
  <a:themeElements>
    <a:clrScheme name="">
      <a:dk1>
        <a:srgbClr val="000000"/>
      </a:dk1>
      <a:lt1>
        <a:srgbClr val="FFFFFF"/>
      </a:lt1>
      <a:dk2>
        <a:srgbClr val="F8F8F8"/>
      </a:dk2>
      <a:lt2>
        <a:srgbClr val="808080"/>
      </a:lt2>
      <a:accent1>
        <a:srgbClr val="3366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00"/>
      </a:accent6>
      <a:hlink>
        <a:srgbClr val="FF9900"/>
      </a:hlink>
      <a:folHlink>
        <a:srgbClr val="6699FF"/>
      </a:folHlink>
    </a:clrScheme>
    <a:fontScheme name="Gartner PPT- one template-v8_rm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Gartner PPT- one template-v8_r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tner PPT- one template-v8_r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汇智动力</Template>
  <TotalTime>0</TotalTime>
  <Words>3136</Words>
  <Application>WPS 演示</Application>
  <PresentationFormat>自定义</PresentationFormat>
  <Paragraphs>180</Paragraphs>
  <Slides>30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宋体</vt:lpstr>
      <vt:lpstr>Wingdings</vt:lpstr>
      <vt:lpstr>Arial Unicode MS</vt:lpstr>
      <vt:lpstr>Times</vt:lpstr>
      <vt:lpstr>Times New Roman</vt:lpstr>
      <vt:lpstr>华文楷体</vt:lpstr>
      <vt:lpstr>Calibri Light</vt:lpstr>
      <vt:lpstr>Wingdings</vt:lpstr>
      <vt:lpstr>微软雅黑</vt:lpstr>
      <vt:lpstr>Arial Unicode MS</vt:lpstr>
      <vt:lpstr>Calibri</vt:lpstr>
      <vt:lpstr>Gartner PPT- one template-v8_rm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勇敢的心</cp:lastModifiedBy>
  <cp:revision>1281</cp:revision>
  <dcterms:created xsi:type="dcterms:W3CDTF">2014-03-18T11:00:00Z</dcterms:created>
  <dcterms:modified xsi:type="dcterms:W3CDTF">2020-08-26T07:16:06Z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