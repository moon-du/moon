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1085" r:id="rId3"/>
    <p:sldId id="1086" r:id="rId5"/>
    <p:sldId id="1096" r:id="rId6"/>
    <p:sldId id="1106" r:id="rId7"/>
    <p:sldId id="1100" r:id="rId8"/>
    <p:sldId id="1101" r:id="rId9"/>
    <p:sldId id="1102" r:id="rId10"/>
    <p:sldId id="1103" r:id="rId11"/>
  </p:sldIdLst>
  <p:sldSz cx="12192000" cy="6858000"/>
  <p:notesSz cx="6858000" cy="9144000"/>
  <p:custDataLst>
    <p:tags r:id="rId1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66CCFF"/>
    <a:srgbClr val="FFFFFF"/>
    <a:srgbClr val="FFFF99"/>
    <a:srgbClr val="FF9933"/>
    <a:srgbClr val="FF66CC"/>
    <a:srgbClr val="FF33CC"/>
    <a:srgbClr val="FF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2" autoAdjust="0"/>
    <p:restoredTop sz="77551" autoAdjust="0"/>
  </p:normalViewPr>
  <p:slideViewPr>
    <p:cSldViewPr snapToObjects="1" showGuides="1">
      <p:cViewPr varScale="1">
        <p:scale>
          <a:sx n="63" d="100"/>
          <a:sy n="63" d="100"/>
        </p:scale>
        <p:origin x="816" y="48"/>
      </p:cViewPr>
      <p:guideLst>
        <p:guide orient="horz" pos="2115"/>
        <p:guide pos="37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A593B-C7F3-4649-B760-8A9E538DD7F3}" type="datetimeFigureOut">
              <a:rPr lang="zh-CN" altLang="en-US" smtClean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A9E79-3371-400B-AF86-A63F5C94FB3B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>
                <a:latin typeface="Times New Roman" panose="02020603050405020304" pitchFamily="18" charset="0"/>
              </a:defRPr>
            </a:lvl1pPr>
          </a:lstStyle>
          <a:p>
            <a:fld id="{E9B07FDD-F1B3-4E5B-BC2D-FED26B65F69F}" type="datetime1">
              <a:rPr lang="zh-CN" altLang="en-US" smtClean="0"/>
            </a:fld>
            <a:endParaRPr lang="zh-CN" altLang="en-US" sz="1200" dirty="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单击此处编辑母版文本样式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第二级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第三级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第四级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第五级</a:t>
            </a:r>
            <a:endParaRPr lang="zh-CN" dirty="0">
              <a:latin typeface="Times New Roman" panose="02020603050405020304" pitchFamily="18" charset="0"/>
            </a:endParaRP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>
                <a:latin typeface="Times New Roman" panose="02020603050405020304" pitchFamily="18" charset="0"/>
              </a:defRPr>
            </a:lvl1pPr>
          </a:lstStyle>
          <a:p>
            <a:fld id="{E9EF8A88-7B05-4B03-ACDA-4A6B434EDC9B}" type="slidenum">
              <a:rPr lang="zh-CN" altLang="en-US" smtClean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参考</a:t>
            </a:r>
            <a:r>
              <a:rPr lang="en-US" altLang="zh-CN" dirty="0">
                <a:latin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</a:rPr>
              <a:t>案例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6" descr="Dscpe_01_Lg_cropp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17"/>
          <p:cNvSpPr>
            <a:spLocks noChangeArrowheads="1"/>
          </p:cNvSpPr>
          <p:nvPr/>
        </p:nvSpPr>
        <p:spPr bwMode="invGray">
          <a:xfrm>
            <a:off x="0" y="1430338"/>
            <a:ext cx="12192000" cy="369887"/>
          </a:xfrm>
          <a:prstGeom prst="rect">
            <a:avLst/>
          </a:prstGeom>
          <a:solidFill>
            <a:srgbClr val="0052A5">
              <a:alpha val="50195"/>
            </a:srgbClr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" name="Rectangle 250"/>
          <p:cNvSpPr>
            <a:spLocks noChangeArrowheads="1"/>
          </p:cNvSpPr>
          <p:nvPr/>
        </p:nvSpPr>
        <p:spPr bwMode="auto">
          <a:xfrm>
            <a:off x="0" y="3141663"/>
            <a:ext cx="12192000" cy="368300"/>
          </a:xfrm>
          <a:prstGeom prst="rect">
            <a:avLst/>
          </a:prstGeom>
          <a:solidFill>
            <a:srgbClr val="E48F1B"/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8" name="图片 1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07368" y="6300028"/>
            <a:ext cx="6192688" cy="369332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成都市武侯区新南路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44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号附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1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楼腾云商务大厦 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</a:rPr>
              <a:t>02885062021</a:t>
            </a:r>
            <a:endParaRPr lang="zh-CN" altLang="en-US" dirty="0">
              <a:ln w="1016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0698" name="Rectangle 122"/>
          <p:cNvSpPr>
            <a:spLocks noGrp="1" noChangeArrowheads="1"/>
          </p:cNvSpPr>
          <p:nvPr>
            <p:ph type="ctrTitle"/>
          </p:nvPr>
        </p:nvSpPr>
        <p:spPr bwMode="auto">
          <a:xfrm>
            <a:off x="508000" y="420690"/>
            <a:ext cx="11074400" cy="235267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zh-CN" noProof="0"/>
          </a:p>
        </p:txBody>
      </p:sp>
      <p:sp>
        <p:nvSpPr>
          <p:cNvPr id="280799" name="Rectangle 223"/>
          <p:cNvSpPr>
            <a:spLocks noGrp="1" noChangeArrowheads="1"/>
          </p:cNvSpPr>
          <p:nvPr>
            <p:ph type="subTitle" idx="1"/>
          </p:nvPr>
        </p:nvSpPr>
        <p:spPr>
          <a:xfrm>
            <a:off x="5852584" y="3836988"/>
            <a:ext cx="5831416" cy="150495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 algn="r">
              <a:buFont typeface="Times" pitchFamily="18" charset="0"/>
              <a:buNone/>
              <a:defRPr sz="26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3857628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1857364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198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85728"/>
            <a:ext cx="10972800" cy="64293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1214422"/>
            <a:ext cx="6815666" cy="4911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214422"/>
            <a:ext cx="4011084" cy="491174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cut/>
  </p:transition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214421"/>
            <a:ext cx="7315200" cy="35131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4685" y="1357298"/>
            <a:ext cx="2770716" cy="442437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70418" y="1357298"/>
            <a:ext cx="8111067" cy="442437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0417" y="285728"/>
            <a:ext cx="11074400" cy="6477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381000" y="1362075"/>
            <a:ext cx="11074400" cy="4419600"/>
          </a:xfrm>
        </p:spPr>
        <p:txBody>
          <a:bodyPr/>
          <a:lstStyle/>
          <a:p>
            <a:pPr lvl="0"/>
            <a:r>
              <a:rPr lang="zh-CN" altLang="en-US" noProof="0"/>
              <a:t>单击图标添加图表</a:t>
            </a:r>
            <a:endParaRPr lang="zh-CN" altLang="en-US" noProof="0"/>
          </a:p>
        </p:txBody>
      </p:sp>
    </p:spTree>
  </p:cSld>
  <p:clrMapOvr>
    <a:masterClrMapping/>
  </p:clrMapOvr>
  <p:transition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7" descr="slide_header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invGray">
          <a:xfrm>
            <a:off x="0" y="-1588"/>
            <a:ext cx="12193588" cy="114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ChangeArrowheads="1"/>
          </p:cNvSpPr>
          <p:nvPr/>
        </p:nvSpPr>
        <p:spPr bwMode="gray">
          <a:xfrm>
            <a:off x="0" y="1139825"/>
            <a:ext cx="12192000" cy="5718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028" name="Rectangle 52"/>
          <p:cNvSpPr>
            <a:spLocks noGrp="1" noChangeArrowheads="1"/>
          </p:cNvSpPr>
          <p:nvPr>
            <p:ph type="body" idx="1"/>
          </p:nvPr>
        </p:nvSpPr>
        <p:spPr bwMode="gray">
          <a:xfrm>
            <a:off x="381000" y="1362075"/>
            <a:ext cx="11074400" cy="4419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29" name="Rectangle 53"/>
          <p:cNvSpPr>
            <a:spLocks noGrp="1" noChangeArrowheads="1"/>
          </p:cNvSpPr>
          <p:nvPr>
            <p:ph type="title"/>
          </p:nvPr>
        </p:nvSpPr>
        <p:spPr bwMode="invGray">
          <a:xfrm>
            <a:off x="369888" y="285728"/>
            <a:ext cx="11074400" cy="64772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1031" name="图片 8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cut/>
  </p:transition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anose="020B0604020202020204" pitchFamily="34" charset="-128"/>
          <a:cs typeface="Arial Unicode MS" panose="020B0604020202020204" pitchFamily="34" charset="-128"/>
        </a:defRPr>
      </a:lvl9pPr>
    </p:titleStyle>
    <p:bodyStyle>
      <a:lvl1pPr marL="347980" indent="-347980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rgbClr val="00529B"/>
        </a:buClr>
        <a:buFont typeface="Times" pitchFamily="18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3500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92265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20967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4973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19545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4117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28689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3261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11.1 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简介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11.2 </a:t>
            </a:r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urllib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第十一章 网络编程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是一个很强大的网络编程工具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一、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内有很多针对常见网络协议的库，对网络协议的各个层次进行了抽象封装，因此使用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编写程序不必关心网络实现的细节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二、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非常善于处理字节流的各种模式，使用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可以很容易地写出处理各种协议格式的代码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11.1 </a:t>
            </a:r>
            <a:r>
              <a:rPr lang="zh-CN" altLang="en-US" sz="4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互联网基本原理是基于“请求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响应”模式，获取互联网上的资源需要发出请求，即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URL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中实现的</a:t>
            </a:r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urllib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，功能很强大，通过它们访问网络上的文件，就像访问本地电脑的文件一样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11.2 urllib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11.2 urllib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392" y="1447698"/>
            <a:ext cx="10681144" cy="2269334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练习：根据该接口查询指定城市天气信息</a:t>
            </a:r>
            <a:endParaRPr lang="en-US" altLang="zh-CN" sz="220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en-US" sz="220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https://www.sojson.com/api/weather.html</a:t>
            </a:r>
            <a:endParaRPr lang="en-US" altLang="en-US" sz="220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11.2 urllib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57250" y="2857496"/>
            <a:ext cx="9546791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53743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获取到的信息结构类似一个有两层的字典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最外层只有一个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键“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data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，它的值是另外一个字典，里面包含了很多天气信息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这种数据结构被称为“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json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格式”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11.2 urllib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Json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是一种轻量级的数据交换格式，是一种完全独立于语言的文本格式，但是也使用了类似于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语言家族的习惯（包括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C++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C#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Java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等），这些特性使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json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成为了理想的数据交换语言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标准库中也包含了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json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模块，模块中的一些方法能帮助更好的处理这种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json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格式的数据，例如通过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loads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方法就能将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json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数据转换成真正的字典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11.2   json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Calibri Light" panose="020F0302020204030204" pitchFamily="34" charset="0"/>
              </a:rPr>
              <a:t>11.2   json</a:t>
            </a:r>
            <a:endParaRPr lang="zh-CN" altLang="en-US" sz="4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66712" y="1357298"/>
            <a:ext cx="9246756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ut/>
  </p:transition>
</p:sld>
</file>

<file path=ppt/tags/tag1.xml><?xml version="1.0" encoding="utf-8"?>
<p:tagLst xmlns:p="http://schemas.openxmlformats.org/presentationml/2006/main">
  <p:tag name="KSO_WM_DOC_GUID" val="{f4cd632c-9796-4e87-a1ae-62e94306b9d3}"/>
</p:tagLst>
</file>

<file path=ppt/theme/theme1.xml><?xml version="1.0" encoding="utf-8"?>
<a:theme xmlns:a="http://schemas.openxmlformats.org/drawingml/2006/main" name="Gartner PPT- one template-v8_rm">
  <a:themeElements>
    <a:clrScheme name="">
      <a:dk1>
        <a:srgbClr val="000000"/>
      </a:dk1>
      <a:lt1>
        <a:srgbClr val="FFFFFF"/>
      </a:lt1>
      <a:dk2>
        <a:srgbClr val="F8F8F8"/>
      </a:dk2>
      <a:lt2>
        <a:srgbClr val="808080"/>
      </a:lt2>
      <a:accent1>
        <a:srgbClr val="3366CC"/>
      </a:accent1>
      <a:accent2>
        <a:srgbClr val="FF0000"/>
      </a:accent2>
      <a:accent3>
        <a:srgbClr val="FFFFFF"/>
      </a:accent3>
      <a:accent4>
        <a:srgbClr val="000000"/>
      </a:accent4>
      <a:accent5>
        <a:srgbClr val="ADB8E2"/>
      </a:accent5>
      <a:accent6>
        <a:srgbClr val="E70000"/>
      </a:accent6>
      <a:hlink>
        <a:srgbClr val="FF9900"/>
      </a:hlink>
      <a:folHlink>
        <a:srgbClr val="6699FF"/>
      </a:folHlink>
    </a:clrScheme>
    <a:fontScheme name="Gartner PPT- one template-v8_rm">
      <a:majorFont>
        <a:latin typeface="Arial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Gartner PPT- one template-v8_r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rtner PPT- one template-v8_r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8">
        <a:dk1>
          <a:srgbClr val="000000"/>
        </a:dk1>
        <a:lt1>
          <a:srgbClr val="FFFFFF"/>
        </a:lt1>
        <a:dk2>
          <a:srgbClr val="F8F8F8"/>
        </a:dk2>
        <a:lt2>
          <a:srgbClr val="808080"/>
        </a:lt2>
        <a:accent1>
          <a:srgbClr val="CCFF66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E2FFB8"/>
        </a:accent5>
        <a:accent6>
          <a:srgbClr val="E7B900"/>
        </a:accent6>
        <a:hlink>
          <a:srgbClr val="0066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汇智动力</Template>
  <TotalTime>0</TotalTime>
  <Words>628</Words>
  <Application>WPS 演示</Application>
  <PresentationFormat>宽屏</PresentationFormat>
  <Paragraphs>42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Arial Unicode MS</vt:lpstr>
      <vt:lpstr>Times</vt:lpstr>
      <vt:lpstr>Times New Roman</vt:lpstr>
      <vt:lpstr>华文楷体</vt:lpstr>
      <vt:lpstr>Calibri Light</vt:lpstr>
      <vt:lpstr>微软雅黑</vt:lpstr>
      <vt:lpstr>Arial Unicode MS</vt:lpstr>
      <vt:lpstr>Gartner PPT- one template-v8_rm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11.2   json</vt:lpstr>
    </vt:vector>
  </TitlesOfParts>
  <Company>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USER-</dc:creator>
  <cp:lastModifiedBy>勇敢的心</cp:lastModifiedBy>
  <cp:revision>1271</cp:revision>
  <dcterms:created xsi:type="dcterms:W3CDTF">2014-03-18T11:00:00Z</dcterms:created>
  <dcterms:modified xsi:type="dcterms:W3CDTF">2019-11-01T08:07:32Z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2052-11.1.0.8527</vt:lpwstr>
  </property>
</Properties>
</file>