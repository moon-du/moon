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3"/>
  </p:handoutMasterIdLst>
  <p:sldIdLst>
    <p:sldId id="1086" r:id="rId3"/>
    <p:sldId id="1087" r:id="rId5"/>
    <p:sldId id="1095" r:id="rId6"/>
    <p:sldId id="1088" r:id="rId7"/>
    <p:sldId id="1093" r:id="rId8"/>
    <p:sldId id="1089" r:id="rId9"/>
    <p:sldId id="1099" r:id="rId10"/>
    <p:sldId id="1100" r:id="rId11"/>
    <p:sldId id="1101" r:id="rId12"/>
  </p:sldIdLst>
  <p:sldSz cx="12192000" cy="6858000"/>
  <p:notesSz cx="6858000" cy="9144000"/>
  <p:defaultTex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600"/>
    <a:srgbClr val="66CCFF"/>
    <a:srgbClr val="FFFFFF"/>
    <a:srgbClr val="FFFF99"/>
    <a:srgbClr val="FF9933"/>
    <a:srgbClr val="FF66CC"/>
    <a:srgbClr val="FF33CC"/>
    <a:srgbClr val="FF99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632" autoAdjust="0"/>
    <p:restoredTop sz="93506" autoAdjust="0"/>
  </p:normalViewPr>
  <p:slideViewPr>
    <p:cSldViewPr snapToObjects="1" showGuides="1">
      <p:cViewPr varScale="1">
        <p:scale>
          <a:sx n="70" d="100"/>
          <a:sy n="70" d="100"/>
        </p:scale>
        <p:origin x="-756" y="-66"/>
      </p:cViewPr>
      <p:guideLst>
        <p:guide orient="horz" pos="2115"/>
        <p:guide pos="37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Times New Roman" panose="02020603050405020304" pitchFamily="18"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BA593B-C7F3-4649-B760-8A9E538DD7F3}" type="datetimeFigureOut">
              <a:rPr lang="zh-CN" altLang="en-US" smtClean="0">
                <a:latin typeface="Times New Roman" panose="02020603050405020304" pitchFamily="18" charset="0"/>
              </a:rPr>
            </a:fld>
            <a:endParaRPr lang="zh-CN" altLang="en-US" dirty="0">
              <a:latin typeface="Times New Roman" panose="02020603050405020304" pitchFamily="18"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Times New Roman" panose="02020603050405020304" pitchFamily="18"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BFA9E79-3371-400B-AF86-A63F5C94FB3B}"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a:latin typeface="Times New Roman" panose="02020603050405020304" pitchFamily="18" charset="0"/>
              </a:defRPr>
            </a:lvl1pPr>
          </a:lstStyle>
          <a:p>
            <a:endParaRPr lang="zh-CN" altLang="zh-CN" dirty="0"/>
          </a:p>
        </p:txBody>
      </p:sp>
      <p:sp>
        <p:nvSpPr>
          <p:cNvPr id="2051" name="日期占位符 2"/>
          <p:cNvSpPr>
            <a:spLocks noGrp="1" noChangeArrowheads="1"/>
          </p:cNvSpPr>
          <p:nvPr>
            <p:ph type="dt" idx="1"/>
          </p:nvPr>
        </p:nvSpPr>
        <p:spPr bwMode="auto">
          <a:xfrm>
            <a:off x="3884613"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a:latin typeface="Times New Roman" panose="02020603050405020304" pitchFamily="18" charset="0"/>
              </a:defRPr>
            </a:lvl1pPr>
          </a:lstStyle>
          <a:p>
            <a:fld id="{E9B07FDD-F1B3-4E5B-BC2D-FED26B65F69F}" type="datetime1">
              <a:rPr lang="zh-CN" altLang="en-US" smtClean="0"/>
            </a:fld>
            <a:endParaRPr lang="zh-CN" altLang="en-US" sz="1200" dirty="0"/>
          </a:p>
        </p:txBody>
      </p:sp>
      <p:sp>
        <p:nvSpPr>
          <p:cNvPr id="2052" name="幻灯片图像占位符 3"/>
          <p:cNvSpPr>
            <a:spLocks noGrp="1" noRot="1" noChangeAspect="1" noChangeArrowheads="1"/>
          </p:cNvSpPr>
          <p:nvPr>
            <p:ph type="sldImg" idx="2"/>
          </p:nvPr>
        </p:nvSpPr>
        <p:spPr bwMode="auto">
          <a:xfrm>
            <a:off x="685800" y="1143000"/>
            <a:ext cx="5486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a:spcBef>
                <a:spcPct val="30000"/>
              </a:spcBef>
              <a:defRPr sz="1200">
                <a:solidFill>
                  <a:schemeClr val="tx1"/>
                </a:solidFill>
                <a:latin typeface="Arial" panose="020B0604020202020204" pitchFamily="34" charset="0"/>
              </a:defRPr>
            </a:lvl1pPr>
            <a:lvl2pPr defTabSz="0">
              <a:spcBef>
                <a:spcPct val="30000"/>
              </a:spcBef>
              <a:defRPr sz="1200">
                <a:solidFill>
                  <a:schemeClr val="tx1"/>
                </a:solidFill>
                <a:latin typeface="Arial" panose="020B0604020202020204" pitchFamily="34" charset="0"/>
              </a:defRPr>
            </a:lvl2pPr>
            <a:lvl3pPr defTabSz="0">
              <a:spcBef>
                <a:spcPct val="30000"/>
              </a:spcBef>
              <a:defRPr sz="1200">
                <a:solidFill>
                  <a:schemeClr val="tx1"/>
                </a:solidFill>
                <a:latin typeface="Arial" panose="020B0604020202020204" pitchFamily="34" charset="0"/>
              </a:defRPr>
            </a:lvl3pPr>
            <a:lvl4pPr defTabSz="0">
              <a:spcBef>
                <a:spcPct val="30000"/>
              </a:spcBef>
              <a:defRPr sz="1200">
                <a:solidFill>
                  <a:schemeClr val="tx1"/>
                </a:solidFill>
                <a:latin typeface="Arial" panose="020B0604020202020204" pitchFamily="34" charset="0"/>
              </a:defRPr>
            </a:lvl4pPr>
            <a:lvl5pPr defTabSz="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buFontTx/>
              <a:buNone/>
            </a:pPr>
            <a:r>
              <a:rPr lang="zh-CN" dirty="0">
                <a:latin typeface="Times New Roman" panose="02020603050405020304" pitchFamily="18" charset="0"/>
              </a:rPr>
              <a:t>单击此处编辑母版文本样式</a:t>
            </a:r>
            <a:endParaRPr lang="zh-CN" dirty="0">
              <a:latin typeface="Times New Roman" panose="02020603050405020304" pitchFamily="18" charset="0"/>
            </a:endParaRPr>
          </a:p>
          <a:p>
            <a:pPr>
              <a:buFontTx/>
              <a:buNone/>
            </a:pPr>
            <a:r>
              <a:rPr lang="zh-CN" dirty="0">
                <a:latin typeface="Times New Roman" panose="02020603050405020304" pitchFamily="18" charset="0"/>
              </a:rPr>
              <a:t>第二级</a:t>
            </a:r>
            <a:endParaRPr lang="zh-CN" dirty="0">
              <a:latin typeface="Times New Roman" panose="02020603050405020304" pitchFamily="18" charset="0"/>
            </a:endParaRPr>
          </a:p>
          <a:p>
            <a:pPr>
              <a:buFontTx/>
              <a:buNone/>
            </a:pPr>
            <a:r>
              <a:rPr lang="zh-CN" dirty="0">
                <a:latin typeface="Times New Roman" panose="02020603050405020304" pitchFamily="18" charset="0"/>
              </a:rPr>
              <a:t>第三级</a:t>
            </a:r>
            <a:endParaRPr lang="zh-CN" dirty="0">
              <a:latin typeface="Times New Roman" panose="02020603050405020304" pitchFamily="18" charset="0"/>
            </a:endParaRPr>
          </a:p>
          <a:p>
            <a:pPr>
              <a:buFontTx/>
              <a:buNone/>
            </a:pPr>
            <a:r>
              <a:rPr lang="zh-CN" dirty="0">
                <a:latin typeface="Times New Roman" panose="02020603050405020304" pitchFamily="18" charset="0"/>
              </a:rPr>
              <a:t>第四级</a:t>
            </a:r>
            <a:endParaRPr lang="zh-CN" dirty="0">
              <a:latin typeface="Times New Roman" panose="02020603050405020304" pitchFamily="18" charset="0"/>
            </a:endParaRPr>
          </a:p>
          <a:p>
            <a:pPr>
              <a:buFontTx/>
              <a:buNone/>
            </a:pPr>
            <a:r>
              <a:rPr lang="zh-CN" dirty="0">
                <a:latin typeface="Times New Roman" panose="02020603050405020304" pitchFamily="18" charset="0"/>
              </a:rPr>
              <a:t>第五级</a:t>
            </a:r>
            <a:endParaRPr lang="zh-CN" dirty="0">
              <a:latin typeface="Times New Roman" panose="02020603050405020304" pitchFamily="18" charset="0"/>
            </a:endParaRPr>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defRPr sz="1200">
                <a:latin typeface="Times New Roman" panose="02020603050405020304" pitchFamily="18" charset="0"/>
              </a:defRPr>
            </a:lvl1pPr>
          </a:lstStyle>
          <a:p>
            <a:endParaRPr lang="zh-CN" altLang="zh-CN" dirty="0"/>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a:defRPr>
                <a:latin typeface="Times New Roman" panose="02020603050405020304" pitchFamily="18" charset="0"/>
              </a:defRPr>
            </a:lvl1pPr>
          </a:lstStyle>
          <a:p>
            <a:fld id="{E9EF8A88-7B05-4B03-ACDA-4A6B434EDC9B}" type="slidenum">
              <a:rPr lang="zh-CN" altLang="en-US" smtClean="0"/>
            </a:fld>
            <a:endParaRPr lang="zh-CN" altLang="en-US" sz="1200" dirty="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r>
              <a:rPr lang="en-US" altLang="zh-CN" dirty="0" smtClean="0">
                <a:latin typeface="Times New Roman" panose="02020603050405020304" pitchFamily="18" charset="0"/>
              </a:rPr>
              <a:t>mysql57</a:t>
            </a:r>
            <a:r>
              <a:rPr lang="zh-CN" altLang="en-US" dirty="0" smtClean="0">
                <a:latin typeface="Times New Roman" panose="02020603050405020304" pitchFamily="18" charset="0"/>
              </a:rPr>
              <a:t>一下版本需要增加一个参数：</a:t>
            </a:r>
            <a:r>
              <a:rPr lang="en-US" altLang="zh-CN" dirty="0" smtClean="0">
                <a:latin typeface="Times New Roman" panose="02020603050405020304" pitchFamily="18" charset="0"/>
              </a:rPr>
              <a:t>charset='utf8'</a:t>
            </a:r>
            <a:endParaRPr lang="en-US" altLang="zh-CN" dirty="0" smtClean="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216" descr="Dscpe_01_Lg_cropped"/>
          <p:cNvPicPr>
            <a:picLocks noChangeAspect="1" noChangeArrowheads="1"/>
          </p:cNvPicPr>
          <p:nvPr/>
        </p:nvPicPr>
        <p:blipFill>
          <a:blip r:embed="rId2" cstate="print"/>
          <a:srcRect/>
          <a:stretch>
            <a:fillRect/>
          </a:stretch>
        </p:blipFill>
        <p:spPr bwMode="auto">
          <a:xfrm>
            <a:off x="0" y="0"/>
            <a:ext cx="12192000" cy="3228975"/>
          </a:xfrm>
          <a:prstGeom prst="rect">
            <a:avLst/>
          </a:prstGeom>
          <a:noFill/>
          <a:ln w="9525">
            <a:noFill/>
            <a:miter lim="800000"/>
            <a:headEnd/>
            <a:tailEnd/>
          </a:ln>
        </p:spPr>
      </p:pic>
      <p:sp>
        <p:nvSpPr>
          <p:cNvPr id="5" name="Rectangle 217"/>
          <p:cNvSpPr>
            <a:spLocks noChangeArrowheads="1"/>
          </p:cNvSpPr>
          <p:nvPr/>
        </p:nvSpPr>
        <p:spPr bwMode="invGray">
          <a:xfrm>
            <a:off x="0" y="1430338"/>
            <a:ext cx="12192000" cy="369887"/>
          </a:xfrm>
          <a:prstGeom prst="rect">
            <a:avLst/>
          </a:prstGeom>
          <a:solidFill>
            <a:srgbClr val="0052A5">
              <a:alpha val="50195"/>
            </a:srgbClr>
          </a:solidFill>
          <a:ln w="12700" algn="ctr">
            <a:noFill/>
            <a:miter lim="800000"/>
          </a:ln>
          <a:effectLst/>
        </p:spPr>
        <p:txBody>
          <a:bodyPr anchor="ctr">
            <a:spAutoFit/>
          </a:bodyPr>
          <a:lstStyle/>
          <a:p>
            <a:pPr eaLnBrk="0" hangingPunct="0">
              <a:buFont typeface="Arial" panose="020B0604020202020204" pitchFamily="34" charset="0"/>
              <a:buNone/>
            </a:pPr>
            <a:endParaRPr lang="zh-CN" altLang="en-US"/>
          </a:p>
        </p:txBody>
      </p:sp>
      <p:sp>
        <p:nvSpPr>
          <p:cNvPr id="6" name="Rectangle 250"/>
          <p:cNvSpPr>
            <a:spLocks noChangeArrowheads="1"/>
          </p:cNvSpPr>
          <p:nvPr/>
        </p:nvSpPr>
        <p:spPr bwMode="auto">
          <a:xfrm>
            <a:off x="0" y="3141663"/>
            <a:ext cx="12192000" cy="368300"/>
          </a:xfrm>
          <a:prstGeom prst="rect">
            <a:avLst/>
          </a:prstGeom>
          <a:solidFill>
            <a:srgbClr val="E48F1B"/>
          </a:solidFill>
          <a:ln w="12700" algn="ctr">
            <a:noFill/>
            <a:miter lim="800000"/>
          </a:ln>
          <a:effectLst/>
        </p:spPr>
        <p:txBody>
          <a:bodyPr anchor="ctr">
            <a:spAutoFit/>
          </a:bodyPr>
          <a:lstStyle/>
          <a:p>
            <a:pPr eaLnBrk="0" hangingPunct="0">
              <a:buFont typeface="Arial" panose="020B0604020202020204" pitchFamily="34" charset="0"/>
              <a:buNone/>
            </a:pPr>
            <a:endParaRPr lang="zh-CN" altLang="en-US"/>
          </a:p>
        </p:txBody>
      </p:sp>
      <p:sp>
        <p:nvSpPr>
          <p:cNvPr id="7" name="矩形 6"/>
          <p:cNvSpPr/>
          <p:nvPr/>
        </p:nvSpPr>
        <p:spPr>
          <a:xfrm>
            <a:off x="9118009" y="6253750"/>
            <a:ext cx="2954655" cy="461665"/>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eaLnBrk="0" hangingPunct="0">
              <a:buFont typeface="Arial" panose="020B0604020202020204" pitchFamily="34" charset="0"/>
              <a:buNone/>
              <a:defRPr/>
            </a:pPr>
            <a:r>
              <a:rPr lang="zh-CN" altLang="en-US"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anose="020B0604020202020204" pitchFamily="34" charset="0"/>
                <a:ea typeface="+mn-ea"/>
              </a:rPr>
              <a:t>汇聚智慧，动力无限</a:t>
            </a:r>
            <a:endParaRPr lang="zh-CN" altLang="en-US"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anose="020B0604020202020204" pitchFamily="34" charset="0"/>
              <a:ea typeface="+mn-ea"/>
            </a:endParaRPr>
          </a:p>
        </p:txBody>
      </p:sp>
      <p:pic>
        <p:nvPicPr>
          <p:cNvPr id="8" name="图片 14"/>
          <p:cNvPicPr>
            <a:picLocks noChangeAspect="1"/>
          </p:cNvPicPr>
          <p:nvPr/>
        </p:nvPicPr>
        <p:blipFill>
          <a:blip r:embed="rId3" cstate="print"/>
          <a:srcRect/>
          <a:stretch>
            <a:fillRect/>
          </a:stretch>
        </p:blipFill>
        <p:spPr bwMode="auto">
          <a:xfrm>
            <a:off x="8504238" y="6165850"/>
            <a:ext cx="615950" cy="612775"/>
          </a:xfrm>
          <a:prstGeom prst="rect">
            <a:avLst/>
          </a:prstGeom>
          <a:noFill/>
          <a:ln w="9525">
            <a:noFill/>
            <a:miter lim="800000"/>
            <a:headEnd/>
            <a:tailEnd/>
          </a:ln>
        </p:spPr>
      </p:pic>
      <p:sp>
        <p:nvSpPr>
          <p:cNvPr id="9" name="TextBox 8"/>
          <p:cNvSpPr txBox="1"/>
          <p:nvPr/>
        </p:nvSpPr>
        <p:spPr>
          <a:xfrm>
            <a:off x="407368" y="6300028"/>
            <a:ext cx="6192688" cy="369332"/>
          </a:xfrm>
          <a:prstGeom prst="rect">
            <a:avLst/>
          </a:prstGeom>
          <a:ln>
            <a:solidFill>
              <a:schemeClr val="accent1">
                <a:lumMod val="20000"/>
                <a:lumOff val="80000"/>
              </a:schemeClr>
            </a:solidFill>
          </a:ln>
        </p:spPr>
        <p:style>
          <a:lnRef idx="2">
            <a:schemeClr val="accent2"/>
          </a:lnRef>
          <a:fillRef idx="1">
            <a:schemeClr val="lt1"/>
          </a:fillRef>
          <a:effectRef idx="0">
            <a:schemeClr val="accent2"/>
          </a:effectRef>
          <a:fontRef idx="minor">
            <a:schemeClr val="dk1"/>
          </a:fontRef>
        </p:style>
        <p:txBody>
          <a:bodyPr>
            <a:spAutoFit/>
          </a:bodyPr>
          <a:lstStyle/>
          <a:p>
            <a:pPr>
              <a:defRPr/>
            </a:pPr>
            <a:r>
              <a:rPr lang="zh-CN" altLang="en-US" dirty="0">
                <a:ln w="10160">
                  <a:solidFill>
                    <a:schemeClr val="accent1"/>
                  </a:solidFill>
                  <a:prstDash val="solid"/>
                </a:ln>
                <a:solidFill>
                  <a:srgbClr val="FFFFFF"/>
                </a:solidFill>
              </a:rPr>
              <a:t>成都市武侯区新南路</a:t>
            </a:r>
            <a:r>
              <a:rPr lang="en-US" altLang="zh-CN" dirty="0">
                <a:ln w="10160">
                  <a:solidFill>
                    <a:schemeClr val="accent1"/>
                  </a:solidFill>
                  <a:prstDash val="solid"/>
                </a:ln>
                <a:solidFill>
                  <a:srgbClr val="FFFFFF"/>
                </a:solidFill>
              </a:rPr>
              <a:t>44</a:t>
            </a:r>
            <a:r>
              <a:rPr lang="zh-CN" altLang="en-US" dirty="0">
                <a:ln w="10160">
                  <a:solidFill>
                    <a:schemeClr val="accent1"/>
                  </a:solidFill>
                  <a:prstDash val="solid"/>
                </a:ln>
                <a:solidFill>
                  <a:srgbClr val="FFFFFF"/>
                </a:solidFill>
              </a:rPr>
              <a:t>号附</a:t>
            </a:r>
            <a:r>
              <a:rPr lang="en-US" altLang="zh-CN" dirty="0">
                <a:ln w="10160">
                  <a:solidFill>
                    <a:schemeClr val="accent1"/>
                  </a:solidFill>
                  <a:prstDash val="solid"/>
                </a:ln>
                <a:solidFill>
                  <a:srgbClr val="FFFFFF"/>
                </a:solidFill>
              </a:rPr>
              <a:t>1</a:t>
            </a:r>
            <a:r>
              <a:rPr lang="zh-CN" altLang="en-US" dirty="0">
                <a:ln w="10160">
                  <a:solidFill>
                    <a:schemeClr val="accent1"/>
                  </a:solidFill>
                  <a:prstDash val="solid"/>
                </a:ln>
                <a:solidFill>
                  <a:srgbClr val="FFFFFF"/>
                </a:solidFill>
              </a:rPr>
              <a:t>楼腾云商务大厦 </a:t>
            </a:r>
            <a:r>
              <a:rPr lang="en-US" altLang="zh-CN" dirty="0">
                <a:ln w="10160">
                  <a:solidFill>
                    <a:schemeClr val="accent1"/>
                  </a:solidFill>
                  <a:prstDash val="solid"/>
                </a:ln>
                <a:solidFill>
                  <a:schemeClr val="accent1">
                    <a:lumMod val="50000"/>
                  </a:schemeClr>
                </a:solidFill>
              </a:rPr>
              <a:t>02885062021</a:t>
            </a:r>
            <a:endParaRPr lang="zh-CN" altLang="en-US" dirty="0">
              <a:ln w="10160">
                <a:solidFill>
                  <a:schemeClr val="accent1"/>
                </a:solidFill>
                <a:prstDash val="solid"/>
              </a:ln>
              <a:solidFill>
                <a:schemeClr val="accent1">
                  <a:lumMod val="50000"/>
                </a:schemeClr>
              </a:solidFill>
            </a:endParaRPr>
          </a:p>
        </p:txBody>
      </p:sp>
      <p:sp>
        <p:nvSpPr>
          <p:cNvPr id="280698" name="Rectangle 122"/>
          <p:cNvSpPr>
            <a:spLocks noGrp="1" noChangeArrowheads="1"/>
          </p:cNvSpPr>
          <p:nvPr>
            <p:ph type="ctrTitle"/>
          </p:nvPr>
        </p:nvSpPr>
        <p:spPr bwMode="auto">
          <a:xfrm>
            <a:off x="508000" y="420690"/>
            <a:ext cx="11074400" cy="2352675"/>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800"/>
            </a:lvl1pPr>
          </a:lstStyle>
          <a:p>
            <a:pPr lvl="0"/>
            <a:r>
              <a:rPr lang="zh-CN" altLang="en-US" noProof="0" smtClean="0"/>
              <a:t>单击此处编辑母版标题样式</a:t>
            </a:r>
            <a:endParaRPr lang="en-US" altLang="zh-CN" noProof="0" smtClean="0"/>
          </a:p>
        </p:txBody>
      </p:sp>
      <p:sp>
        <p:nvSpPr>
          <p:cNvPr id="280799" name="Rectangle 223"/>
          <p:cNvSpPr>
            <a:spLocks noGrp="1" noChangeArrowheads="1"/>
          </p:cNvSpPr>
          <p:nvPr>
            <p:ph type="subTitle" idx="1"/>
          </p:nvPr>
        </p:nvSpPr>
        <p:spPr>
          <a:xfrm>
            <a:off x="5852584" y="3836988"/>
            <a:ext cx="5831416" cy="1504950"/>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r">
              <a:buFont typeface="Times" pitchFamily="18" charset="0"/>
              <a:buNone/>
              <a:defRPr sz="2600"/>
            </a:lvl1pPr>
          </a:lstStyle>
          <a:p>
            <a:pPr lvl="0"/>
            <a:r>
              <a:rPr lang="zh-CN" altLang="en-US" noProof="0" smtClean="0"/>
              <a:t>单击此处编辑母版副标题样式</a:t>
            </a:r>
            <a:endParaRPr lang="en-US" altLang="zh-CN" noProof="0" smtClean="0"/>
          </a:p>
        </p:txBody>
      </p:sp>
    </p:spTree>
  </p:cSld>
  <p:clrMapOvr>
    <a:masterClrMapping/>
  </p:clrMapOvr>
  <p:transition/>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3857628"/>
            <a:ext cx="103632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963085" y="1857364"/>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cu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362075"/>
            <a:ext cx="5435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019800" y="1362075"/>
            <a:ext cx="5435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cu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85728"/>
            <a:ext cx="10972800" cy="642934"/>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cu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cu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cu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766734" y="1214422"/>
            <a:ext cx="6815666" cy="491174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文本占位符 3"/>
          <p:cNvSpPr>
            <a:spLocks noGrp="1"/>
          </p:cNvSpPr>
          <p:nvPr>
            <p:ph type="body" sz="half" idx="2"/>
          </p:nvPr>
        </p:nvSpPr>
        <p:spPr>
          <a:xfrm>
            <a:off x="609600" y="1214422"/>
            <a:ext cx="4011084" cy="491174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cut/>
  </p:transition>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1214421"/>
            <a:ext cx="7315200" cy="35131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cu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cu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4685" y="1357298"/>
            <a:ext cx="2770716" cy="442437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70418" y="1357298"/>
            <a:ext cx="8111067" cy="442437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370417" y="285728"/>
            <a:ext cx="11074400" cy="647723"/>
          </a:xfrm>
        </p:spPr>
        <p:txBody>
          <a:bodyPr/>
          <a:lstStyle/>
          <a:p>
            <a:r>
              <a:rPr lang="zh-CN" altLang="en-US" smtClean="0"/>
              <a:t>单击此处编辑母版标题样式</a:t>
            </a:r>
            <a:endParaRPr lang="zh-CN" altLang="en-US"/>
          </a:p>
        </p:txBody>
      </p:sp>
      <p:sp>
        <p:nvSpPr>
          <p:cNvPr id="3" name="图表占位符 2"/>
          <p:cNvSpPr>
            <a:spLocks noGrp="1"/>
          </p:cNvSpPr>
          <p:nvPr>
            <p:ph type="chart" idx="1" hasCustomPrompt="1"/>
          </p:nvPr>
        </p:nvSpPr>
        <p:spPr>
          <a:xfrm>
            <a:off x="381000" y="1362075"/>
            <a:ext cx="11074400" cy="4419600"/>
          </a:xfrm>
        </p:spPr>
        <p:txBody>
          <a:bodyPr/>
          <a:lstStyle/>
          <a:p>
            <a:pPr lvl="0"/>
            <a:r>
              <a:rPr lang="zh-CN" altLang="en-US" noProof="0" smtClean="0"/>
              <a:t>单击图标添加图表</a:t>
            </a:r>
            <a:endParaRPr lang="zh-CN" altLang="en-US" noProof="0" smtClean="0"/>
          </a:p>
        </p:txBody>
      </p:sp>
    </p:spTree>
  </p:cSld>
  <p:clrMapOvr>
    <a:masterClrMapping/>
  </p:clrMapOvr>
  <p:transition/>
  <p:hf sldNum="0"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3.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7" descr="slide_header"/>
          <p:cNvPicPr>
            <a:picLocks noChangeAspect="1" noChangeArrowheads="1"/>
          </p:cNvPicPr>
          <p:nvPr/>
        </p:nvPicPr>
        <p:blipFill>
          <a:blip r:embed="rId13" cstate="print"/>
          <a:srcRect/>
          <a:stretch>
            <a:fillRect/>
          </a:stretch>
        </p:blipFill>
        <p:spPr bwMode="invGray">
          <a:xfrm>
            <a:off x="0" y="-1588"/>
            <a:ext cx="12193588" cy="1143001"/>
          </a:xfrm>
          <a:prstGeom prst="rect">
            <a:avLst/>
          </a:prstGeom>
          <a:noFill/>
          <a:ln w="9525">
            <a:noFill/>
            <a:miter lim="800000"/>
            <a:headEnd/>
            <a:tailEnd/>
          </a:ln>
        </p:spPr>
      </p:pic>
      <p:sp>
        <p:nvSpPr>
          <p:cNvPr id="1027" name="Rectangle 17"/>
          <p:cNvSpPr>
            <a:spLocks noChangeArrowheads="1"/>
          </p:cNvSpPr>
          <p:nvPr/>
        </p:nvSpPr>
        <p:spPr bwMode="gray">
          <a:xfrm>
            <a:off x="0" y="1139825"/>
            <a:ext cx="12192000" cy="5718175"/>
          </a:xfrm>
          <a:prstGeom prst="rect">
            <a:avLst/>
          </a:prstGeom>
          <a:solidFill>
            <a:schemeClr val="bg1"/>
          </a:solidFill>
          <a:ln w="9525">
            <a:noFill/>
            <a:miter lim="800000"/>
          </a:ln>
          <a:effectLst/>
        </p:spPr>
        <p:txBody>
          <a:bodyPr wrap="none" anchor="ctr"/>
          <a:lstStyle/>
          <a:p>
            <a:pPr eaLnBrk="0" hangingPunct="0">
              <a:buFont typeface="Arial" panose="020B0604020202020204" pitchFamily="34" charset="0"/>
              <a:buNone/>
            </a:pPr>
            <a:endParaRPr lang="zh-CN" altLang="en-US"/>
          </a:p>
        </p:txBody>
      </p:sp>
      <p:sp>
        <p:nvSpPr>
          <p:cNvPr id="1028" name="Rectangle 52"/>
          <p:cNvSpPr>
            <a:spLocks noGrp="1" noChangeArrowheads="1"/>
          </p:cNvSpPr>
          <p:nvPr>
            <p:ph type="body" idx="1"/>
          </p:nvPr>
        </p:nvSpPr>
        <p:spPr bwMode="gray">
          <a:xfrm>
            <a:off x="381000" y="1362075"/>
            <a:ext cx="11074400" cy="4419600"/>
          </a:xfrm>
          <a:prstGeom prst="rect">
            <a:avLst/>
          </a:prstGeom>
          <a:noFill/>
          <a:ln w="9525" algn="ctr">
            <a:noFill/>
            <a:miter lim="800000"/>
          </a:ln>
          <a:effec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altLang="zh-CN" dirty="0" smtClean="0"/>
          </a:p>
        </p:txBody>
      </p:sp>
      <p:sp>
        <p:nvSpPr>
          <p:cNvPr id="1029" name="Rectangle 53"/>
          <p:cNvSpPr>
            <a:spLocks noGrp="1" noChangeArrowheads="1"/>
          </p:cNvSpPr>
          <p:nvPr>
            <p:ph type="title"/>
          </p:nvPr>
        </p:nvSpPr>
        <p:spPr bwMode="invGray">
          <a:xfrm>
            <a:off x="369888" y="285728"/>
            <a:ext cx="11074400" cy="647721"/>
          </a:xfrm>
          <a:prstGeom prst="rect">
            <a:avLst/>
          </a:prstGeom>
          <a:noFill/>
          <a:ln w="9525" algn="ctr">
            <a:noFill/>
            <a:miter lim="800000"/>
          </a:ln>
          <a:effectLst/>
        </p:spPr>
        <p:txBody>
          <a:bodyPr vert="horz" wrap="square" lIns="91440" tIns="45720" rIns="91440" bIns="45720" numCol="1" anchor="b" anchorCtr="0" compatLnSpc="1"/>
          <a:lstStyle/>
          <a:p>
            <a:pPr lvl="0"/>
            <a:r>
              <a:rPr lang="zh-CN" altLang="en-US" dirty="0" smtClean="0"/>
              <a:t>单击此处编辑母版标题样式</a:t>
            </a:r>
            <a:endParaRPr lang="en-US" altLang="zh-CN" dirty="0" smtClean="0"/>
          </a:p>
        </p:txBody>
      </p:sp>
      <p:sp>
        <p:nvSpPr>
          <p:cNvPr id="7" name="矩形 6"/>
          <p:cNvSpPr/>
          <p:nvPr/>
        </p:nvSpPr>
        <p:spPr>
          <a:xfrm>
            <a:off x="9118009" y="6253750"/>
            <a:ext cx="2954655" cy="461665"/>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eaLnBrk="0" hangingPunct="0">
              <a:buFont typeface="Arial" panose="020B0604020202020204" pitchFamily="34" charset="0"/>
              <a:buNone/>
              <a:defRPr/>
            </a:pPr>
            <a:r>
              <a:rPr lang="zh-CN" altLang="en-US"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anose="020B0604020202020204" pitchFamily="34" charset="0"/>
                <a:ea typeface="+mn-ea"/>
              </a:rPr>
              <a:t>汇聚智慧，动力无限</a:t>
            </a:r>
            <a:endParaRPr lang="zh-CN" altLang="en-US"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anose="020B0604020202020204" pitchFamily="34" charset="0"/>
              <a:ea typeface="+mn-ea"/>
            </a:endParaRPr>
          </a:p>
        </p:txBody>
      </p:sp>
      <p:pic>
        <p:nvPicPr>
          <p:cNvPr id="1031" name="图片 8"/>
          <p:cNvPicPr>
            <a:picLocks noChangeAspect="1"/>
          </p:cNvPicPr>
          <p:nvPr/>
        </p:nvPicPr>
        <p:blipFill>
          <a:blip r:embed="rId14" cstate="print"/>
          <a:srcRect/>
          <a:stretch>
            <a:fillRect/>
          </a:stretch>
        </p:blipFill>
        <p:spPr bwMode="auto">
          <a:xfrm>
            <a:off x="8504238" y="6165850"/>
            <a:ext cx="615950" cy="6127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cut/>
  </p:transition>
  <p:timing>
    <p:tnLst>
      <p:par>
        <p:cTn id="1" dur="indefinite" restart="never" nodeType="tmRoot"/>
      </p:par>
    </p:tnLst>
  </p:timing>
  <p:hf sldNum="0" hdr="0" ftr="0"/>
  <p:txStyles>
    <p:title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Arial" panose="020B0604020202020204" pitchFamily="34" charset="0"/>
          <a:ea typeface="Arial Unicode MS" pitchFamily="34" charset="-128"/>
          <a:cs typeface="Arial Unicode MS" pitchFamily="34" charset="-128"/>
        </a:defRPr>
      </a:lvl2pPr>
      <a:lvl3pPr algn="l" rtl="0" eaLnBrk="1" fontAlgn="base" hangingPunct="1">
        <a:spcBef>
          <a:spcPct val="0"/>
        </a:spcBef>
        <a:spcAft>
          <a:spcPct val="0"/>
        </a:spcAft>
        <a:defRPr sz="3200" b="1">
          <a:solidFill>
            <a:schemeClr val="bg1"/>
          </a:solidFill>
          <a:latin typeface="Arial" panose="020B0604020202020204" pitchFamily="34" charset="0"/>
          <a:ea typeface="Arial Unicode MS" pitchFamily="34" charset="-128"/>
          <a:cs typeface="Arial Unicode MS" pitchFamily="34" charset="-128"/>
        </a:defRPr>
      </a:lvl3pPr>
      <a:lvl4pPr algn="l" rtl="0" eaLnBrk="1" fontAlgn="base" hangingPunct="1">
        <a:spcBef>
          <a:spcPct val="0"/>
        </a:spcBef>
        <a:spcAft>
          <a:spcPct val="0"/>
        </a:spcAft>
        <a:defRPr sz="3200" b="1">
          <a:solidFill>
            <a:schemeClr val="bg1"/>
          </a:solidFill>
          <a:latin typeface="Arial" panose="020B0604020202020204" pitchFamily="34" charset="0"/>
          <a:ea typeface="Arial Unicode MS" pitchFamily="34" charset="-128"/>
          <a:cs typeface="Arial Unicode MS" pitchFamily="34" charset="-128"/>
        </a:defRPr>
      </a:lvl4pPr>
      <a:lvl5pPr algn="l" rtl="0" eaLnBrk="1" fontAlgn="base" hangingPunct="1">
        <a:spcBef>
          <a:spcPct val="0"/>
        </a:spcBef>
        <a:spcAft>
          <a:spcPct val="0"/>
        </a:spcAft>
        <a:defRPr sz="3200" b="1">
          <a:solidFill>
            <a:schemeClr val="bg1"/>
          </a:solidFill>
          <a:latin typeface="Arial" panose="020B0604020202020204" pitchFamily="34" charset="0"/>
          <a:ea typeface="Arial Unicode MS" pitchFamily="34" charset="-128"/>
          <a:cs typeface="Arial Unicode MS" pitchFamily="34" charset="-128"/>
        </a:defRPr>
      </a:lvl5pPr>
      <a:lvl6pPr marL="457200" algn="l" rtl="0" eaLnBrk="1" fontAlgn="base" hangingPunct="1">
        <a:spcBef>
          <a:spcPct val="0"/>
        </a:spcBef>
        <a:spcAft>
          <a:spcPct val="0"/>
        </a:spcAft>
        <a:defRPr sz="3200" b="1">
          <a:solidFill>
            <a:schemeClr val="bg1"/>
          </a:solidFill>
          <a:latin typeface="Arial" panose="020B0604020202020204" pitchFamily="34" charset="0"/>
          <a:ea typeface="Arial Unicode MS" pitchFamily="34" charset="-128"/>
          <a:cs typeface="Arial Unicode MS" pitchFamily="34" charset="-128"/>
        </a:defRPr>
      </a:lvl6pPr>
      <a:lvl7pPr marL="914400" algn="l" rtl="0" eaLnBrk="1" fontAlgn="base" hangingPunct="1">
        <a:spcBef>
          <a:spcPct val="0"/>
        </a:spcBef>
        <a:spcAft>
          <a:spcPct val="0"/>
        </a:spcAft>
        <a:defRPr sz="3200" b="1">
          <a:solidFill>
            <a:schemeClr val="bg1"/>
          </a:solidFill>
          <a:latin typeface="Arial" panose="020B0604020202020204" pitchFamily="34" charset="0"/>
          <a:ea typeface="Arial Unicode MS" pitchFamily="34" charset="-128"/>
          <a:cs typeface="Arial Unicode MS" pitchFamily="34" charset="-128"/>
        </a:defRPr>
      </a:lvl7pPr>
      <a:lvl8pPr marL="1371600" algn="l" rtl="0" eaLnBrk="1" fontAlgn="base" hangingPunct="1">
        <a:spcBef>
          <a:spcPct val="0"/>
        </a:spcBef>
        <a:spcAft>
          <a:spcPct val="0"/>
        </a:spcAft>
        <a:defRPr sz="3200" b="1">
          <a:solidFill>
            <a:schemeClr val="bg1"/>
          </a:solidFill>
          <a:latin typeface="Arial" panose="020B0604020202020204" pitchFamily="34" charset="0"/>
          <a:ea typeface="Arial Unicode MS" pitchFamily="34" charset="-128"/>
          <a:cs typeface="Arial Unicode MS" pitchFamily="34" charset="-128"/>
        </a:defRPr>
      </a:lvl8pPr>
      <a:lvl9pPr marL="1828800" algn="l" rtl="0" eaLnBrk="1" fontAlgn="base" hangingPunct="1">
        <a:spcBef>
          <a:spcPct val="0"/>
        </a:spcBef>
        <a:spcAft>
          <a:spcPct val="0"/>
        </a:spcAft>
        <a:defRPr sz="3200" b="1">
          <a:solidFill>
            <a:schemeClr val="bg1"/>
          </a:solidFill>
          <a:latin typeface="Arial" panose="020B0604020202020204" pitchFamily="34" charset="0"/>
          <a:ea typeface="Arial Unicode MS" pitchFamily="34" charset="-128"/>
          <a:cs typeface="Arial Unicode MS" pitchFamily="34" charset="-128"/>
        </a:defRPr>
      </a:lvl9pPr>
    </p:titleStyle>
    <p:bodyStyle>
      <a:lvl1pPr marL="347980" indent="-347980" algn="l" rtl="0" eaLnBrk="1" fontAlgn="base" hangingPunct="1">
        <a:lnSpc>
          <a:spcPct val="90000"/>
        </a:lnSpc>
        <a:spcBef>
          <a:spcPct val="30000"/>
        </a:spcBef>
        <a:spcAft>
          <a:spcPct val="10000"/>
        </a:spcAft>
        <a:buClr>
          <a:srgbClr val="00529B"/>
        </a:buClr>
        <a:buFont typeface="Times" pitchFamily="18" charset="0"/>
        <a:buChar char="•"/>
        <a:defRPr sz="2800">
          <a:solidFill>
            <a:schemeClr val="tx1"/>
          </a:solidFill>
          <a:latin typeface="+mn-lt"/>
          <a:ea typeface="+mn-ea"/>
          <a:cs typeface="+mn-cs"/>
        </a:defRPr>
      </a:lvl1pPr>
      <a:lvl2pPr marL="635000" indent="-173355" algn="l" rtl="0" eaLnBrk="1" fontAlgn="base" hangingPunct="1">
        <a:lnSpc>
          <a:spcPct val="90000"/>
        </a:lnSpc>
        <a:spcBef>
          <a:spcPct val="30000"/>
        </a:spcBef>
        <a:spcAft>
          <a:spcPct val="10000"/>
        </a:spcAft>
        <a:buClr>
          <a:schemeClr val="tx1"/>
        </a:buClr>
        <a:buFont typeface="Arial" panose="020B0604020202020204" pitchFamily="34" charset="0"/>
        <a:buChar char="-"/>
        <a:defRPr sz="2400">
          <a:solidFill>
            <a:schemeClr val="tx1"/>
          </a:solidFill>
          <a:latin typeface="+mn-lt"/>
          <a:ea typeface="+mn-ea"/>
          <a:cs typeface="+mn-cs"/>
        </a:defRPr>
      </a:lvl2pPr>
      <a:lvl3pPr marL="922655"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3pPr>
      <a:lvl4pPr marL="1209675" indent="-173355" algn="l" rtl="0" eaLnBrk="1" fontAlgn="base" hangingPunct="1">
        <a:lnSpc>
          <a:spcPct val="90000"/>
        </a:lnSpc>
        <a:spcBef>
          <a:spcPct val="30000"/>
        </a:spcBef>
        <a:spcAft>
          <a:spcPct val="10000"/>
        </a:spcAft>
        <a:buClr>
          <a:schemeClr val="tx1"/>
        </a:buClr>
        <a:buFont typeface="Arial" panose="020B0604020202020204" pitchFamily="34" charset="0"/>
        <a:buChar char="-"/>
        <a:defRPr sz="2000">
          <a:solidFill>
            <a:schemeClr val="tx1"/>
          </a:solidFill>
          <a:latin typeface="+mn-lt"/>
          <a:ea typeface="+mn-ea"/>
          <a:cs typeface="+mn-cs"/>
        </a:defRPr>
      </a:lvl4pPr>
      <a:lvl5pPr marL="1497330"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5pPr>
      <a:lvl6pPr marL="1954530"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6pPr>
      <a:lvl7pPr marL="2411730"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7pPr>
      <a:lvl8pPr marL="2868930"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8pPr>
      <a:lvl9pPr marL="3326130"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7" name="Rectangle 3"/>
          <p:cNvSpPr>
            <a:spLocks noChangeArrowheads="1"/>
          </p:cNvSpPr>
          <p:nvPr/>
        </p:nvSpPr>
        <p:spPr bwMode="auto">
          <a:xfrm>
            <a:off x="857251" y="1340768"/>
            <a:ext cx="9474200" cy="3817938"/>
          </a:xfrm>
          <a:prstGeom prst="rect">
            <a:avLst/>
          </a:prstGeom>
          <a:noFill/>
          <a:ln w="9525">
            <a:noFill/>
            <a:miter lim="800000"/>
          </a:ln>
        </p:spPr>
        <p:txBody>
          <a:bodyPr lIns="92075" tIns="46038" rIns="92075" bIns="46038"/>
          <a:lstStyle/>
          <a:p>
            <a:pPr marL="228600" indent="-228600" algn="just">
              <a:lnSpc>
                <a:spcPct val="150000"/>
              </a:lnSpc>
              <a:spcBef>
                <a:spcPct val="50000"/>
              </a:spcBef>
              <a:spcAft>
                <a:spcPct val="15000"/>
              </a:spcAft>
              <a:buClr>
                <a:schemeClr val="bg1"/>
              </a:buClr>
              <a:buFontTx/>
              <a:buChar char="•"/>
            </a:pPr>
            <a:r>
              <a:rPr lang="en-US" altLang="zh-CN" sz="2200" dirty="0" smtClean="0">
                <a:solidFill>
                  <a:schemeClr val="tx1">
                    <a:lumMod val="95000"/>
                    <a:lumOff val="5000"/>
                  </a:schemeClr>
                </a:solidFill>
                <a:latin typeface="宋体" panose="02010600030101010101" pitchFamily="2" charset="-122"/>
              </a:rPr>
              <a:t>12.1 </a:t>
            </a:r>
            <a:r>
              <a:rPr lang="zh-CN" altLang="en-US" sz="2200" dirty="0" smtClean="0">
                <a:solidFill>
                  <a:schemeClr val="tx1">
                    <a:lumMod val="95000"/>
                    <a:lumOff val="5000"/>
                  </a:schemeClr>
                </a:solidFill>
                <a:latin typeface="宋体" panose="02010600030101010101" pitchFamily="2" charset="-122"/>
              </a:rPr>
              <a:t>简介</a:t>
            </a:r>
            <a:endParaRPr lang="en-US" altLang="zh-CN" sz="22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buFontTx/>
              <a:buChar char="•"/>
            </a:pPr>
            <a:r>
              <a:rPr lang="en-US" altLang="zh-CN" sz="2200" dirty="0" smtClean="0">
                <a:solidFill>
                  <a:schemeClr val="tx1">
                    <a:lumMod val="95000"/>
                    <a:lumOff val="5000"/>
                  </a:schemeClr>
                </a:solidFill>
                <a:latin typeface="宋体" panose="02010600030101010101" pitchFamily="2" charset="-122"/>
              </a:rPr>
              <a:t>12.2 </a:t>
            </a:r>
            <a:r>
              <a:rPr lang="zh-CN" altLang="en-US" sz="2200" dirty="0" smtClean="0">
                <a:solidFill>
                  <a:schemeClr val="tx1">
                    <a:lumMod val="95000"/>
                    <a:lumOff val="5000"/>
                  </a:schemeClr>
                </a:solidFill>
                <a:latin typeface="宋体" panose="02010600030101010101" pitchFamily="2" charset="-122"/>
              </a:rPr>
              <a:t>安装</a:t>
            </a:r>
            <a:r>
              <a:rPr lang="en-US" altLang="zh-CN" sz="2200" dirty="0" err="1" smtClean="0">
                <a:solidFill>
                  <a:schemeClr val="tx1">
                    <a:lumMod val="95000"/>
                    <a:lumOff val="5000"/>
                  </a:schemeClr>
                </a:solidFill>
                <a:latin typeface="宋体" panose="02010600030101010101" pitchFamily="2" charset="-122"/>
              </a:rPr>
              <a:t>pymysql</a:t>
            </a:r>
            <a:r>
              <a:rPr lang="zh-CN" altLang="en-US" sz="2200" dirty="0" smtClean="0">
                <a:solidFill>
                  <a:schemeClr val="tx1">
                    <a:lumMod val="95000"/>
                    <a:lumOff val="5000"/>
                  </a:schemeClr>
                </a:solidFill>
                <a:latin typeface="宋体" panose="02010600030101010101" pitchFamily="2" charset="-122"/>
              </a:rPr>
              <a:t>库</a:t>
            </a:r>
            <a:endParaRPr lang="en-US" altLang="zh-CN" sz="22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buFontTx/>
              <a:buChar char="•"/>
            </a:pPr>
            <a:r>
              <a:rPr lang="en-US" altLang="zh-CN" sz="2200" dirty="0" smtClean="0">
                <a:solidFill>
                  <a:schemeClr val="tx1">
                    <a:lumMod val="95000"/>
                    <a:lumOff val="5000"/>
                  </a:schemeClr>
                </a:solidFill>
                <a:latin typeface="宋体" panose="02010600030101010101" pitchFamily="2" charset="-122"/>
              </a:rPr>
              <a:t>12.3 </a:t>
            </a:r>
            <a:r>
              <a:rPr lang="zh-CN" altLang="en-US" sz="2200" dirty="0" smtClean="0">
                <a:solidFill>
                  <a:schemeClr val="tx1">
                    <a:lumMod val="95000"/>
                    <a:lumOff val="5000"/>
                  </a:schemeClr>
                </a:solidFill>
                <a:latin typeface="宋体" panose="02010600030101010101" pitchFamily="2" charset="-122"/>
              </a:rPr>
              <a:t>连接</a:t>
            </a:r>
            <a:endParaRPr lang="en-US" altLang="zh-CN" sz="22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buFontTx/>
              <a:buChar char="•"/>
            </a:pPr>
            <a:r>
              <a:rPr lang="en-US" altLang="zh-CN" sz="2200" dirty="0" smtClean="0">
                <a:solidFill>
                  <a:schemeClr val="tx1">
                    <a:lumMod val="95000"/>
                    <a:lumOff val="5000"/>
                  </a:schemeClr>
                </a:solidFill>
                <a:latin typeface="宋体" panose="02010600030101010101" pitchFamily="2" charset="-122"/>
              </a:rPr>
              <a:t>12.4 </a:t>
            </a:r>
            <a:r>
              <a:rPr lang="zh-CN" altLang="en-US" sz="2200" dirty="0" smtClean="0">
                <a:solidFill>
                  <a:schemeClr val="tx1">
                    <a:lumMod val="95000"/>
                    <a:lumOff val="5000"/>
                  </a:schemeClr>
                </a:solidFill>
                <a:latin typeface="宋体" panose="02010600030101010101" pitchFamily="2" charset="-122"/>
              </a:rPr>
              <a:t>游标</a:t>
            </a:r>
            <a:endParaRPr lang="en-US" altLang="zh-CN" sz="2200" dirty="0" smtClean="0">
              <a:solidFill>
                <a:schemeClr val="tx1">
                  <a:lumMod val="95000"/>
                  <a:lumOff val="5000"/>
                </a:schemeClr>
              </a:solidFill>
              <a:latin typeface="宋体" panose="02010600030101010101" pitchFamily="2" charset="-122"/>
            </a:endParaRPr>
          </a:p>
        </p:txBody>
      </p:sp>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zh-CN" altLang="en-US" sz="4000" b="1" smtClean="0">
                <a:solidFill>
                  <a:srgbClr val="FFFF00"/>
                </a:solidFill>
                <a:latin typeface="宋体" panose="02010600030101010101" pitchFamily="2" charset="-122"/>
                <a:cs typeface="+mj-cs"/>
                <a:sym typeface="Calibri Light" panose="020F0302020204030204" pitchFamily="34" charset="0"/>
              </a:rPr>
              <a:t>第十二章 </a:t>
            </a:r>
            <a:r>
              <a:rPr lang="zh-CN" altLang="en-US" sz="4000" b="1" dirty="0" smtClean="0">
                <a:solidFill>
                  <a:srgbClr val="FFFF00"/>
                </a:solidFill>
                <a:latin typeface="宋体" panose="02010600030101010101" pitchFamily="2" charset="-122"/>
                <a:cs typeface="+mj-cs"/>
                <a:sym typeface="Calibri Light" panose="020F0302020204030204" pitchFamily="34" charset="0"/>
              </a:rPr>
              <a:t>数据库连接</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0307">
                                            <p:txEl>
                                              <p:pRg st="0" end="0"/>
                                            </p:txEl>
                                          </p:spTgt>
                                        </p:tgtEl>
                                        <p:attrNameLst>
                                          <p:attrName>style.visibility</p:attrName>
                                        </p:attrNameLst>
                                      </p:cBhvr>
                                      <p:to>
                                        <p:strVal val="visible"/>
                                      </p:to>
                                    </p:set>
                                    <p:animEffect transition="in" filter="wipe(left)">
                                      <p:cBhvr>
                                        <p:cTn id="7" dur="500"/>
                                        <p:tgtEl>
                                          <p:spTgt spid="610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0307">
                                            <p:txEl>
                                              <p:pRg st="1" end="1"/>
                                            </p:txEl>
                                          </p:spTgt>
                                        </p:tgtEl>
                                        <p:attrNameLst>
                                          <p:attrName>style.visibility</p:attrName>
                                        </p:attrNameLst>
                                      </p:cBhvr>
                                      <p:to>
                                        <p:strVal val="visible"/>
                                      </p:to>
                                    </p:set>
                                    <p:animEffect transition="in" filter="wipe(left)">
                                      <p:cBhvr>
                                        <p:cTn id="12" dur="500"/>
                                        <p:tgtEl>
                                          <p:spTgt spid="6103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0307">
                                            <p:txEl>
                                              <p:pRg st="2" end="2"/>
                                            </p:txEl>
                                          </p:spTgt>
                                        </p:tgtEl>
                                        <p:attrNameLst>
                                          <p:attrName>style.visibility</p:attrName>
                                        </p:attrNameLst>
                                      </p:cBhvr>
                                      <p:to>
                                        <p:strVal val="visible"/>
                                      </p:to>
                                    </p:set>
                                    <p:animEffect transition="in" filter="wipe(left)">
                                      <p:cBhvr>
                                        <p:cTn id="17" dur="500"/>
                                        <p:tgtEl>
                                          <p:spTgt spid="6103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0307">
                                            <p:txEl>
                                              <p:pRg st="3" end="3"/>
                                            </p:txEl>
                                          </p:spTgt>
                                        </p:tgtEl>
                                        <p:attrNameLst>
                                          <p:attrName>style.visibility</p:attrName>
                                        </p:attrNameLst>
                                      </p:cBhvr>
                                      <p:to>
                                        <p:strVal val="visible"/>
                                      </p:to>
                                    </p:set>
                                    <p:animEffect transition="in" filter="wipe(left)">
                                      <p:cBhvr>
                                        <p:cTn id="22" dur="500"/>
                                        <p:tgtEl>
                                          <p:spTgt spid="6103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autoUpdateAnimBg="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7" name="Rectangle 3"/>
          <p:cNvSpPr>
            <a:spLocks noChangeArrowheads="1"/>
          </p:cNvSpPr>
          <p:nvPr/>
        </p:nvSpPr>
        <p:spPr bwMode="auto">
          <a:xfrm>
            <a:off x="857251" y="1340768"/>
            <a:ext cx="9474200" cy="4517124"/>
          </a:xfrm>
          <a:prstGeom prst="rect">
            <a:avLst/>
          </a:prstGeom>
          <a:noFill/>
          <a:ln w="9525">
            <a:noFill/>
            <a:miter lim="800000"/>
          </a:ln>
        </p:spPr>
        <p:txBody>
          <a:bodyPr lIns="92075" tIns="46038" rIns="92075" bIns="46038"/>
          <a:lstStyle/>
          <a:p>
            <a:pPr marL="228600" indent="-228600" algn="just">
              <a:lnSpc>
                <a:spcPct val="150000"/>
              </a:lnSpc>
              <a:spcBef>
                <a:spcPct val="50000"/>
              </a:spcBef>
              <a:spcAft>
                <a:spcPct val="15000"/>
              </a:spcAft>
              <a:buClr>
                <a:schemeClr val="bg1"/>
              </a:buClr>
            </a:pPr>
            <a:r>
              <a:rPr lang="zh-CN" altLang="en-US" sz="2400" dirty="0" smtClean="0">
                <a:solidFill>
                  <a:schemeClr val="tx1">
                    <a:lumMod val="95000"/>
                    <a:lumOff val="5000"/>
                  </a:schemeClr>
                </a:solidFill>
                <a:latin typeface="宋体" panose="02010600030101010101" pitchFamily="2" charset="-122"/>
              </a:rPr>
              <a:t>前面介绍过</a:t>
            </a:r>
            <a:r>
              <a:rPr lang="en-US" altLang="zh-CN" sz="2400" dirty="0" smtClean="0">
                <a:solidFill>
                  <a:schemeClr val="tx1">
                    <a:lumMod val="95000"/>
                    <a:lumOff val="5000"/>
                  </a:schemeClr>
                </a:solidFill>
                <a:latin typeface="宋体" panose="02010600030101010101" pitchFamily="2" charset="-122"/>
              </a:rPr>
              <a:t>python</a:t>
            </a:r>
            <a:r>
              <a:rPr lang="zh-CN" altLang="en-US" sz="2400" dirty="0" smtClean="0">
                <a:solidFill>
                  <a:schemeClr val="tx1">
                    <a:lumMod val="95000"/>
                    <a:lumOff val="5000"/>
                  </a:schemeClr>
                </a:solidFill>
                <a:latin typeface="宋体" panose="02010600030101010101" pitchFamily="2" charset="-122"/>
              </a:rPr>
              <a:t>中文件的读取和写入，利用文件读写可以将</a:t>
            </a:r>
            <a:r>
              <a:rPr lang="en-US" altLang="zh-CN" sz="2400" dirty="0" smtClean="0">
                <a:solidFill>
                  <a:schemeClr val="tx1">
                    <a:lumMod val="95000"/>
                    <a:lumOff val="5000"/>
                  </a:schemeClr>
                </a:solidFill>
                <a:latin typeface="宋体" panose="02010600030101010101" pitchFamily="2" charset="-122"/>
              </a:rPr>
              <a:t>python</a:t>
            </a:r>
            <a:r>
              <a:rPr lang="zh-CN" altLang="en-US" sz="2400" dirty="0" smtClean="0">
                <a:solidFill>
                  <a:schemeClr val="tx1">
                    <a:lumMod val="95000"/>
                    <a:lumOff val="5000"/>
                  </a:schemeClr>
                </a:solidFill>
                <a:latin typeface="宋体" panose="02010600030101010101" pitchFamily="2" charset="-122"/>
              </a:rPr>
              <a:t>程序产</a:t>
            </a:r>
            <a:endParaRPr lang="en-US" altLang="zh-CN" sz="24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r>
              <a:rPr lang="zh-CN" altLang="en-US" sz="2400" dirty="0" smtClean="0">
                <a:solidFill>
                  <a:schemeClr val="tx1">
                    <a:lumMod val="95000"/>
                    <a:lumOff val="5000"/>
                  </a:schemeClr>
                </a:solidFill>
                <a:latin typeface="宋体" panose="02010600030101010101" pitchFamily="2" charset="-122"/>
              </a:rPr>
              <a:t>生的数据保持到文件中</a:t>
            </a:r>
            <a:r>
              <a:rPr lang="en-US" altLang="zh-CN" sz="2400" dirty="0" smtClean="0">
                <a:solidFill>
                  <a:schemeClr val="tx1">
                    <a:lumMod val="95000"/>
                    <a:lumOff val="5000"/>
                  </a:schemeClr>
                </a:solidFill>
                <a:latin typeface="宋体" panose="02010600030101010101" pitchFamily="2" charset="-122"/>
              </a:rPr>
              <a:t>,</a:t>
            </a:r>
            <a:r>
              <a:rPr lang="zh-CN" altLang="en-US" sz="2400" dirty="0" smtClean="0">
                <a:solidFill>
                  <a:schemeClr val="tx1">
                    <a:lumMod val="95000"/>
                    <a:lumOff val="5000"/>
                  </a:schemeClr>
                </a:solidFill>
                <a:latin typeface="宋体" panose="02010600030101010101" pitchFamily="2" charset="-122"/>
              </a:rPr>
              <a:t>但简单的</a:t>
            </a:r>
            <a:r>
              <a:rPr lang="zh-CN" altLang="en-US" sz="2400" dirty="0" smtClean="0">
                <a:solidFill>
                  <a:srgbClr val="FF0000"/>
                </a:solidFill>
                <a:latin typeface="宋体" panose="02010600030101010101" pitchFamily="2" charset="-122"/>
              </a:rPr>
              <a:t>纯文本文件</a:t>
            </a:r>
            <a:r>
              <a:rPr lang="zh-CN" altLang="en-US" sz="2400" dirty="0" smtClean="0">
                <a:solidFill>
                  <a:schemeClr val="tx1">
                    <a:lumMod val="95000"/>
                    <a:lumOff val="5000"/>
                  </a:schemeClr>
                </a:solidFill>
                <a:latin typeface="宋体" panose="02010600030101010101" pitchFamily="2" charset="-122"/>
              </a:rPr>
              <a:t>只能实现</a:t>
            </a:r>
            <a:r>
              <a:rPr lang="zh-CN" altLang="en-US" sz="2400" dirty="0" smtClean="0">
                <a:solidFill>
                  <a:srgbClr val="FF0000"/>
                </a:solidFill>
                <a:latin typeface="宋体" panose="02010600030101010101" pitchFamily="2" charset="-122"/>
              </a:rPr>
              <a:t>有限的功能</a:t>
            </a:r>
            <a:r>
              <a:rPr lang="zh-CN" altLang="en-US" sz="2400" dirty="0" smtClean="0">
                <a:solidFill>
                  <a:schemeClr val="tx1">
                    <a:lumMod val="95000"/>
                    <a:lumOff val="5000"/>
                  </a:schemeClr>
                </a:solidFill>
                <a:latin typeface="宋体" panose="02010600030101010101" pitchFamily="2" charset="-122"/>
              </a:rPr>
              <a:t>，有时可能需要做额外的一些事</a:t>
            </a:r>
            <a:r>
              <a:rPr lang="en-US" altLang="zh-CN" sz="2400" dirty="0" smtClean="0">
                <a:solidFill>
                  <a:schemeClr val="tx1">
                    <a:lumMod val="95000"/>
                    <a:lumOff val="5000"/>
                  </a:schemeClr>
                </a:solidFill>
                <a:latin typeface="宋体" panose="02010600030101010101" pitchFamily="2" charset="-122"/>
              </a:rPr>
              <a:t>,</a:t>
            </a:r>
            <a:r>
              <a:rPr lang="zh-CN" altLang="en-US" sz="2400" dirty="0" smtClean="0">
                <a:solidFill>
                  <a:schemeClr val="tx1">
                    <a:lumMod val="95000"/>
                    <a:lumOff val="5000"/>
                  </a:schemeClr>
                </a:solidFill>
                <a:latin typeface="宋体" panose="02010600030101010101" pitchFamily="2" charset="-122"/>
              </a:rPr>
              <a:t>如：让几个用户同时对某些数据进行读写而不造成任何文件损坏之类的问题，或者希望同时使用多个数据字段或属性进行复杂的搜索可以通过使用</a:t>
            </a:r>
            <a:r>
              <a:rPr lang="zh-CN" altLang="en-US" sz="2400" dirty="0" smtClean="0">
                <a:solidFill>
                  <a:srgbClr val="FF0000"/>
                </a:solidFill>
                <a:latin typeface="宋体" panose="02010600030101010101" pitchFamily="2" charset="-122"/>
              </a:rPr>
              <a:t>标准化的数据库</a:t>
            </a:r>
            <a:r>
              <a:rPr lang="zh-CN" altLang="en-US" sz="2400" dirty="0" smtClean="0">
                <a:solidFill>
                  <a:schemeClr val="tx1">
                    <a:lumMod val="95000"/>
                    <a:lumOff val="5000"/>
                  </a:schemeClr>
                </a:solidFill>
                <a:latin typeface="宋体" panose="02010600030101010101" pitchFamily="2" charset="-122"/>
              </a:rPr>
              <a:t>来实现这样的需求</a:t>
            </a:r>
            <a:endParaRPr lang="en-US" altLang="zh-CN" sz="2400" dirty="0" smtClean="0">
              <a:solidFill>
                <a:schemeClr val="tx1">
                  <a:lumMod val="95000"/>
                  <a:lumOff val="5000"/>
                </a:schemeClr>
              </a:solidFill>
              <a:latin typeface="宋体" panose="02010600030101010101" pitchFamily="2" charset="-122"/>
            </a:endParaRPr>
          </a:p>
        </p:txBody>
      </p:sp>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12.1 </a:t>
            </a:r>
            <a:r>
              <a:rPr lang="zh-CN" altLang="en-US" sz="4000" b="1" dirty="0" smtClean="0">
                <a:solidFill>
                  <a:srgbClr val="FFFF00"/>
                </a:solidFill>
                <a:latin typeface="宋体" panose="02010600030101010101" pitchFamily="2" charset="-122"/>
                <a:cs typeface="+mj-cs"/>
                <a:sym typeface="Calibri Light" panose="020F0302020204030204" pitchFamily="34" charset="0"/>
              </a:rPr>
              <a:t>简介</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0307">
                                            <p:txEl>
                                              <p:pRg st="0" end="0"/>
                                            </p:txEl>
                                          </p:spTgt>
                                        </p:tgtEl>
                                        <p:attrNameLst>
                                          <p:attrName>style.visibility</p:attrName>
                                        </p:attrNameLst>
                                      </p:cBhvr>
                                      <p:to>
                                        <p:strVal val="visible"/>
                                      </p:to>
                                    </p:set>
                                    <p:animEffect transition="in" filter="wipe(left)">
                                      <p:cBhvr>
                                        <p:cTn id="7" dur="500"/>
                                        <p:tgtEl>
                                          <p:spTgt spid="610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0307">
                                            <p:txEl>
                                              <p:pRg st="1" end="1"/>
                                            </p:txEl>
                                          </p:spTgt>
                                        </p:tgtEl>
                                        <p:attrNameLst>
                                          <p:attrName>style.visibility</p:attrName>
                                        </p:attrNameLst>
                                      </p:cBhvr>
                                      <p:to>
                                        <p:strVal val="visible"/>
                                      </p:to>
                                    </p:set>
                                    <p:animEffect transition="in" filter="wipe(left)">
                                      <p:cBhvr>
                                        <p:cTn id="12" dur="500"/>
                                        <p:tgtEl>
                                          <p:spTgt spid="6103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autoUpdateAnimBg="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smtClean="0">
                <a:solidFill>
                  <a:srgbClr val="FFFF00"/>
                </a:solidFill>
                <a:latin typeface="宋体" panose="02010600030101010101" pitchFamily="2" charset="-122"/>
                <a:cs typeface="+mj-cs"/>
                <a:sym typeface="Calibri Light" panose="020F0302020204030204" pitchFamily="34" charset="0"/>
              </a:rPr>
              <a:t>12.2 </a:t>
            </a:r>
            <a:r>
              <a:rPr lang="zh-CN" altLang="en-US" sz="4000" b="1" smtClean="0">
                <a:solidFill>
                  <a:srgbClr val="FFFF00"/>
                </a:solidFill>
                <a:latin typeface="宋体" panose="02010600030101010101" pitchFamily="2" charset="-122"/>
                <a:cs typeface="+mj-cs"/>
                <a:sym typeface="Calibri Light" panose="020F0302020204030204" pitchFamily="34" charset="0"/>
              </a:rPr>
              <a:t>安装</a:t>
            </a:r>
            <a:r>
              <a:rPr lang="en-US" altLang="zh-CN" sz="4000" b="1" smtClean="0">
                <a:solidFill>
                  <a:srgbClr val="FFFF00"/>
                </a:solidFill>
                <a:latin typeface="宋体" panose="02010600030101010101" pitchFamily="2" charset="-122"/>
                <a:cs typeface="+mj-cs"/>
                <a:sym typeface="Calibri Light" panose="020F0302020204030204" pitchFamily="34" charset="0"/>
              </a:rPr>
              <a:t>pymysql</a:t>
            </a:r>
            <a:r>
              <a:rPr lang="zh-CN" altLang="en-US" sz="4000" b="1" smtClean="0">
                <a:solidFill>
                  <a:srgbClr val="FFFF00"/>
                </a:solidFill>
                <a:latin typeface="宋体" panose="02010600030101010101" pitchFamily="2" charset="-122"/>
                <a:cs typeface="+mj-cs"/>
                <a:sym typeface="Calibri Light" panose="020F0302020204030204" pitchFamily="34" charset="0"/>
              </a:rPr>
              <a:t>库</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
        <p:nvSpPr>
          <p:cNvPr id="5" name="TextBox 4"/>
          <p:cNvSpPr txBox="1"/>
          <p:nvPr/>
        </p:nvSpPr>
        <p:spPr>
          <a:xfrm>
            <a:off x="666712" y="1571612"/>
            <a:ext cx="10858576" cy="3657600"/>
          </a:xfrm>
          <a:prstGeom prst="rect">
            <a:avLst/>
          </a:prstGeom>
          <a:noFill/>
        </p:spPr>
        <p:txBody>
          <a:bodyPr wrap="square" rtlCol="0">
            <a:spAutoFit/>
          </a:bodyPr>
          <a:lstStyle/>
          <a:p>
            <a:pPr defTabSz="0" eaLnBrk="1" hangingPunct="1">
              <a:lnSpc>
                <a:spcPct val="90000"/>
              </a:lnSpc>
              <a:spcBef>
                <a:spcPct val="30000"/>
              </a:spcBef>
              <a:spcAft>
                <a:spcPct val="10000"/>
              </a:spcAft>
              <a:buClr>
                <a:srgbClr val="00529B"/>
              </a:buClr>
              <a:defRPr/>
            </a:pPr>
            <a:r>
              <a:rPr lang="zh-CN" altLang="en-US" sz="2400" dirty="0" smtClean="0">
                <a:latin typeface="宋体" panose="02010600030101010101" pitchFamily="2" charset="-122"/>
                <a:sym typeface="+mn-ea"/>
              </a:rPr>
              <a:t>为了使用数据库，首先应该连接到数据库</a:t>
            </a:r>
            <a:endParaRPr lang="en-US" altLang="zh-CN" sz="2400" dirty="0" smtClean="0">
              <a:latin typeface="宋体" panose="02010600030101010101" pitchFamily="2" charset="-122"/>
            </a:endParaRPr>
          </a:p>
          <a:p>
            <a:pPr defTabSz="0" eaLnBrk="1" hangingPunct="1">
              <a:lnSpc>
                <a:spcPct val="90000"/>
              </a:lnSpc>
              <a:spcBef>
                <a:spcPct val="30000"/>
              </a:spcBef>
              <a:spcAft>
                <a:spcPct val="10000"/>
              </a:spcAft>
              <a:buClr>
                <a:srgbClr val="00529B"/>
              </a:buClr>
              <a:defRPr/>
            </a:pPr>
            <a:r>
              <a:rPr lang="en-US" altLang="zh-CN" sz="2400" dirty="0" smtClean="0">
                <a:latin typeface="宋体" panose="02010600030101010101" pitchFamily="2" charset="-122"/>
                <a:sym typeface="+mn-ea"/>
              </a:rPr>
              <a:t>Python</a:t>
            </a:r>
            <a:r>
              <a:rPr lang="zh-CN" altLang="en-US" sz="2400" dirty="0" smtClean="0">
                <a:latin typeface="宋体" panose="02010600030101010101" pitchFamily="2" charset="-122"/>
                <a:sym typeface="+mn-ea"/>
              </a:rPr>
              <a:t>连接数据库需要借助第三方库，</a:t>
            </a:r>
            <a:r>
              <a:rPr lang="zh-CN" altLang="en-US" sz="2400" dirty="0" smtClean="0">
                <a:solidFill>
                  <a:srgbClr val="FF0000"/>
                </a:solidFill>
                <a:latin typeface="宋体" panose="02010600030101010101" pitchFamily="2" charset="-122"/>
                <a:sym typeface="+mn-ea"/>
              </a:rPr>
              <a:t>数据库的类型</a:t>
            </a:r>
            <a:r>
              <a:rPr lang="zh-CN" altLang="en-US" sz="2400" dirty="0" smtClean="0">
                <a:latin typeface="宋体" panose="02010600030101010101" pitchFamily="2" charset="-122"/>
                <a:sym typeface="+mn-ea"/>
              </a:rPr>
              <a:t>不同，使用的第三方库也不一样，本文以</a:t>
            </a:r>
            <a:r>
              <a:rPr lang="en-US" altLang="zh-CN" sz="2400" dirty="0" err="1" smtClean="0">
                <a:solidFill>
                  <a:schemeClr val="accent2"/>
                </a:solidFill>
                <a:latin typeface="宋体" panose="02010600030101010101" pitchFamily="2" charset="-122"/>
                <a:sym typeface="+mn-ea"/>
              </a:rPr>
              <a:t>MySQL</a:t>
            </a:r>
            <a:r>
              <a:rPr lang="zh-CN" altLang="en-US" sz="2400" dirty="0" smtClean="0">
                <a:latin typeface="宋体" panose="02010600030101010101" pitchFamily="2" charset="-122"/>
                <a:sym typeface="+mn-ea"/>
              </a:rPr>
              <a:t>数据库为例</a:t>
            </a:r>
            <a:endParaRPr lang="en-US" altLang="zh-CN" sz="2400" dirty="0" smtClean="0">
              <a:latin typeface="宋体" panose="02010600030101010101" pitchFamily="2" charset="-122"/>
            </a:endParaRPr>
          </a:p>
          <a:p>
            <a:pPr defTabSz="0" eaLnBrk="1" hangingPunct="1">
              <a:lnSpc>
                <a:spcPct val="90000"/>
              </a:lnSpc>
              <a:spcBef>
                <a:spcPct val="30000"/>
              </a:spcBef>
              <a:spcAft>
                <a:spcPct val="10000"/>
              </a:spcAft>
              <a:buClr>
                <a:srgbClr val="00529B"/>
              </a:buClr>
              <a:defRPr/>
            </a:pPr>
            <a:r>
              <a:rPr lang="zh-CN" altLang="en-US" sz="2400" dirty="0" smtClean="0">
                <a:latin typeface="宋体" panose="02010600030101010101" pitchFamily="2" charset="-122"/>
                <a:sym typeface="+mn-ea"/>
              </a:rPr>
              <a:t>连接</a:t>
            </a:r>
            <a:r>
              <a:rPr lang="en-US" altLang="zh-CN" sz="2400" dirty="0" err="1" smtClean="0">
                <a:latin typeface="宋体" panose="02010600030101010101" pitchFamily="2" charset="-122"/>
                <a:sym typeface="+mn-ea"/>
              </a:rPr>
              <a:t>MySQL</a:t>
            </a:r>
            <a:r>
              <a:rPr lang="zh-CN" altLang="en-US" sz="2400" dirty="0" smtClean="0">
                <a:latin typeface="宋体" panose="02010600030101010101" pitchFamily="2" charset="-122"/>
                <a:sym typeface="+mn-ea"/>
              </a:rPr>
              <a:t>数据库的第三方库有多个，常用的是</a:t>
            </a:r>
            <a:r>
              <a:rPr lang="en-US" altLang="zh-CN" sz="2400" dirty="0" err="1" smtClean="0">
                <a:solidFill>
                  <a:schemeClr val="accent2"/>
                </a:solidFill>
                <a:latin typeface="宋体" panose="02010600030101010101" pitchFamily="2" charset="-122"/>
                <a:sym typeface="+mn-ea"/>
              </a:rPr>
              <a:t>pymysql</a:t>
            </a:r>
            <a:endParaRPr lang="en-US" altLang="zh-CN" sz="2400" dirty="0" smtClean="0">
              <a:solidFill>
                <a:schemeClr val="accent2"/>
              </a:solidFill>
              <a:latin typeface="宋体" panose="02010600030101010101" pitchFamily="2" charset="-122"/>
            </a:endParaRPr>
          </a:p>
          <a:p>
            <a:pPr marL="228600" indent="-228600" algn="just">
              <a:lnSpc>
                <a:spcPct val="150000"/>
              </a:lnSpc>
              <a:spcBef>
                <a:spcPct val="50000"/>
              </a:spcBef>
              <a:spcAft>
                <a:spcPct val="15000"/>
              </a:spcAft>
              <a:buClr>
                <a:schemeClr val="bg1"/>
              </a:buClr>
            </a:pPr>
            <a:r>
              <a:rPr lang="zh-CN" altLang="en-US" sz="2400" dirty="0" smtClean="0">
                <a:solidFill>
                  <a:schemeClr val="tx1">
                    <a:lumMod val="95000"/>
                    <a:lumOff val="5000"/>
                  </a:schemeClr>
                </a:solidFill>
                <a:latin typeface="宋体" panose="02010600030101010101" pitchFamily="2" charset="-122"/>
                <a:sym typeface="+mn-ea"/>
              </a:rPr>
              <a:t>第三方库需要单独安装，在</a:t>
            </a:r>
            <a:r>
              <a:rPr lang="en-US" altLang="zh-CN" sz="2400" dirty="0" smtClean="0">
                <a:solidFill>
                  <a:schemeClr val="tx1">
                    <a:lumMod val="95000"/>
                    <a:lumOff val="5000"/>
                  </a:schemeClr>
                </a:solidFill>
                <a:latin typeface="宋体" panose="02010600030101010101" pitchFamily="2" charset="-122"/>
                <a:sym typeface="+mn-ea"/>
              </a:rPr>
              <a:t>Python3</a:t>
            </a:r>
            <a:r>
              <a:rPr lang="zh-CN" altLang="en-US" sz="2400" dirty="0" smtClean="0">
                <a:solidFill>
                  <a:schemeClr val="tx1">
                    <a:lumMod val="95000"/>
                    <a:lumOff val="5000"/>
                  </a:schemeClr>
                </a:solidFill>
                <a:latin typeface="宋体" panose="02010600030101010101" pitchFamily="2" charset="-122"/>
                <a:sym typeface="+mn-ea"/>
              </a:rPr>
              <a:t>中借助</a:t>
            </a:r>
            <a:r>
              <a:rPr lang="en-US" altLang="zh-CN" sz="2400" dirty="0" smtClean="0">
                <a:solidFill>
                  <a:schemeClr val="tx1">
                    <a:lumMod val="95000"/>
                    <a:lumOff val="5000"/>
                  </a:schemeClr>
                </a:solidFill>
                <a:latin typeface="宋体" panose="02010600030101010101" pitchFamily="2" charset="-122"/>
                <a:sym typeface="+mn-ea"/>
              </a:rPr>
              <a:t>pip</a:t>
            </a:r>
            <a:r>
              <a:rPr lang="zh-CN" altLang="en-US" sz="2400" dirty="0" smtClean="0">
                <a:solidFill>
                  <a:schemeClr val="tx1">
                    <a:lumMod val="95000"/>
                    <a:lumOff val="5000"/>
                  </a:schemeClr>
                </a:solidFill>
                <a:latin typeface="宋体" panose="02010600030101010101" pitchFamily="2" charset="-122"/>
                <a:sym typeface="+mn-ea"/>
              </a:rPr>
              <a:t>工具可以完成安装任务</a:t>
            </a:r>
            <a:endParaRPr lang="en-US" altLang="zh-CN" sz="2400" smtClean="0">
              <a:latin typeface="宋体" panose="02010600030101010101" pitchFamily="2" charset="-122"/>
            </a:endParaRPr>
          </a:p>
          <a:p>
            <a:r>
              <a:rPr lang="zh-CN" altLang="en-US" sz="2400" smtClean="0">
                <a:latin typeface="宋体" panose="02010600030101010101" pitchFamily="2" charset="-122"/>
              </a:rPr>
              <a:t>安装步骤：</a:t>
            </a:r>
            <a:endParaRPr lang="en-US" altLang="zh-CN" sz="2400" smtClean="0">
              <a:latin typeface="宋体" panose="02010600030101010101" pitchFamily="2" charset="-122"/>
            </a:endParaRPr>
          </a:p>
          <a:p>
            <a:r>
              <a:rPr sz="2400" smtClean="0">
                <a:latin typeface="宋体" panose="02010600030101010101" pitchFamily="2" charset="-122"/>
              </a:rPr>
              <a:t>cmd命令行下输入命令行</a:t>
            </a:r>
            <a:r>
              <a:rPr sz="2400" smtClean="0">
                <a:solidFill>
                  <a:srgbClr val="FF0000"/>
                </a:solidFill>
                <a:latin typeface="宋体" panose="02010600030101010101" pitchFamily="2" charset="-122"/>
              </a:rPr>
              <a:t>pip install pymysql</a:t>
            </a:r>
            <a:r>
              <a:rPr sz="2400" smtClean="0">
                <a:latin typeface="宋体" panose="02010600030101010101" pitchFamily="2" charset="-122"/>
              </a:rPr>
              <a:t> 进行导包。初次导包时间比较久，耐心等待数据加载完成即可。</a:t>
            </a:r>
            <a:endParaRPr sz="2400" smtClean="0">
              <a:latin typeface="宋体" panose="02010600030101010101" pitchFamily="2" charset="-122"/>
            </a:endParaRPr>
          </a:p>
        </p:txBody>
      </p:sp>
    </p:spTree>
  </p:cSld>
  <p:clrMapOvr>
    <a:masterClrMapping/>
  </p:clrMapOvr>
  <p:transition>
    <p:checke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smtClean="0">
                <a:solidFill>
                  <a:srgbClr val="FFFF00"/>
                </a:solidFill>
                <a:latin typeface="宋体" panose="02010600030101010101" pitchFamily="2" charset="-122"/>
                <a:cs typeface="+mj-cs"/>
                <a:sym typeface="Calibri Light" panose="020F0302020204030204" pitchFamily="34" charset="0"/>
              </a:rPr>
              <a:t>12.3 </a:t>
            </a:r>
            <a:r>
              <a:rPr lang="zh-CN" altLang="en-US" sz="4000" b="1" dirty="0" smtClean="0">
                <a:solidFill>
                  <a:srgbClr val="FFFF00"/>
                </a:solidFill>
                <a:latin typeface="宋体" panose="02010600030101010101" pitchFamily="2" charset="-122"/>
                <a:cs typeface="+mj-cs"/>
                <a:sym typeface="Calibri Light" panose="020F0302020204030204" pitchFamily="34" charset="0"/>
              </a:rPr>
              <a:t>连接</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
        <p:nvSpPr>
          <p:cNvPr id="2" name="Rectangle 3"/>
          <p:cNvSpPr>
            <a:spLocks noChangeArrowheads="1"/>
          </p:cNvSpPr>
          <p:nvPr/>
        </p:nvSpPr>
        <p:spPr bwMode="auto">
          <a:xfrm>
            <a:off x="838200" y="1318895"/>
            <a:ext cx="10180955" cy="4666615"/>
          </a:xfrm>
          <a:prstGeom prst="rect">
            <a:avLst/>
          </a:prstGeom>
          <a:noFill/>
          <a:ln w="9525">
            <a:noFill/>
            <a:miter lim="800000"/>
          </a:ln>
        </p:spPr>
        <p:txBody>
          <a:bodyPr lIns="92075" tIns="46038" rIns="92075" bIns="46038"/>
          <a:p>
            <a:pPr algn="just">
              <a:spcBef>
                <a:spcPts val="400"/>
              </a:spcBef>
              <a:spcAft>
                <a:spcPts val="100"/>
              </a:spcAft>
              <a:buClr>
                <a:schemeClr val="bg1"/>
              </a:buClr>
            </a:pPr>
            <a:r>
              <a:rPr lang="zh-CN" altLang="en-US" sz="2400" dirty="0" smtClean="0">
                <a:latin typeface="宋体" panose="02010600030101010101" pitchFamily="2" charset="-122"/>
              </a:rPr>
              <a:t>成功安装</a:t>
            </a:r>
            <a:r>
              <a:rPr lang="en-US" altLang="zh-CN" sz="2400" dirty="0" err="1" smtClean="0">
                <a:latin typeface="宋体" panose="02010600030101010101" pitchFamily="2" charset="-122"/>
              </a:rPr>
              <a:t>pymysql</a:t>
            </a:r>
            <a:r>
              <a:rPr lang="zh-CN" altLang="en-US" sz="2400" dirty="0" smtClean="0">
                <a:latin typeface="宋体" panose="02010600030101010101" pitchFamily="2" charset="-122"/>
              </a:rPr>
              <a:t>库后，在</a:t>
            </a:r>
            <a:r>
              <a:rPr lang="en-US" altLang="zh-CN" sz="2400" dirty="0" smtClean="0">
                <a:latin typeface="宋体" panose="02010600030101010101" pitchFamily="2" charset="-122"/>
              </a:rPr>
              <a:t>python</a:t>
            </a:r>
            <a:r>
              <a:rPr lang="zh-CN" altLang="en-US" sz="2400" dirty="0" smtClean="0">
                <a:latin typeface="宋体" panose="02010600030101010101" pitchFamily="2" charset="-122"/>
              </a:rPr>
              <a:t>程序中即可引入使用</a:t>
            </a:r>
            <a:endParaRPr lang="en-US" altLang="zh-CN" sz="2400" dirty="0" smtClean="0">
              <a:latin typeface="宋体" panose="02010600030101010101" pitchFamily="2" charset="-122"/>
            </a:endParaRPr>
          </a:p>
          <a:p>
            <a:pPr algn="just">
              <a:spcBef>
                <a:spcPts val="400"/>
              </a:spcBef>
              <a:spcAft>
                <a:spcPts val="100"/>
              </a:spcAft>
              <a:buClr>
                <a:schemeClr val="bg1"/>
              </a:buClr>
            </a:pPr>
            <a:r>
              <a:rPr lang="zh-CN" altLang="en-US" sz="2400" dirty="0" smtClean="0">
                <a:latin typeface="宋体" panose="02010600030101010101" pitchFamily="2" charset="-122"/>
              </a:rPr>
              <a:t>使用</a:t>
            </a:r>
            <a:r>
              <a:rPr lang="en-US" altLang="zh-CN" sz="2400" dirty="0" err="1" smtClean="0">
                <a:latin typeface="宋体" panose="02010600030101010101" pitchFamily="2" charset="-122"/>
              </a:rPr>
              <a:t>pymysql</a:t>
            </a:r>
            <a:r>
              <a:rPr lang="zh-CN" altLang="en-US" sz="2400" dirty="0" smtClean="0">
                <a:latin typeface="宋体" panose="02010600030101010101" pitchFamily="2" charset="-122"/>
              </a:rPr>
              <a:t>模块中的</a:t>
            </a:r>
            <a:r>
              <a:rPr lang="en-US" altLang="zh-CN" sz="2400" dirty="0" smtClean="0">
                <a:latin typeface="宋体" panose="02010600030101010101" pitchFamily="2" charset="-122"/>
              </a:rPr>
              <a:t>connect</a:t>
            </a:r>
            <a:r>
              <a:rPr lang="zh-CN" altLang="en-US" sz="2400" dirty="0" smtClean="0">
                <a:latin typeface="宋体" panose="02010600030101010101" pitchFamily="2" charset="-122"/>
              </a:rPr>
              <a:t>函数，可以建立与</a:t>
            </a:r>
            <a:r>
              <a:rPr lang="en-US" altLang="zh-CN" sz="2400" dirty="0" err="1" smtClean="0">
                <a:latin typeface="宋体" panose="02010600030101010101" pitchFamily="2" charset="-122"/>
              </a:rPr>
              <a:t>MySQL</a:t>
            </a:r>
            <a:r>
              <a:rPr lang="zh-CN" altLang="en-US" sz="2400" dirty="0" smtClean="0">
                <a:latin typeface="宋体" panose="02010600030101010101" pitchFamily="2" charset="-122"/>
              </a:rPr>
              <a:t>数据库的连接</a:t>
            </a:r>
            <a:endParaRPr lang="en-US" altLang="zh-CN" sz="2400" dirty="0" smtClean="0">
              <a:latin typeface="宋体" panose="02010600030101010101" pitchFamily="2" charset="-122"/>
            </a:endParaRPr>
          </a:p>
          <a:p>
            <a:pPr algn="just">
              <a:spcBef>
                <a:spcPts val="400"/>
              </a:spcBef>
              <a:spcAft>
                <a:spcPts val="100"/>
              </a:spcAft>
              <a:buClr>
                <a:schemeClr val="bg1"/>
              </a:buClr>
            </a:pPr>
            <a:r>
              <a:rPr lang="en-US" altLang="zh-CN" sz="2400" dirty="0" smtClean="0">
                <a:latin typeface="宋体" panose="02010600030101010101" pitchFamily="2" charset="-122"/>
              </a:rPr>
              <a:t>connect</a:t>
            </a:r>
            <a:r>
              <a:rPr lang="zh-CN" altLang="en-US" sz="2400" dirty="0" smtClean="0">
                <a:latin typeface="宋体" panose="02010600030101010101" pitchFamily="2" charset="-122"/>
              </a:rPr>
              <a:t>函数返回</a:t>
            </a:r>
            <a:r>
              <a:rPr lang="zh-CN" altLang="en-US" sz="2400" dirty="0" smtClean="0">
                <a:solidFill>
                  <a:schemeClr val="accent2"/>
                </a:solidFill>
                <a:latin typeface="宋体" panose="02010600030101010101" pitchFamily="2" charset="-122"/>
              </a:rPr>
              <a:t>连接对象</a:t>
            </a:r>
            <a:r>
              <a:rPr lang="zh-CN" altLang="en-US" sz="2400" dirty="0" smtClean="0">
                <a:latin typeface="宋体" panose="02010600030101010101" pitchFamily="2" charset="-122"/>
              </a:rPr>
              <a:t>，这个对象表示目前和数据库的会话</a:t>
            </a:r>
            <a:endParaRPr lang="en-US" altLang="zh-CN" sz="2400" dirty="0" smtClean="0">
              <a:latin typeface="宋体" panose="02010600030101010101" pitchFamily="2" charset="-122"/>
            </a:endParaRPr>
          </a:p>
          <a:p>
            <a:pPr algn="just">
              <a:spcBef>
                <a:spcPts val="400"/>
              </a:spcBef>
              <a:spcAft>
                <a:spcPts val="100"/>
              </a:spcAft>
              <a:buClr>
                <a:schemeClr val="bg1"/>
              </a:buClr>
            </a:pPr>
            <a:endParaRPr lang="en-US" altLang="zh-CN" sz="2400" dirty="0" smtClean="0">
              <a:latin typeface="宋体" panose="02010600030101010101" pitchFamily="2" charset="-122"/>
            </a:endParaRPr>
          </a:p>
          <a:p>
            <a:pPr defTabSz="0" eaLnBrk="1" hangingPunct="1">
              <a:spcBef>
                <a:spcPts val="400"/>
              </a:spcBef>
              <a:spcAft>
                <a:spcPts val="100"/>
              </a:spcAft>
              <a:buClr>
                <a:srgbClr val="00529B"/>
              </a:buClr>
              <a:defRPr/>
            </a:pPr>
            <a:r>
              <a:rPr lang="en-US" altLang="zh-CN" sz="2400" dirty="0" smtClean="0">
                <a:latin typeface="宋体" panose="02010600030101010101" pitchFamily="2" charset="-122"/>
              </a:rPr>
              <a:t>connect</a:t>
            </a:r>
            <a:r>
              <a:rPr lang="zh-CN" altLang="en-US" sz="2400" dirty="0" smtClean="0">
                <a:latin typeface="宋体" panose="02010600030101010101" pitchFamily="2" charset="-122"/>
              </a:rPr>
              <a:t>函数的常用参数：</a:t>
            </a:r>
            <a:endParaRPr lang="en-US" altLang="zh-CN" sz="2400" dirty="0" smtClean="0">
              <a:latin typeface="宋体" panose="02010600030101010101" pitchFamily="2" charset="-122"/>
            </a:endParaRPr>
          </a:p>
          <a:p>
            <a:pPr marL="179705" defTabSz="0" eaLnBrk="1" hangingPunct="1">
              <a:spcBef>
                <a:spcPts val="400"/>
              </a:spcBef>
              <a:spcAft>
                <a:spcPts val="100"/>
              </a:spcAft>
              <a:buClr>
                <a:srgbClr val="00529B"/>
              </a:buClr>
              <a:buFont typeface="Arial" panose="020B0604020202020204" pitchFamily="34" charset="0"/>
              <a:buChar char="•"/>
              <a:defRPr/>
            </a:pPr>
            <a:r>
              <a:rPr lang="en-US" altLang="zh-CN" sz="2400" dirty="0" smtClean="0">
                <a:latin typeface="宋体" panose="02010600030101010101" pitchFamily="2" charset="-122"/>
              </a:rPr>
              <a:t>  </a:t>
            </a:r>
            <a:r>
              <a:rPr lang="en-US" altLang="zh-CN" sz="2400" dirty="0" err="1" smtClean="0">
                <a:latin typeface="宋体" panose="02010600030101010101" pitchFamily="2" charset="-122"/>
              </a:rPr>
              <a:t>uesr</a:t>
            </a:r>
            <a:r>
              <a:rPr lang="en-US" altLang="zh-CN" sz="2400" dirty="0" smtClean="0">
                <a:latin typeface="宋体" panose="02010600030101010101" pitchFamily="2" charset="-122"/>
              </a:rPr>
              <a:t>(</a:t>
            </a:r>
            <a:r>
              <a:rPr lang="zh-CN" altLang="en-US" sz="2400" dirty="0" smtClean="0">
                <a:latin typeface="宋体" panose="02010600030101010101" pitchFamily="2" charset="-122"/>
              </a:rPr>
              <a:t>用户名</a:t>
            </a:r>
            <a:r>
              <a:rPr lang="en-US" altLang="zh-CN" sz="2400" dirty="0" smtClean="0">
                <a:latin typeface="宋体" panose="02010600030101010101" pitchFamily="2" charset="-122"/>
              </a:rPr>
              <a:t>)</a:t>
            </a:r>
            <a:endParaRPr lang="en-US" altLang="zh-CN" sz="2400" dirty="0" smtClean="0">
              <a:latin typeface="宋体" panose="02010600030101010101" pitchFamily="2" charset="-122"/>
            </a:endParaRPr>
          </a:p>
          <a:p>
            <a:pPr marL="179705" defTabSz="0" eaLnBrk="1" hangingPunct="1">
              <a:spcBef>
                <a:spcPts val="400"/>
              </a:spcBef>
              <a:spcAft>
                <a:spcPts val="100"/>
              </a:spcAft>
              <a:buClr>
                <a:srgbClr val="00529B"/>
              </a:buClr>
              <a:buFont typeface="Arial" panose="020B0604020202020204" pitchFamily="34" charset="0"/>
              <a:buChar char="•"/>
              <a:defRPr/>
            </a:pPr>
            <a:r>
              <a:rPr lang="en-US" altLang="zh-CN" sz="2400" dirty="0" smtClean="0">
                <a:latin typeface="宋体" panose="02010600030101010101" pitchFamily="2" charset="-122"/>
              </a:rPr>
              <a:t>  </a:t>
            </a:r>
            <a:r>
              <a:rPr lang="en-US" altLang="zh-CN" sz="2400" dirty="0" err="1" smtClean="0">
                <a:latin typeface="宋体" panose="02010600030101010101" pitchFamily="2" charset="-122"/>
              </a:rPr>
              <a:t>passwd</a:t>
            </a:r>
            <a:r>
              <a:rPr lang="en-US" altLang="zh-CN" sz="2400" dirty="0" smtClean="0">
                <a:latin typeface="宋体" panose="02010600030101010101" pitchFamily="2" charset="-122"/>
              </a:rPr>
              <a:t>(</a:t>
            </a:r>
            <a:r>
              <a:rPr lang="zh-CN" altLang="en-US" sz="2400" dirty="0" smtClean="0">
                <a:latin typeface="宋体" panose="02010600030101010101" pitchFamily="2" charset="-122"/>
              </a:rPr>
              <a:t>用户密码</a:t>
            </a:r>
            <a:r>
              <a:rPr lang="en-US" altLang="zh-CN" sz="2400" dirty="0" smtClean="0">
                <a:latin typeface="宋体" panose="02010600030101010101" pitchFamily="2" charset="-122"/>
              </a:rPr>
              <a:t>)</a:t>
            </a:r>
            <a:endParaRPr lang="en-US" altLang="zh-CN" sz="2400" dirty="0" smtClean="0">
              <a:latin typeface="宋体" panose="02010600030101010101" pitchFamily="2" charset="-122"/>
            </a:endParaRPr>
          </a:p>
          <a:p>
            <a:pPr marL="179705" defTabSz="0" eaLnBrk="1" hangingPunct="1">
              <a:spcBef>
                <a:spcPts val="400"/>
              </a:spcBef>
              <a:spcAft>
                <a:spcPts val="100"/>
              </a:spcAft>
              <a:buClr>
                <a:srgbClr val="00529B"/>
              </a:buClr>
              <a:buFont typeface="Arial" panose="020B0604020202020204" pitchFamily="34" charset="0"/>
              <a:buChar char="•"/>
              <a:defRPr/>
            </a:pPr>
            <a:r>
              <a:rPr lang="en-US" altLang="zh-CN" sz="2400" dirty="0" smtClean="0">
                <a:latin typeface="宋体" panose="02010600030101010101" pitchFamily="2" charset="-122"/>
              </a:rPr>
              <a:t>  host(</a:t>
            </a:r>
            <a:r>
              <a:rPr lang="zh-CN" altLang="en-US" sz="2400" dirty="0" smtClean="0">
                <a:latin typeface="宋体" panose="02010600030101010101" pitchFamily="2" charset="-122"/>
              </a:rPr>
              <a:t>主机名</a:t>
            </a:r>
            <a:r>
              <a:rPr lang="en-US" altLang="zh-CN" sz="2400" dirty="0" smtClean="0">
                <a:latin typeface="宋体" panose="02010600030101010101" pitchFamily="2" charset="-122"/>
              </a:rPr>
              <a:t>)</a:t>
            </a:r>
            <a:endParaRPr lang="en-US" altLang="zh-CN" sz="2400" dirty="0" smtClean="0">
              <a:latin typeface="宋体" panose="02010600030101010101" pitchFamily="2" charset="-122"/>
            </a:endParaRPr>
          </a:p>
          <a:p>
            <a:pPr marL="179705" defTabSz="0" eaLnBrk="1" hangingPunct="1">
              <a:spcBef>
                <a:spcPts val="400"/>
              </a:spcBef>
              <a:spcAft>
                <a:spcPts val="100"/>
              </a:spcAft>
              <a:buClr>
                <a:srgbClr val="00529B"/>
              </a:buClr>
              <a:buFont typeface="Arial" panose="020B0604020202020204" pitchFamily="34" charset="0"/>
              <a:buChar char="•"/>
              <a:defRPr/>
            </a:pPr>
            <a:r>
              <a:rPr lang="en-US" altLang="zh-CN" sz="2400" dirty="0" smtClean="0">
                <a:latin typeface="宋体" panose="02010600030101010101" pitchFamily="2" charset="-122"/>
              </a:rPr>
              <a:t>  db(</a:t>
            </a:r>
            <a:r>
              <a:rPr lang="zh-CN" altLang="en-US" sz="2400" dirty="0" smtClean="0">
                <a:latin typeface="宋体" panose="02010600030101010101" pitchFamily="2" charset="-122"/>
              </a:rPr>
              <a:t>数据库名</a:t>
            </a:r>
            <a:r>
              <a:rPr lang="en-US" altLang="zh-CN" sz="2400" dirty="0" smtClean="0">
                <a:latin typeface="宋体" panose="02010600030101010101" pitchFamily="2" charset="-122"/>
              </a:rPr>
              <a:t>)</a:t>
            </a:r>
            <a:endParaRPr lang="en-US" altLang="zh-CN" sz="2400" dirty="0" smtClean="0">
              <a:latin typeface="宋体" panose="02010600030101010101" pitchFamily="2" charset="-122"/>
            </a:endParaRPr>
          </a:p>
          <a:p>
            <a:pPr marL="179705" defTabSz="0" eaLnBrk="1" hangingPunct="1">
              <a:spcBef>
                <a:spcPts val="400"/>
              </a:spcBef>
              <a:spcAft>
                <a:spcPts val="100"/>
              </a:spcAft>
              <a:buClr>
                <a:srgbClr val="00529B"/>
              </a:buClr>
              <a:buFont typeface="Arial" panose="020B0604020202020204" pitchFamily="34" charset="0"/>
              <a:buChar char="•"/>
              <a:defRPr/>
            </a:pPr>
            <a:r>
              <a:rPr lang="en-US" altLang="zh-CN" sz="2400" dirty="0" smtClean="0">
                <a:latin typeface="宋体" panose="02010600030101010101" pitchFamily="2" charset="-122"/>
              </a:rPr>
              <a:t>  port(</a:t>
            </a:r>
            <a:r>
              <a:rPr lang="zh-CN" altLang="en-US" sz="2400" dirty="0" smtClean="0">
                <a:latin typeface="宋体" panose="02010600030101010101" pitchFamily="2" charset="-122"/>
              </a:rPr>
              <a:t>端口</a:t>
            </a:r>
            <a:r>
              <a:rPr lang="en-US" altLang="zh-CN" sz="2400" dirty="0" smtClean="0">
                <a:latin typeface="宋体" panose="02010600030101010101" pitchFamily="2" charset="-122"/>
              </a:rPr>
              <a:t>)</a:t>
            </a:r>
            <a:endParaRPr lang="en-US" altLang="zh-CN" sz="2400" dirty="0" smtClean="0">
              <a:latin typeface="宋体" panose="02010600030101010101" pitchFamily="2" charset="-122"/>
            </a:endParaRPr>
          </a:p>
          <a:p>
            <a:pPr algn="just">
              <a:spcBef>
                <a:spcPts val="400"/>
              </a:spcBef>
              <a:spcAft>
                <a:spcPts val="100"/>
              </a:spcAft>
              <a:buClr>
                <a:schemeClr val="bg1"/>
              </a:buClr>
            </a:pPr>
            <a:endParaRPr lang="en-US" altLang="zh-CN" sz="2400" dirty="0" smtClean="0">
              <a:latin typeface="宋体" panose="02010600030101010101" pitchFamily="2" charset="-122"/>
            </a:endParaRPr>
          </a:p>
          <a:p>
            <a:pPr algn="just">
              <a:spcBef>
                <a:spcPts val="400"/>
              </a:spcBef>
              <a:spcAft>
                <a:spcPts val="100"/>
              </a:spcAft>
              <a:buClr>
                <a:schemeClr val="bg1"/>
              </a:buClr>
            </a:pPr>
            <a:endParaRPr lang="en-US" altLang="zh-CN" sz="2400" dirty="0" smtClean="0">
              <a:latin typeface="宋体" panose="02010600030101010101" pitchFamily="2" charset="-122"/>
            </a:endParaRPr>
          </a:p>
          <a:p>
            <a:pPr algn="just">
              <a:spcBef>
                <a:spcPts val="400"/>
              </a:spcBef>
              <a:spcAft>
                <a:spcPts val="100"/>
              </a:spcAft>
              <a:buClr>
                <a:schemeClr val="bg1"/>
              </a:buClr>
            </a:pPr>
            <a:endParaRPr lang="en-US" altLang="zh-CN" sz="2400" dirty="0" smtClean="0">
              <a:latin typeface="宋体" panose="02010600030101010101" pitchFamily="2" charset="-122"/>
            </a:endParaRPr>
          </a:p>
          <a:p>
            <a:pPr algn="just">
              <a:spcBef>
                <a:spcPts val="400"/>
              </a:spcBef>
              <a:spcAft>
                <a:spcPts val="100"/>
              </a:spcAft>
              <a:buClr>
                <a:schemeClr val="bg1"/>
              </a:buClr>
            </a:pPr>
            <a:endParaRPr lang="en-US" altLang="zh-CN" sz="2400" dirty="0" smtClean="0">
              <a:latin typeface="宋体" panose="02010600030101010101" pitchFamily="2" charset="-122"/>
            </a:endParaRPr>
          </a:p>
          <a:p>
            <a:pPr marL="228600" indent="-228600" algn="just">
              <a:lnSpc>
                <a:spcPct val="150000"/>
              </a:lnSpc>
              <a:spcBef>
                <a:spcPct val="50000"/>
              </a:spcBef>
              <a:spcAft>
                <a:spcPct val="15000"/>
              </a:spcAft>
              <a:buClr>
                <a:schemeClr val="bg1"/>
              </a:buClr>
            </a:pPr>
            <a:endParaRPr lang="en-US" altLang="zh-CN" sz="24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endParaRPr lang="en-US" altLang="zh-CN" sz="2400" dirty="0" smtClean="0">
              <a:solidFill>
                <a:schemeClr val="tx1">
                  <a:lumMod val="95000"/>
                  <a:lumOff val="5000"/>
                </a:schemeClr>
              </a:solidFill>
              <a:latin typeface="宋体" panose="02010600030101010101" pitchFamily="2" charset="-122"/>
            </a:endParaRPr>
          </a:p>
        </p:txBody>
      </p:sp>
      <p:pic>
        <p:nvPicPr>
          <p:cNvPr id="3" name="图片 2"/>
          <p:cNvPicPr>
            <a:picLocks noChangeAspect="1"/>
          </p:cNvPicPr>
          <p:nvPr/>
        </p:nvPicPr>
        <p:blipFill>
          <a:blip r:embed="rId1"/>
          <a:stretch>
            <a:fillRect/>
          </a:stretch>
        </p:blipFill>
        <p:spPr>
          <a:xfrm>
            <a:off x="4758690" y="2997200"/>
            <a:ext cx="5601335" cy="2854325"/>
          </a:xfrm>
          <a:prstGeom prst="rect">
            <a:avLst/>
          </a:prstGeom>
        </p:spPr>
      </p:pic>
    </p:spTree>
  </p:cSld>
  <p:clrMapOvr>
    <a:masterClrMapping/>
  </p:clrMapOvr>
  <p:transition>
    <p:checke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smtClean="0">
                <a:solidFill>
                  <a:srgbClr val="FFFF00"/>
                </a:solidFill>
                <a:latin typeface="宋体" panose="02010600030101010101" pitchFamily="2" charset="-122"/>
                <a:cs typeface="+mj-cs"/>
                <a:sym typeface="Calibri Light" panose="020F0302020204030204" pitchFamily="34" charset="0"/>
              </a:rPr>
              <a:t>12.3 </a:t>
            </a:r>
            <a:r>
              <a:rPr lang="zh-CN" altLang="en-US" sz="4000" b="1" dirty="0" smtClean="0">
                <a:solidFill>
                  <a:srgbClr val="FFFF00"/>
                </a:solidFill>
                <a:latin typeface="宋体" panose="02010600030101010101" pitchFamily="2" charset="-122"/>
                <a:cs typeface="+mj-cs"/>
                <a:sym typeface="Calibri Light" panose="020F0302020204030204" pitchFamily="34" charset="0"/>
              </a:rPr>
              <a:t>连接</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
        <p:nvSpPr>
          <p:cNvPr id="2" name="Rectangle 3"/>
          <p:cNvSpPr>
            <a:spLocks noChangeArrowheads="1"/>
          </p:cNvSpPr>
          <p:nvPr/>
        </p:nvSpPr>
        <p:spPr bwMode="auto">
          <a:xfrm>
            <a:off x="639446" y="1319178"/>
            <a:ext cx="9474200" cy="3817938"/>
          </a:xfrm>
          <a:prstGeom prst="rect">
            <a:avLst/>
          </a:prstGeom>
          <a:noFill/>
          <a:ln w="9525">
            <a:noFill/>
            <a:miter lim="800000"/>
          </a:ln>
        </p:spPr>
        <p:txBody>
          <a:bodyPr lIns="92075" tIns="46038" rIns="92075" bIns="46038"/>
          <a:p>
            <a:pPr marL="347980" indent="-347980" defTabSz="0" eaLnBrk="1" hangingPunct="1">
              <a:lnSpc>
                <a:spcPct val="90000"/>
              </a:lnSpc>
              <a:spcBef>
                <a:spcPct val="30000"/>
              </a:spcBef>
              <a:spcAft>
                <a:spcPct val="10000"/>
              </a:spcAft>
              <a:buClr>
                <a:srgbClr val="00529B"/>
              </a:buClr>
              <a:defRPr/>
            </a:pPr>
            <a:r>
              <a:rPr lang="en-US" altLang="zh-CN" sz="2400" dirty="0" smtClean="0">
                <a:latin typeface="宋体" panose="02010600030101010101" pitchFamily="2" charset="-122"/>
              </a:rPr>
              <a:t>connect</a:t>
            </a:r>
            <a:r>
              <a:rPr lang="zh-CN" altLang="en-US" sz="2400" dirty="0" smtClean="0">
                <a:latin typeface="宋体" panose="02010600030101010101" pitchFamily="2" charset="-122"/>
              </a:rPr>
              <a:t>函数返回的</a:t>
            </a:r>
            <a:r>
              <a:rPr lang="zh-CN" altLang="en-US" sz="2400" dirty="0" smtClean="0">
                <a:solidFill>
                  <a:srgbClr val="FF0000"/>
                </a:solidFill>
                <a:latin typeface="宋体" panose="02010600030101010101" pitchFamily="2" charset="-122"/>
              </a:rPr>
              <a:t>连接对象</a:t>
            </a:r>
            <a:r>
              <a:rPr lang="zh-CN" altLang="en-US" sz="2400" dirty="0" smtClean="0">
                <a:latin typeface="宋体" panose="02010600030101010101" pitchFamily="2" charset="-122"/>
              </a:rPr>
              <a:t>具有几个常用的</a:t>
            </a:r>
            <a:r>
              <a:rPr lang="zh-CN" altLang="en-US" sz="2400" dirty="0" smtClean="0">
                <a:solidFill>
                  <a:srgbClr val="FF0000"/>
                </a:solidFill>
                <a:latin typeface="宋体" panose="02010600030101010101" pitchFamily="2" charset="-122"/>
              </a:rPr>
              <a:t>方法</a:t>
            </a:r>
            <a:r>
              <a:rPr lang="zh-CN" altLang="en-US" sz="2400" dirty="0" smtClean="0">
                <a:latin typeface="宋体" panose="02010600030101010101" pitchFamily="2" charset="-122"/>
              </a:rPr>
              <a:t>：</a:t>
            </a:r>
            <a:endParaRPr lang="en-US" altLang="zh-CN" sz="2400" dirty="0" smtClean="0">
              <a:latin typeface="宋体" panose="02010600030101010101" pitchFamily="2" charset="-122"/>
            </a:endParaRPr>
          </a:p>
          <a:p>
            <a:pPr marL="347980" indent="-347980" defTabSz="0" eaLnBrk="1" hangingPunct="1">
              <a:lnSpc>
                <a:spcPct val="90000"/>
              </a:lnSpc>
              <a:spcBef>
                <a:spcPct val="30000"/>
              </a:spcBef>
              <a:spcAft>
                <a:spcPct val="10000"/>
              </a:spcAft>
              <a:buClr>
                <a:srgbClr val="00529B"/>
              </a:buClr>
              <a:buFont typeface="Times" pitchFamily="18" charset="0"/>
              <a:buChar char="•"/>
              <a:defRPr/>
            </a:pPr>
            <a:r>
              <a:rPr lang="en-US" altLang="zh-CN" sz="2400" dirty="0" smtClean="0">
                <a:latin typeface="宋体" panose="02010600030101010101" pitchFamily="2" charset="-122"/>
              </a:rPr>
              <a:t>close()-</a:t>
            </a:r>
            <a:r>
              <a:rPr lang="zh-CN" altLang="en-US" sz="2400" dirty="0" smtClean="0">
                <a:latin typeface="宋体" panose="02010600030101010101" pitchFamily="2" charset="-122"/>
              </a:rPr>
              <a:t>关闭连接，关闭后，连接对象和它的游标均不可用</a:t>
            </a:r>
            <a:endParaRPr lang="en-US" altLang="zh-CN" sz="2400" dirty="0" smtClean="0">
              <a:latin typeface="宋体" panose="02010600030101010101" pitchFamily="2" charset="-122"/>
            </a:endParaRPr>
          </a:p>
          <a:p>
            <a:pPr marL="347980" indent="-347980" defTabSz="0" eaLnBrk="1" hangingPunct="1">
              <a:lnSpc>
                <a:spcPct val="90000"/>
              </a:lnSpc>
              <a:spcBef>
                <a:spcPct val="30000"/>
              </a:spcBef>
              <a:spcAft>
                <a:spcPct val="10000"/>
              </a:spcAft>
              <a:buClr>
                <a:srgbClr val="00529B"/>
              </a:buClr>
              <a:buFont typeface="Times" pitchFamily="18" charset="0"/>
              <a:buChar char="•"/>
              <a:defRPr/>
            </a:pPr>
            <a:r>
              <a:rPr lang="en-US" altLang="zh-CN" sz="2400" dirty="0" smtClean="0">
                <a:latin typeface="宋体" panose="02010600030101010101" pitchFamily="2" charset="-122"/>
              </a:rPr>
              <a:t>commit()-</a:t>
            </a:r>
            <a:r>
              <a:rPr lang="zh-CN" altLang="en-US" sz="2400" dirty="0" smtClean="0">
                <a:latin typeface="宋体" panose="02010600030101010101" pitchFamily="2" charset="-122"/>
              </a:rPr>
              <a:t>提交事务，对数据库做的数据更改等事务只有提交才会生效</a:t>
            </a:r>
            <a:endParaRPr lang="en-US" altLang="zh-CN" sz="2400" dirty="0" smtClean="0">
              <a:latin typeface="宋体" panose="02010600030101010101" pitchFamily="2" charset="-122"/>
            </a:endParaRPr>
          </a:p>
          <a:p>
            <a:pPr marL="347980" indent="-347980" defTabSz="0" eaLnBrk="1" hangingPunct="1">
              <a:lnSpc>
                <a:spcPct val="90000"/>
              </a:lnSpc>
              <a:spcBef>
                <a:spcPct val="30000"/>
              </a:spcBef>
              <a:spcAft>
                <a:spcPct val="10000"/>
              </a:spcAft>
              <a:buClr>
                <a:srgbClr val="00529B"/>
              </a:buClr>
              <a:buFont typeface="Times" pitchFamily="18" charset="0"/>
              <a:buChar char="•"/>
              <a:defRPr/>
            </a:pPr>
            <a:r>
              <a:rPr lang="en-US" altLang="zh-CN" sz="2400" dirty="0" smtClean="0">
                <a:latin typeface="宋体" panose="02010600030101010101" pitchFamily="2" charset="-122"/>
              </a:rPr>
              <a:t>rollback()-</a:t>
            </a:r>
            <a:r>
              <a:rPr lang="zh-CN" altLang="en-US" sz="2400" dirty="0" smtClean="0">
                <a:latin typeface="宋体" panose="02010600030101010101" pitchFamily="2" charset="-122"/>
              </a:rPr>
              <a:t>回滚事务，撤销所有未提交的事务</a:t>
            </a:r>
            <a:endParaRPr lang="en-US" altLang="zh-CN" sz="2400" dirty="0" smtClean="0">
              <a:latin typeface="宋体" panose="02010600030101010101" pitchFamily="2" charset="-122"/>
            </a:endParaRPr>
          </a:p>
          <a:p>
            <a:pPr marL="347980" indent="-347980" defTabSz="0" eaLnBrk="1" hangingPunct="1">
              <a:lnSpc>
                <a:spcPct val="90000"/>
              </a:lnSpc>
              <a:spcBef>
                <a:spcPct val="30000"/>
              </a:spcBef>
              <a:spcAft>
                <a:spcPct val="10000"/>
              </a:spcAft>
              <a:buClr>
                <a:srgbClr val="00529B"/>
              </a:buClr>
              <a:buFont typeface="Times" pitchFamily="18" charset="0"/>
              <a:buChar char="•"/>
              <a:defRPr/>
            </a:pPr>
            <a:r>
              <a:rPr lang="en-US" altLang="zh-CN" sz="2400" dirty="0" smtClean="0">
                <a:latin typeface="宋体" panose="02010600030101010101" pitchFamily="2" charset="-122"/>
              </a:rPr>
              <a:t>cursor()-</a:t>
            </a:r>
            <a:r>
              <a:rPr lang="zh-CN" altLang="en-US" sz="2400" dirty="0" smtClean="0">
                <a:latin typeface="宋体" panose="02010600030101010101" pitchFamily="2" charset="-122"/>
              </a:rPr>
              <a:t>返回连接的游标对象</a:t>
            </a:r>
            <a:endParaRPr lang="en-US" altLang="zh-CN" sz="2400" dirty="0" smtClean="0">
              <a:latin typeface="宋体" panose="02010600030101010101" pitchFamily="2" charset="-122"/>
            </a:endParaRPr>
          </a:p>
          <a:p>
            <a:pPr marL="228600" indent="-228600" algn="just">
              <a:lnSpc>
                <a:spcPct val="150000"/>
              </a:lnSpc>
              <a:spcBef>
                <a:spcPct val="50000"/>
              </a:spcBef>
              <a:spcAft>
                <a:spcPct val="15000"/>
              </a:spcAft>
              <a:buClr>
                <a:schemeClr val="bg1"/>
              </a:buClr>
            </a:pPr>
            <a:endParaRPr lang="en-US" altLang="zh-CN" sz="24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endParaRPr lang="en-US" altLang="zh-CN" sz="2400" dirty="0" smtClean="0">
              <a:solidFill>
                <a:schemeClr val="tx1">
                  <a:lumMod val="95000"/>
                  <a:lumOff val="5000"/>
                </a:schemeClr>
              </a:solidFill>
              <a:latin typeface="宋体" panose="02010600030101010101" pitchFamily="2" charset="-122"/>
            </a:endParaRPr>
          </a:p>
        </p:txBody>
      </p:sp>
    </p:spTree>
  </p:cSld>
  <p:clrMapOvr>
    <a:masterClrMapping/>
  </p:clrMapOvr>
  <p:transition>
    <p:checke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smtClean="0">
                <a:solidFill>
                  <a:srgbClr val="FFFF00"/>
                </a:solidFill>
                <a:latin typeface="宋体" panose="02010600030101010101" pitchFamily="2" charset="-122"/>
                <a:cs typeface="+mj-cs"/>
                <a:sym typeface="Calibri Light" panose="020F0302020204030204" pitchFamily="34" charset="0"/>
              </a:rPr>
              <a:t>12.4 </a:t>
            </a:r>
            <a:r>
              <a:rPr lang="zh-CN" altLang="en-US" sz="4000" b="1" dirty="0" smtClean="0">
                <a:solidFill>
                  <a:srgbClr val="FFFF00"/>
                </a:solidFill>
                <a:latin typeface="宋体" panose="02010600030101010101" pitchFamily="2" charset="-122"/>
                <a:cs typeface="+mj-cs"/>
                <a:sym typeface="Calibri Light" panose="020F0302020204030204" pitchFamily="34" charset="0"/>
              </a:rPr>
              <a:t>游标</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
        <p:nvSpPr>
          <p:cNvPr id="2" name="Rectangle 3"/>
          <p:cNvSpPr>
            <a:spLocks noChangeArrowheads="1"/>
          </p:cNvSpPr>
          <p:nvPr/>
        </p:nvSpPr>
        <p:spPr bwMode="auto">
          <a:xfrm>
            <a:off x="838201" y="1519838"/>
            <a:ext cx="9474200" cy="3817938"/>
          </a:xfrm>
          <a:prstGeom prst="rect">
            <a:avLst/>
          </a:prstGeom>
          <a:noFill/>
          <a:ln w="9525">
            <a:noFill/>
            <a:miter lim="800000"/>
          </a:ln>
        </p:spPr>
        <p:txBody>
          <a:bodyPr lIns="92075" tIns="46038" rIns="92075" bIns="46038"/>
          <a:p>
            <a:pPr defTabSz="0" eaLnBrk="1" hangingPunct="1">
              <a:lnSpc>
                <a:spcPct val="90000"/>
              </a:lnSpc>
              <a:spcBef>
                <a:spcPct val="30000"/>
              </a:spcBef>
              <a:spcAft>
                <a:spcPct val="10000"/>
              </a:spcAft>
              <a:buClr>
                <a:srgbClr val="00529B"/>
              </a:buClr>
              <a:defRPr/>
            </a:pPr>
            <a:r>
              <a:rPr lang="zh-CN" altLang="en-US" sz="2400" dirty="0" smtClean="0">
                <a:latin typeface="宋体" panose="02010600030101010101" pitchFamily="2" charset="-122"/>
              </a:rPr>
              <a:t>建立数据库连接后，就可以执行</a:t>
            </a:r>
            <a:r>
              <a:rPr lang="en-US" altLang="zh-CN" sz="2400" dirty="0" smtClean="0">
                <a:latin typeface="宋体" panose="02010600030101010101" pitchFamily="2" charset="-122"/>
              </a:rPr>
              <a:t>SQL</a:t>
            </a:r>
            <a:r>
              <a:rPr lang="zh-CN" altLang="en-US" sz="2400" dirty="0" smtClean="0">
                <a:latin typeface="宋体" panose="02010600030101010101" pitchFamily="2" charset="-122"/>
              </a:rPr>
              <a:t>查询并检查结果，这些都是通过</a:t>
            </a:r>
            <a:r>
              <a:rPr lang="zh-CN" altLang="en-US" sz="2400" dirty="0" smtClean="0">
                <a:solidFill>
                  <a:srgbClr val="FF0000"/>
                </a:solidFill>
                <a:latin typeface="宋体" panose="02010600030101010101" pitchFamily="2" charset="-122"/>
              </a:rPr>
              <a:t>游标</a:t>
            </a:r>
            <a:r>
              <a:rPr lang="en-US" altLang="zh-CN" sz="2400" dirty="0" smtClean="0">
                <a:solidFill>
                  <a:srgbClr val="FF0000"/>
                </a:solidFill>
                <a:latin typeface="宋体" panose="02010600030101010101" pitchFamily="2" charset="-122"/>
              </a:rPr>
              <a:t>cursor</a:t>
            </a:r>
            <a:r>
              <a:rPr lang="zh-CN" altLang="en-US" sz="2400" dirty="0" smtClean="0">
                <a:latin typeface="宋体" panose="02010600030101010101" pitchFamily="2" charset="-122"/>
              </a:rPr>
              <a:t>来完成的</a:t>
            </a:r>
            <a:endParaRPr lang="zh-CN" altLang="en-US" sz="2400" dirty="0" smtClean="0">
              <a:latin typeface="宋体" panose="02010600030101010101" pitchFamily="2" charset="-122"/>
            </a:endParaRPr>
          </a:p>
          <a:p>
            <a:pPr defTabSz="0" eaLnBrk="1" hangingPunct="1">
              <a:lnSpc>
                <a:spcPct val="90000"/>
              </a:lnSpc>
              <a:spcBef>
                <a:spcPct val="30000"/>
              </a:spcBef>
              <a:spcAft>
                <a:spcPct val="10000"/>
              </a:spcAft>
              <a:buClr>
                <a:srgbClr val="00529B"/>
              </a:buClr>
              <a:defRPr/>
            </a:pPr>
            <a:endParaRPr lang="en-US" altLang="zh-CN" sz="2400" dirty="0" smtClean="0">
              <a:latin typeface="宋体" panose="02010600030101010101" pitchFamily="2" charset="-122"/>
            </a:endParaRPr>
          </a:p>
          <a:p>
            <a:pPr defTabSz="0" eaLnBrk="1" hangingPunct="1">
              <a:lnSpc>
                <a:spcPct val="90000"/>
              </a:lnSpc>
              <a:spcBef>
                <a:spcPct val="30000"/>
              </a:spcBef>
              <a:spcAft>
                <a:spcPct val="10000"/>
              </a:spcAft>
              <a:buClr>
                <a:srgbClr val="00529B"/>
              </a:buClr>
              <a:defRPr/>
            </a:pPr>
            <a:r>
              <a:rPr lang="zh-CN" altLang="en-US" sz="2400" dirty="0" smtClean="0">
                <a:latin typeface="宋体" panose="02010600030101010101" pitchFamily="2" charset="-122"/>
              </a:rPr>
              <a:t>游标用来执行命令的方法：</a:t>
            </a:r>
            <a:endParaRPr lang="en-US" altLang="zh-CN" sz="2400" dirty="0" smtClean="0">
              <a:latin typeface="宋体" panose="02010600030101010101" pitchFamily="2" charset="-122"/>
            </a:endParaRPr>
          </a:p>
          <a:p>
            <a:pPr marL="457200" indent="-457200" defTabSz="0" eaLnBrk="1" hangingPunct="1">
              <a:spcBef>
                <a:spcPts val="400"/>
              </a:spcBef>
              <a:spcAft>
                <a:spcPts val="100"/>
              </a:spcAft>
              <a:buClr>
                <a:srgbClr val="00529B"/>
              </a:buClr>
              <a:buFont typeface="Arial" panose="020B0604020202020204" pitchFamily="34" charset="0"/>
              <a:buChar char="•"/>
              <a:defRPr/>
            </a:pPr>
            <a:r>
              <a:rPr lang="en-US" altLang="zh-CN" sz="2400" dirty="0" smtClean="0">
                <a:latin typeface="宋体" panose="02010600030101010101" pitchFamily="2" charset="-122"/>
              </a:rPr>
              <a:t>execute()</a:t>
            </a:r>
            <a:r>
              <a:rPr lang="zh-CN" altLang="en-US" sz="2400" dirty="0" smtClean="0">
                <a:latin typeface="宋体" panose="02010600030101010101" pitchFamily="2" charset="-122"/>
              </a:rPr>
              <a:t>：执行单条</a:t>
            </a:r>
            <a:r>
              <a:rPr lang="en-US" altLang="zh-CN" sz="2400" dirty="0" err="1" smtClean="0">
                <a:latin typeface="宋体" panose="02010600030101010101" pitchFamily="2" charset="-122"/>
              </a:rPr>
              <a:t>sql</a:t>
            </a:r>
            <a:r>
              <a:rPr lang="zh-CN" altLang="en-US" sz="2400" dirty="0" smtClean="0">
                <a:latin typeface="宋体" panose="02010600030101010101" pitchFamily="2" charset="-122"/>
              </a:rPr>
              <a:t>语句</a:t>
            </a:r>
            <a:r>
              <a:rPr lang="en-US" altLang="zh-CN" sz="2400" dirty="0" smtClean="0">
                <a:latin typeface="宋体" panose="02010600030101010101" pitchFamily="2" charset="-122"/>
              </a:rPr>
              <a:t>(</a:t>
            </a:r>
            <a:r>
              <a:rPr lang="zh-CN" altLang="en-US" sz="2400" dirty="0" smtClean="0">
                <a:latin typeface="宋体" panose="02010600030101010101" pitchFamily="2" charset="-122"/>
              </a:rPr>
              <a:t>可能带有参数</a:t>
            </a:r>
            <a:r>
              <a:rPr lang="en-US" altLang="zh-CN" sz="2400" dirty="0" smtClean="0">
                <a:latin typeface="宋体" panose="02010600030101010101" pitchFamily="2" charset="-122"/>
              </a:rPr>
              <a:t>)</a:t>
            </a:r>
            <a:r>
              <a:rPr lang="zh-CN" altLang="en-US" sz="2400" dirty="0" smtClean="0">
                <a:latin typeface="宋体" panose="02010600030101010101" pitchFamily="2" charset="-122"/>
              </a:rPr>
              <a:t>，返回值为受影响的行数</a:t>
            </a:r>
            <a:endParaRPr lang="en-US" altLang="zh-CN" sz="2400" dirty="0" smtClean="0">
              <a:latin typeface="宋体" panose="02010600030101010101" pitchFamily="2" charset="-122"/>
            </a:endParaRPr>
          </a:p>
          <a:p>
            <a:pPr marL="457200" indent="-457200" defTabSz="0" eaLnBrk="1" hangingPunct="1">
              <a:spcBef>
                <a:spcPts val="400"/>
              </a:spcBef>
              <a:spcAft>
                <a:spcPts val="100"/>
              </a:spcAft>
              <a:buClr>
                <a:srgbClr val="00529B"/>
              </a:buClr>
              <a:buFont typeface="Arial" panose="020B0604020202020204" pitchFamily="34" charset="0"/>
              <a:buChar char="•"/>
              <a:defRPr/>
            </a:pPr>
            <a:r>
              <a:rPr lang="en-US" altLang="zh-CN" sz="2400" dirty="0" err="1" smtClean="0">
                <a:latin typeface="宋体" panose="02010600030101010101" pitchFamily="2" charset="-122"/>
              </a:rPr>
              <a:t>executemany</a:t>
            </a:r>
            <a:r>
              <a:rPr lang="en-US" altLang="zh-CN" sz="2400" dirty="0" smtClean="0">
                <a:latin typeface="宋体" panose="02010600030101010101" pitchFamily="2" charset="-122"/>
              </a:rPr>
              <a:t>()</a:t>
            </a:r>
            <a:r>
              <a:rPr lang="zh-CN" altLang="en-US" sz="2400" dirty="0" smtClean="0">
                <a:latin typeface="宋体" panose="02010600030101010101" pitchFamily="2" charset="-122"/>
              </a:rPr>
              <a:t>：对序列中的每个参数集执行</a:t>
            </a:r>
            <a:r>
              <a:rPr lang="en-US" altLang="zh-CN" sz="2400" dirty="0" err="1" smtClean="0">
                <a:latin typeface="宋体" panose="02010600030101010101" pitchFamily="2" charset="-122"/>
              </a:rPr>
              <a:t>sql</a:t>
            </a:r>
            <a:r>
              <a:rPr lang="zh-CN" altLang="en-US" sz="2400" dirty="0" smtClean="0">
                <a:latin typeface="宋体" panose="02010600030101010101" pitchFamily="2" charset="-122"/>
              </a:rPr>
              <a:t>语句，返回值为受影响的行数</a:t>
            </a:r>
            <a:endParaRPr lang="en-US" altLang="zh-CN" sz="2400" dirty="0" smtClean="0">
              <a:latin typeface="宋体" panose="02010600030101010101" pitchFamily="2" charset="-122"/>
            </a:endParaRPr>
          </a:p>
          <a:p>
            <a:pPr marL="457200" indent="-457200" defTabSz="0" eaLnBrk="1" hangingPunct="1">
              <a:spcBef>
                <a:spcPts val="400"/>
              </a:spcBef>
              <a:spcAft>
                <a:spcPts val="100"/>
              </a:spcAft>
              <a:buClr>
                <a:srgbClr val="00529B"/>
              </a:buClr>
              <a:buFont typeface="Arial" panose="020B0604020202020204" pitchFamily="34" charset="0"/>
              <a:buChar char="•"/>
              <a:defRPr/>
            </a:pPr>
            <a:r>
              <a:rPr lang="en-US" altLang="zh-CN" sz="2400" dirty="0" err="1" smtClean="0">
                <a:latin typeface="宋体" panose="02010600030101010101" pitchFamily="2" charset="-122"/>
              </a:rPr>
              <a:t>callproc</a:t>
            </a:r>
            <a:r>
              <a:rPr lang="en-US" altLang="zh-CN" sz="2400" dirty="0" smtClean="0">
                <a:latin typeface="宋体" panose="02010600030101010101" pitchFamily="2" charset="-122"/>
              </a:rPr>
              <a:t>()</a:t>
            </a:r>
            <a:r>
              <a:rPr lang="zh-CN" altLang="en-US" sz="2400" dirty="0" smtClean="0">
                <a:latin typeface="宋体" panose="02010600030101010101" pitchFamily="2" charset="-122"/>
              </a:rPr>
              <a:t>：用来执行存储过程，接收的参数为存储过程名和参数列表，返回值为受影响的行数</a:t>
            </a:r>
            <a:endParaRPr lang="en-US" altLang="zh-CN" sz="2400" dirty="0" smtClean="0">
              <a:latin typeface="宋体" panose="02010600030101010101" pitchFamily="2" charset="-122"/>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lef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left)">
                                      <p:cBhvr>
                                        <p:cTn id="2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smtClean="0">
                <a:solidFill>
                  <a:srgbClr val="FFFF00"/>
                </a:solidFill>
                <a:latin typeface="宋体" panose="02010600030101010101" pitchFamily="2" charset="-122"/>
                <a:cs typeface="+mj-cs"/>
                <a:sym typeface="Calibri Light" panose="020F0302020204030204" pitchFamily="34" charset="0"/>
              </a:rPr>
              <a:t>12.4 </a:t>
            </a:r>
            <a:r>
              <a:rPr lang="zh-CN" altLang="en-US" sz="4000" b="1" dirty="0" smtClean="0">
                <a:solidFill>
                  <a:srgbClr val="FFFF00"/>
                </a:solidFill>
                <a:latin typeface="宋体" panose="02010600030101010101" pitchFamily="2" charset="-122"/>
                <a:cs typeface="+mj-cs"/>
                <a:sym typeface="Calibri Light" panose="020F0302020204030204" pitchFamily="34" charset="0"/>
              </a:rPr>
              <a:t>游标</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
        <p:nvSpPr>
          <p:cNvPr id="610307" name="Rectangle 3"/>
          <p:cNvSpPr>
            <a:spLocks noChangeArrowheads="1"/>
          </p:cNvSpPr>
          <p:nvPr/>
        </p:nvSpPr>
        <p:spPr bwMode="auto">
          <a:xfrm>
            <a:off x="639446" y="1275363"/>
            <a:ext cx="9474200" cy="3817938"/>
          </a:xfrm>
          <a:prstGeom prst="rect">
            <a:avLst/>
          </a:prstGeom>
          <a:noFill/>
          <a:ln w="9525">
            <a:noFill/>
            <a:miter lim="800000"/>
          </a:ln>
        </p:spPr>
        <p:txBody>
          <a:bodyPr lIns="92075" tIns="46038" rIns="92075" bIns="46038"/>
          <a:p>
            <a:pPr marL="347980" indent="-347980" defTabSz="0" eaLnBrk="1" hangingPunct="1">
              <a:lnSpc>
                <a:spcPct val="90000"/>
              </a:lnSpc>
              <a:spcBef>
                <a:spcPct val="30000"/>
              </a:spcBef>
              <a:spcAft>
                <a:spcPct val="10000"/>
              </a:spcAft>
              <a:buClr>
                <a:srgbClr val="00529B"/>
              </a:buClr>
              <a:defRPr/>
            </a:pPr>
            <a:r>
              <a:rPr lang="zh-CN" altLang="en-US" sz="2400" dirty="0" smtClean="0">
                <a:latin typeface="宋体" panose="02010600030101010101" pitchFamily="2" charset="-122"/>
              </a:rPr>
              <a:t>游标用来</a:t>
            </a:r>
            <a:r>
              <a:rPr lang="zh-CN" altLang="en-US" sz="2400" dirty="0" smtClean="0">
                <a:solidFill>
                  <a:srgbClr val="FF0000"/>
                </a:solidFill>
                <a:latin typeface="宋体" panose="02010600030101010101" pitchFamily="2" charset="-122"/>
              </a:rPr>
              <a:t>接收返回值</a:t>
            </a:r>
            <a:r>
              <a:rPr lang="zh-CN" altLang="en-US" sz="2400" dirty="0" smtClean="0">
                <a:latin typeface="宋体" panose="02010600030101010101" pitchFamily="2" charset="-122"/>
              </a:rPr>
              <a:t>的方法：</a:t>
            </a:r>
            <a:endParaRPr lang="en-US" altLang="zh-CN" sz="2400" dirty="0" smtClean="0">
              <a:latin typeface="宋体" panose="02010600030101010101" pitchFamily="2" charset="-122"/>
            </a:endParaRPr>
          </a:p>
          <a:p>
            <a:pPr marL="347980" indent="-347980" defTabSz="0" eaLnBrk="1" hangingPunct="1">
              <a:lnSpc>
                <a:spcPct val="90000"/>
              </a:lnSpc>
              <a:spcBef>
                <a:spcPct val="30000"/>
              </a:spcBef>
              <a:spcAft>
                <a:spcPct val="10000"/>
              </a:spcAft>
              <a:buClr>
                <a:srgbClr val="00529B"/>
              </a:buClr>
              <a:buFont typeface="Times" pitchFamily="18" charset="0"/>
              <a:buChar char="•"/>
              <a:defRPr/>
            </a:pPr>
            <a:r>
              <a:rPr lang="en-US" altLang="zh-CN" sz="2400" dirty="0" err="1" smtClean="0">
                <a:latin typeface="宋体" panose="02010600030101010101" pitchFamily="2" charset="-122"/>
              </a:rPr>
              <a:t>fetchone</a:t>
            </a:r>
            <a:r>
              <a:rPr lang="en-US" altLang="zh-CN" sz="2400" dirty="0" smtClean="0">
                <a:latin typeface="宋体" panose="02010600030101010101" pitchFamily="2" charset="-122"/>
              </a:rPr>
              <a:t>()</a:t>
            </a:r>
            <a:r>
              <a:rPr lang="zh-CN" altLang="en-US" sz="2400" dirty="0" smtClean="0">
                <a:latin typeface="宋体" panose="02010600030101010101" pitchFamily="2" charset="-122"/>
              </a:rPr>
              <a:t>：获取结果集中的下一行，保存为元组或</a:t>
            </a:r>
            <a:r>
              <a:rPr lang="en-US" altLang="zh-CN" sz="2400" dirty="0" smtClean="0">
                <a:latin typeface="宋体" panose="02010600030101010101" pitchFamily="2" charset="-122"/>
              </a:rPr>
              <a:t>None</a:t>
            </a:r>
            <a:endParaRPr lang="en-US" altLang="zh-CN" sz="2400" dirty="0" smtClean="0">
              <a:latin typeface="宋体" panose="02010600030101010101" pitchFamily="2" charset="-122"/>
            </a:endParaRPr>
          </a:p>
          <a:p>
            <a:pPr marL="347980" indent="-347980" defTabSz="0" eaLnBrk="1" hangingPunct="1">
              <a:lnSpc>
                <a:spcPct val="90000"/>
              </a:lnSpc>
              <a:spcBef>
                <a:spcPct val="30000"/>
              </a:spcBef>
              <a:spcAft>
                <a:spcPct val="10000"/>
              </a:spcAft>
              <a:buClr>
                <a:srgbClr val="00529B"/>
              </a:buClr>
              <a:buFont typeface="Times" pitchFamily="18" charset="0"/>
              <a:buChar char="•"/>
              <a:defRPr/>
            </a:pPr>
            <a:r>
              <a:rPr lang="en-US" altLang="zh-CN" sz="2400" dirty="0" err="1" smtClean="0">
                <a:latin typeface="宋体" panose="02010600030101010101" pitchFamily="2" charset="-122"/>
              </a:rPr>
              <a:t>fetchall</a:t>
            </a:r>
            <a:r>
              <a:rPr lang="en-US" altLang="zh-CN" sz="2400" dirty="0" smtClean="0">
                <a:latin typeface="宋体" panose="02010600030101010101" pitchFamily="2" charset="-122"/>
              </a:rPr>
              <a:t>()</a:t>
            </a:r>
            <a:r>
              <a:rPr lang="zh-CN" altLang="en-US" sz="2400" dirty="0" smtClean="0">
                <a:latin typeface="宋体" panose="02010600030101010101" pitchFamily="2" charset="-122"/>
              </a:rPr>
              <a:t>：获取结果集中的所有行，每行作为一个元组保存在元组中</a:t>
            </a:r>
            <a:endParaRPr lang="en-US" altLang="zh-CN" sz="2400" dirty="0" smtClean="0">
              <a:latin typeface="宋体" panose="02010600030101010101" pitchFamily="2" charset="-122"/>
            </a:endParaRPr>
          </a:p>
          <a:p>
            <a:pPr marL="347980" indent="-347980" defTabSz="0" eaLnBrk="1" hangingPunct="1">
              <a:lnSpc>
                <a:spcPct val="90000"/>
              </a:lnSpc>
              <a:spcBef>
                <a:spcPct val="30000"/>
              </a:spcBef>
              <a:spcAft>
                <a:spcPct val="10000"/>
              </a:spcAft>
              <a:buClr>
                <a:srgbClr val="00529B"/>
              </a:buClr>
              <a:buFont typeface="Times" pitchFamily="18" charset="0"/>
              <a:buChar char="•"/>
              <a:defRPr/>
            </a:pPr>
            <a:r>
              <a:rPr lang="en-US" altLang="zh-CN" sz="2400" dirty="0" err="1" smtClean="0">
                <a:latin typeface="宋体" panose="02010600030101010101" pitchFamily="2" charset="-122"/>
              </a:rPr>
              <a:t>fetchmany</a:t>
            </a:r>
            <a:r>
              <a:rPr lang="en-US" altLang="zh-CN" sz="2400" dirty="0" smtClean="0">
                <a:latin typeface="宋体" panose="02010600030101010101" pitchFamily="2" charset="-122"/>
              </a:rPr>
              <a:t>()</a:t>
            </a:r>
            <a:r>
              <a:rPr lang="zh-CN" altLang="en-US" sz="2400" dirty="0" smtClean="0">
                <a:latin typeface="宋体" panose="02010600030101010101" pitchFamily="2" charset="-122"/>
              </a:rPr>
              <a:t>：获取结果集中指定的多行</a:t>
            </a:r>
            <a:endParaRPr lang="en-US" altLang="zh-CN" sz="2400" dirty="0" smtClean="0">
              <a:latin typeface="宋体" panose="02010600030101010101" pitchFamily="2" charset="-122"/>
            </a:endParaRPr>
          </a:p>
          <a:p>
            <a:pPr marL="347980" indent="-347980" defTabSz="0" eaLnBrk="1" hangingPunct="1">
              <a:lnSpc>
                <a:spcPct val="90000"/>
              </a:lnSpc>
              <a:spcBef>
                <a:spcPct val="30000"/>
              </a:spcBef>
              <a:spcAft>
                <a:spcPct val="10000"/>
              </a:spcAft>
              <a:buClr>
                <a:srgbClr val="00529B"/>
              </a:buClr>
              <a:defRPr/>
            </a:pPr>
            <a:endParaRPr lang="en-US" altLang="zh-CN" sz="2400" dirty="0" smtClean="0">
              <a:latin typeface="宋体" panose="02010600030101010101" pitchFamily="2" charset="-122"/>
            </a:endParaRPr>
          </a:p>
          <a:p>
            <a:pPr marL="347980" indent="-347980" defTabSz="0" eaLnBrk="1" hangingPunct="1">
              <a:lnSpc>
                <a:spcPct val="90000"/>
              </a:lnSpc>
              <a:spcBef>
                <a:spcPct val="30000"/>
              </a:spcBef>
              <a:spcAft>
                <a:spcPct val="10000"/>
              </a:spcAft>
              <a:buClr>
                <a:srgbClr val="00529B"/>
              </a:buClr>
              <a:defRPr/>
            </a:pPr>
            <a:r>
              <a:rPr lang="zh-CN" altLang="en-US" sz="2400" dirty="0" smtClean="0">
                <a:latin typeface="宋体" panose="02010600030101010101" pitchFamily="2" charset="-122"/>
              </a:rPr>
              <a:t>游标的其他方法：</a:t>
            </a:r>
            <a:endParaRPr lang="en-US" altLang="zh-CN" sz="2400" dirty="0" smtClean="0">
              <a:latin typeface="宋体" panose="02010600030101010101" pitchFamily="2" charset="-122"/>
            </a:endParaRPr>
          </a:p>
          <a:p>
            <a:pPr marL="347980" indent="-347980" defTabSz="0" eaLnBrk="1" hangingPunct="1">
              <a:lnSpc>
                <a:spcPct val="90000"/>
              </a:lnSpc>
              <a:spcBef>
                <a:spcPct val="30000"/>
              </a:spcBef>
              <a:spcAft>
                <a:spcPct val="10000"/>
              </a:spcAft>
              <a:buClr>
                <a:srgbClr val="00529B"/>
              </a:buClr>
              <a:buFont typeface="Times" pitchFamily="18" charset="0"/>
              <a:buChar char="•"/>
              <a:defRPr/>
            </a:pPr>
            <a:r>
              <a:rPr lang="en-US" altLang="zh-CN" sz="2400" dirty="0" smtClean="0">
                <a:latin typeface="宋体" panose="02010600030101010101" pitchFamily="2" charset="-122"/>
              </a:rPr>
              <a:t>close()</a:t>
            </a:r>
            <a:r>
              <a:rPr lang="zh-CN" altLang="en-US" sz="2400" dirty="0" smtClean="0">
                <a:latin typeface="宋体" panose="02010600030101010101" pitchFamily="2" charset="-122"/>
              </a:rPr>
              <a:t>：关闭游标，释放资源</a:t>
            </a:r>
            <a:endParaRPr lang="en-US" altLang="zh-CN" sz="2400" dirty="0" smtClean="0">
              <a:latin typeface="宋体" panose="02010600030101010101" pitchFamily="2" charset="-122"/>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0307">
                                            <p:txEl>
                                              <p:pRg st="0" end="0"/>
                                            </p:txEl>
                                          </p:spTgt>
                                        </p:tgtEl>
                                        <p:attrNameLst>
                                          <p:attrName>style.visibility</p:attrName>
                                        </p:attrNameLst>
                                      </p:cBhvr>
                                      <p:to>
                                        <p:strVal val="visible"/>
                                      </p:to>
                                    </p:set>
                                    <p:animEffect transition="in" filter="wipe(left)">
                                      <p:cBhvr>
                                        <p:cTn id="7" dur="500"/>
                                        <p:tgtEl>
                                          <p:spTgt spid="610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0307">
                                            <p:txEl>
                                              <p:pRg st="1" end="1"/>
                                            </p:txEl>
                                          </p:spTgt>
                                        </p:tgtEl>
                                        <p:attrNameLst>
                                          <p:attrName>style.visibility</p:attrName>
                                        </p:attrNameLst>
                                      </p:cBhvr>
                                      <p:to>
                                        <p:strVal val="visible"/>
                                      </p:to>
                                    </p:set>
                                    <p:animEffect transition="in" filter="wipe(left)">
                                      <p:cBhvr>
                                        <p:cTn id="12" dur="500"/>
                                        <p:tgtEl>
                                          <p:spTgt spid="6103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0307">
                                            <p:txEl>
                                              <p:pRg st="2" end="2"/>
                                            </p:txEl>
                                          </p:spTgt>
                                        </p:tgtEl>
                                        <p:attrNameLst>
                                          <p:attrName>style.visibility</p:attrName>
                                        </p:attrNameLst>
                                      </p:cBhvr>
                                      <p:to>
                                        <p:strVal val="visible"/>
                                      </p:to>
                                    </p:set>
                                    <p:animEffect transition="in" filter="wipe(left)">
                                      <p:cBhvr>
                                        <p:cTn id="17" dur="500"/>
                                        <p:tgtEl>
                                          <p:spTgt spid="6103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0307">
                                            <p:txEl>
                                              <p:pRg st="3" end="3"/>
                                            </p:txEl>
                                          </p:spTgt>
                                        </p:tgtEl>
                                        <p:attrNameLst>
                                          <p:attrName>style.visibility</p:attrName>
                                        </p:attrNameLst>
                                      </p:cBhvr>
                                      <p:to>
                                        <p:strVal val="visible"/>
                                      </p:to>
                                    </p:set>
                                    <p:animEffect transition="in" filter="wipe(left)">
                                      <p:cBhvr>
                                        <p:cTn id="22" dur="500"/>
                                        <p:tgtEl>
                                          <p:spTgt spid="6103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10307">
                                            <p:txEl>
                                              <p:pRg st="5" end="5"/>
                                            </p:txEl>
                                          </p:spTgt>
                                        </p:tgtEl>
                                        <p:attrNameLst>
                                          <p:attrName>style.visibility</p:attrName>
                                        </p:attrNameLst>
                                      </p:cBhvr>
                                      <p:to>
                                        <p:strVal val="visible"/>
                                      </p:to>
                                    </p:set>
                                    <p:animEffect transition="in" filter="wipe(left)">
                                      <p:cBhvr>
                                        <p:cTn id="27" dur="500"/>
                                        <p:tgtEl>
                                          <p:spTgt spid="61030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10307">
                                            <p:txEl>
                                              <p:pRg st="6" end="6"/>
                                            </p:txEl>
                                          </p:spTgt>
                                        </p:tgtEl>
                                        <p:attrNameLst>
                                          <p:attrName>style.visibility</p:attrName>
                                        </p:attrNameLst>
                                      </p:cBhvr>
                                      <p:to>
                                        <p:strVal val="visible"/>
                                      </p:to>
                                    </p:set>
                                    <p:animEffect transition="in" filter="wipe(left)">
                                      <p:cBhvr>
                                        <p:cTn id="32" dur="500"/>
                                        <p:tgtEl>
                                          <p:spTgt spid="6103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7" name="Rectangle 3"/>
          <p:cNvSpPr>
            <a:spLocks noChangeArrowheads="1"/>
          </p:cNvSpPr>
          <p:nvPr/>
        </p:nvSpPr>
        <p:spPr bwMode="auto">
          <a:xfrm>
            <a:off x="857251" y="1340768"/>
            <a:ext cx="9474200" cy="3817938"/>
          </a:xfrm>
          <a:prstGeom prst="rect">
            <a:avLst/>
          </a:prstGeom>
          <a:noFill/>
          <a:ln w="9525">
            <a:noFill/>
            <a:miter lim="800000"/>
          </a:ln>
        </p:spPr>
        <p:txBody>
          <a:bodyPr lIns="92075" tIns="46038" rIns="92075" bIns="46038"/>
          <a:lstStyle/>
          <a:p>
            <a:pPr marL="347980" indent="-347980" defTabSz="0" eaLnBrk="1" hangingPunct="1">
              <a:lnSpc>
                <a:spcPct val="90000"/>
              </a:lnSpc>
              <a:spcBef>
                <a:spcPct val="30000"/>
              </a:spcBef>
              <a:spcAft>
                <a:spcPct val="10000"/>
              </a:spcAft>
              <a:buClr>
                <a:srgbClr val="00529B"/>
              </a:buClr>
              <a:defRPr/>
            </a:pPr>
            <a:r>
              <a:rPr lang="zh-CN" altLang="en-US" sz="2400" dirty="0" smtClean="0">
                <a:latin typeface="宋体" panose="02010600030101010101" pitchFamily="2" charset="-122"/>
              </a:rPr>
              <a:t>数据库连接成功后，就可以通过</a:t>
            </a:r>
            <a:r>
              <a:rPr lang="zh-CN" altLang="en-US" sz="2400" dirty="0" smtClean="0">
                <a:solidFill>
                  <a:srgbClr val="FF0000"/>
                </a:solidFill>
                <a:latin typeface="宋体" panose="02010600030101010101" pitchFamily="2" charset="-122"/>
              </a:rPr>
              <a:t>连接对象</a:t>
            </a:r>
            <a:r>
              <a:rPr lang="zh-CN" altLang="en-US" sz="2400" dirty="0" smtClean="0">
                <a:latin typeface="宋体" panose="02010600030101010101" pitchFamily="2" charset="-122"/>
              </a:rPr>
              <a:t>的</a:t>
            </a:r>
            <a:r>
              <a:rPr lang="en-US" altLang="zh-CN" sz="2400" dirty="0" smtClean="0">
                <a:solidFill>
                  <a:srgbClr val="FF0000"/>
                </a:solidFill>
                <a:latin typeface="宋体" panose="02010600030101010101" pitchFamily="2" charset="-122"/>
              </a:rPr>
              <a:t>cursor()</a:t>
            </a:r>
            <a:r>
              <a:rPr lang="zh-CN" altLang="en-US" sz="2400" dirty="0" smtClean="0">
                <a:latin typeface="宋体" panose="02010600030101010101" pitchFamily="2" charset="-122"/>
              </a:rPr>
              <a:t>方法来创建游标对象，再通过</a:t>
            </a:r>
            <a:r>
              <a:rPr lang="zh-CN" altLang="en-US" sz="2400" dirty="0" smtClean="0">
                <a:solidFill>
                  <a:srgbClr val="FF0000"/>
                </a:solidFill>
                <a:latin typeface="宋体" panose="02010600030101010101" pitchFamily="2" charset="-122"/>
              </a:rPr>
              <a:t>游标对象</a:t>
            </a:r>
            <a:r>
              <a:rPr lang="zh-CN" altLang="en-US" sz="2400" dirty="0" smtClean="0">
                <a:latin typeface="宋体" panose="02010600030101010101" pitchFamily="2" charset="-122"/>
              </a:rPr>
              <a:t>的相应方法来完成数据库中</a:t>
            </a:r>
            <a:r>
              <a:rPr lang="zh-CN" altLang="en-US" sz="2400" dirty="0" smtClean="0">
                <a:solidFill>
                  <a:srgbClr val="FF0000"/>
                </a:solidFill>
                <a:latin typeface="宋体" panose="02010600030101010101" pitchFamily="2" charset="-122"/>
              </a:rPr>
              <a:t>数据的操作</a:t>
            </a:r>
            <a:endParaRPr lang="en-US" altLang="zh-CN" sz="2400" dirty="0" smtClean="0">
              <a:solidFill>
                <a:srgbClr val="FF0000"/>
              </a:solidFill>
              <a:latin typeface="宋体" panose="02010600030101010101" pitchFamily="2" charset="-122"/>
            </a:endParaRPr>
          </a:p>
          <a:p>
            <a:pPr marL="228600" indent="-228600" algn="just">
              <a:lnSpc>
                <a:spcPct val="150000"/>
              </a:lnSpc>
              <a:spcBef>
                <a:spcPct val="50000"/>
              </a:spcBef>
              <a:spcAft>
                <a:spcPct val="15000"/>
              </a:spcAft>
              <a:buClr>
                <a:schemeClr val="bg1"/>
              </a:buClr>
            </a:pPr>
            <a:endParaRPr lang="en-US" altLang="zh-CN" sz="2400" dirty="0" smtClean="0">
              <a:solidFill>
                <a:schemeClr val="tx1">
                  <a:lumMod val="95000"/>
                  <a:lumOff val="5000"/>
                </a:schemeClr>
              </a:solidFill>
              <a:latin typeface="宋体" panose="02010600030101010101" pitchFamily="2" charset="-122"/>
            </a:endParaRPr>
          </a:p>
        </p:txBody>
      </p:sp>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12.4 </a:t>
            </a:r>
            <a:r>
              <a:rPr lang="en-US" altLang="zh-CN" sz="4000" b="1" dirty="0" err="1" smtClean="0">
                <a:solidFill>
                  <a:srgbClr val="FFFF00"/>
                </a:solidFill>
                <a:latin typeface="宋体" panose="02010600030101010101" pitchFamily="2" charset="-122"/>
                <a:cs typeface="+mj-cs"/>
                <a:sym typeface="Calibri Light" panose="020F0302020204030204" pitchFamily="34" charset="0"/>
              </a:rPr>
              <a:t>MySQL</a:t>
            </a:r>
            <a:r>
              <a:rPr lang="zh-CN" altLang="en-US" sz="4000" b="1" dirty="0" smtClean="0">
                <a:solidFill>
                  <a:srgbClr val="FFFF00"/>
                </a:solidFill>
                <a:latin typeface="宋体" panose="02010600030101010101" pitchFamily="2" charset="-122"/>
                <a:cs typeface="+mj-cs"/>
                <a:sym typeface="Calibri Light" panose="020F0302020204030204" pitchFamily="34" charset="0"/>
              </a:rPr>
              <a:t>数据库</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pic>
        <p:nvPicPr>
          <p:cNvPr id="3" name="图片 2"/>
          <p:cNvPicPr>
            <a:picLocks noChangeAspect="1"/>
          </p:cNvPicPr>
          <p:nvPr/>
        </p:nvPicPr>
        <p:blipFill>
          <a:blip r:embed="rId1"/>
          <a:stretch>
            <a:fillRect/>
          </a:stretch>
        </p:blipFill>
        <p:spPr>
          <a:xfrm>
            <a:off x="350520" y="2077085"/>
            <a:ext cx="6564630" cy="5077460"/>
          </a:xfrm>
          <a:prstGeom prst="rect">
            <a:avLst/>
          </a:prstGeom>
        </p:spPr>
      </p:pic>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0307">
                                            <p:txEl>
                                              <p:pRg st="0" end="0"/>
                                            </p:txEl>
                                          </p:spTgt>
                                        </p:tgtEl>
                                        <p:attrNameLst>
                                          <p:attrName>style.visibility</p:attrName>
                                        </p:attrNameLst>
                                      </p:cBhvr>
                                      <p:to>
                                        <p:strVal val="visible"/>
                                      </p:to>
                                    </p:set>
                                    <p:animEffect transition="in" filter="wipe(left)">
                                      <p:cBhvr>
                                        <p:cTn id="7" dur="500"/>
                                        <p:tgtEl>
                                          <p:spTgt spid="6103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autoUpdateAnimBg="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7" name="Rectangle 3"/>
          <p:cNvSpPr>
            <a:spLocks noChangeArrowheads="1"/>
          </p:cNvSpPr>
          <p:nvPr/>
        </p:nvSpPr>
        <p:spPr bwMode="auto">
          <a:xfrm>
            <a:off x="857251" y="1340768"/>
            <a:ext cx="9474200" cy="3817938"/>
          </a:xfrm>
          <a:prstGeom prst="rect">
            <a:avLst/>
          </a:prstGeom>
          <a:noFill/>
          <a:ln w="9525">
            <a:noFill/>
            <a:miter lim="800000"/>
          </a:ln>
        </p:spPr>
        <p:txBody>
          <a:bodyPr lIns="92075" tIns="46038" rIns="92075" bIns="46038"/>
          <a:lstStyle/>
          <a:p>
            <a:pPr marL="228600" indent="-228600" algn="just">
              <a:lnSpc>
                <a:spcPct val="150000"/>
              </a:lnSpc>
              <a:spcBef>
                <a:spcPct val="50000"/>
              </a:spcBef>
              <a:spcAft>
                <a:spcPct val="15000"/>
              </a:spcAft>
              <a:buClr>
                <a:schemeClr val="bg1"/>
              </a:buClr>
            </a:pPr>
            <a:endParaRPr lang="en-US" altLang="zh-CN" sz="2200" dirty="0" smtClean="0">
              <a:solidFill>
                <a:schemeClr val="tx1">
                  <a:lumMod val="95000"/>
                  <a:lumOff val="5000"/>
                </a:schemeClr>
              </a:solidFill>
              <a:latin typeface="宋体" panose="02010600030101010101" pitchFamily="2" charset="-122"/>
            </a:endParaRPr>
          </a:p>
        </p:txBody>
      </p:sp>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zh-CN" altLang="en-US" sz="4000" b="1" smtClean="0">
                <a:solidFill>
                  <a:srgbClr val="FFFF00"/>
                </a:solidFill>
                <a:latin typeface="宋体" panose="02010600030101010101" pitchFamily="2" charset="-122"/>
                <a:cs typeface="+mj-cs"/>
                <a:sym typeface="Calibri Light" panose="020F0302020204030204" pitchFamily="34" charset="0"/>
              </a:rPr>
              <a:t>练习</a:t>
            </a:r>
            <a:endParaRPr lang="zh-CN" altLang="en-US" sz="4000" b="1" dirty="0" smtClean="0">
              <a:solidFill>
                <a:srgbClr val="FFFF00"/>
              </a:solidFill>
              <a:latin typeface="宋体" panose="02010600030101010101" pitchFamily="2" charset="-122"/>
              <a:cs typeface="+mj-cs"/>
              <a:sym typeface="Calibri Light" panose="020F0302020204030204" pitchFamily="34" charset="0"/>
            </a:endParaRPr>
          </a:p>
        </p:txBody>
      </p:sp>
      <p:sp>
        <p:nvSpPr>
          <p:cNvPr id="6" name="矩形 5"/>
          <p:cNvSpPr/>
          <p:nvPr/>
        </p:nvSpPr>
        <p:spPr>
          <a:xfrm>
            <a:off x="857250" y="1643050"/>
            <a:ext cx="10025095" cy="398780"/>
          </a:xfrm>
          <a:prstGeom prst="rect">
            <a:avLst/>
          </a:prstGeom>
        </p:spPr>
        <p:txBody>
          <a:bodyPr wrap="square">
            <a:spAutoFit/>
          </a:bodyPr>
          <a:lstStyle/>
          <a:p>
            <a:pPr eaLnBrk="1" hangingPunct="1"/>
            <a:r>
              <a:rPr lang="zh-CN" altLang="en-US" sz="2000" smtClean="0">
                <a:latin typeface="宋体" panose="02010600030101010101" pitchFamily="2" charset="-122"/>
              </a:rPr>
              <a:t>利用</a:t>
            </a:r>
            <a:r>
              <a:rPr lang="zh-CN" altLang="en-US" sz="2000" dirty="0" smtClean="0">
                <a:latin typeface="宋体" panose="02010600030101010101" pitchFamily="2" charset="-122"/>
              </a:rPr>
              <a:t>数据库，实现之前的自动取款机案例</a:t>
            </a:r>
            <a:r>
              <a:rPr lang="en-US" altLang="zh-CN" sz="2000" dirty="0" smtClean="0">
                <a:latin typeface="宋体" panose="02010600030101010101" pitchFamily="2" charset="-122"/>
              </a:rPr>
              <a:t>-</a:t>
            </a:r>
            <a:r>
              <a:rPr lang="zh-CN" altLang="en-US" sz="2000" smtClean="0">
                <a:latin typeface="宋体" panose="02010600030101010101" pitchFamily="2" charset="-122"/>
              </a:rPr>
              <a:t>登陆功能</a:t>
            </a:r>
            <a:endParaRPr lang="zh-CN" altLang="en-US" sz="2000" dirty="0" smtClean="0">
              <a:latin typeface="宋体" panose="02010600030101010101" pitchFamily="2" charset="-122"/>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610307">
                                            <p:txEl>
                                              <p:pRg st="0" end="0"/>
                                            </p:txEl>
                                          </p:spTgt>
                                        </p:tgtEl>
                                        <p:attrNameLst>
                                          <p:attrName>style.visibility</p:attrName>
                                        </p:attrNameLst>
                                      </p:cBhvr>
                                      <p:to>
                                        <p:strVal val="visible"/>
                                      </p:to>
                                    </p:set>
                                    <p:animEffect transition="in" filter="wipe(left)">
                                      <p:cBhvr>
                                        <p:cTn id="7" dur="500"/>
                                        <p:tgtEl>
                                          <p:spTgt spid="6103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autoUpdateAnimBg="0" build="p"/>
    </p:bldLst>
  </p:timing>
</p:sld>
</file>

<file path=ppt/theme/theme1.xml><?xml version="1.0" encoding="utf-8"?>
<a:theme xmlns:a="http://schemas.openxmlformats.org/drawingml/2006/main" name="Gartner PPT- one template-v8_rm">
  <a:themeElements>
    <a:clrScheme name="">
      <a:dk1>
        <a:srgbClr val="000000"/>
      </a:dk1>
      <a:lt1>
        <a:srgbClr val="FFFFFF"/>
      </a:lt1>
      <a:dk2>
        <a:srgbClr val="F8F8F8"/>
      </a:dk2>
      <a:lt2>
        <a:srgbClr val="808080"/>
      </a:lt2>
      <a:accent1>
        <a:srgbClr val="3366CC"/>
      </a:accent1>
      <a:accent2>
        <a:srgbClr val="FF0000"/>
      </a:accent2>
      <a:accent3>
        <a:srgbClr val="FFFFFF"/>
      </a:accent3>
      <a:accent4>
        <a:srgbClr val="000000"/>
      </a:accent4>
      <a:accent5>
        <a:srgbClr val="ADB8E2"/>
      </a:accent5>
      <a:accent6>
        <a:srgbClr val="E70000"/>
      </a:accent6>
      <a:hlink>
        <a:srgbClr val="FF9900"/>
      </a:hlink>
      <a:folHlink>
        <a:srgbClr val="6699FF"/>
      </a:folHlink>
    </a:clrScheme>
    <a:fontScheme name="Gartner PPT- one template-v8_rm">
      <a:majorFont>
        <a:latin typeface="Arial"/>
        <a:ea typeface="Arial Unicode MS"/>
        <a:cs typeface="Arial Unicode MS"/>
      </a:majorFont>
      <a:minorFont>
        <a:latin typeface="Arial"/>
        <a:ea typeface="Arial Unicode MS"/>
        <a:cs typeface="Arial Unicode M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134B82"/>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rgbClr val="134B82"/>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Gartner PPT- one template-v8_r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artner PPT- one template-v8_rm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Gartner PPT- one template-v8_rm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artner PPT- one template-v8_rm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artner PPT- one template-v8_r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artner PPT- one template-v8_r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Gartner PPT- one template-v8_r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Gartner PPT- one template-v8_rm 8">
        <a:dk1>
          <a:srgbClr val="000000"/>
        </a:dk1>
        <a:lt1>
          <a:srgbClr val="FFFFFF"/>
        </a:lt1>
        <a:dk2>
          <a:srgbClr val="F8F8F8"/>
        </a:dk2>
        <a:lt2>
          <a:srgbClr val="808080"/>
        </a:lt2>
        <a:accent1>
          <a:srgbClr val="CCFF66"/>
        </a:accent1>
        <a:accent2>
          <a:srgbClr val="FFCC00"/>
        </a:accent2>
        <a:accent3>
          <a:srgbClr val="FFFFFF"/>
        </a:accent3>
        <a:accent4>
          <a:srgbClr val="000000"/>
        </a:accent4>
        <a:accent5>
          <a:srgbClr val="E2FFB8"/>
        </a:accent5>
        <a:accent6>
          <a:srgbClr val="E7B900"/>
        </a:accent6>
        <a:hlink>
          <a:srgbClr val="0066FF"/>
        </a:hlink>
        <a:folHlink>
          <a:srgbClr val="FF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汇智动力</Template>
  <TotalTime>0</TotalTime>
  <Words>1176</Words>
  <Application>WPS 演示</Application>
  <PresentationFormat>自定义</PresentationFormat>
  <Paragraphs>78</Paragraphs>
  <Slides>9</Slides>
  <Notes>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宋体</vt:lpstr>
      <vt:lpstr>Wingdings</vt:lpstr>
      <vt:lpstr>Arial Unicode MS</vt:lpstr>
      <vt:lpstr>Times</vt:lpstr>
      <vt:lpstr>Times New Roman</vt:lpstr>
      <vt:lpstr>Calibri Light</vt:lpstr>
      <vt:lpstr>微软雅黑</vt:lpstr>
      <vt:lpstr>Arial Unicode MS</vt:lpstr>
      <vt:lpstr>Gartner PPT- one template-v8_rm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勇敢的心</cp:lastModifiedBy>
  <cp:revision>1146</cp:revision>
  <dcterms:created xsi:type="dcterms:W3CDTF">2014-03-18T11:00:00Z</dcterms:created>
  <dcterms:modified xsi:type="dcterms:W3CDTF">2020-04-09T07:32:51Z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2052-11.1.0.9564</vt:lpwstr>
  </property>
</Properties>
</file>