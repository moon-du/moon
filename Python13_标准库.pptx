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7"/>
  </p:notesMasterIdLst>
  <p:handoutMasterIdLst>
    <p:handoutMasterId r:id="rId18"/>
  </p:handoutMasterIdLst>
  <p:sldIdLst>
    <p:sldId id="1082" r:id="rId2"/>
    <p:sldId id="1083" r:id="rId3"/>
    <p:sldId id="1084" r:id="rId4"/>
    <p:sldId id="1085" r:id="rId5"/>
    <p:sldId id="1086" r:id="rId6"/>
    <p:sldId id="1087" r:id="rId7"/>
    <p:sldId id="1093" r:id="rId8"/>
    <p:sldId id="1088" r:id="rId9"/>
    <p:sldId id="1090" r:id="rId10"/>
    <p:sldId id="1095" r:id="rId11"/>
    <p:sldId id="1096" r:id="rId12"/>
    <p:sldId id="1097" r:id="rId13"/>
    <p:sldId id="1091" r:id="rId14"/>
    <p:sldId id="1092" r:id="rId15"/>
    <p:sldId id="1094" r:id="rId16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15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0"/>
      </p:ext>
    </p:extLst>
  </p:showPr>
  <p:clrMru>
    <a:srgbClr val="FF6600"/>
    <a:srgbClr val="66CCFF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632" autoAdjust="0"/>
    <p:restoredTop sz="94660"/>
  </p:normalViewPr>
  <p:slideViewPr>
    <p:cSldViewPr snapToObjects="1" showGuides="1">
      <p:cViewPr varScale="1">
        <p:scale>
          <a:sx n="70" d="100"/>
          <a:sy n="70" d="100"/>
        </p:scale>
        <p:origin x="-756" y="-108"/>
      </p:cViewPr>
      <p:guideLst>
        <p:guide orient="horz" pos="2115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itchFamily="18" charset="0"/>
              </a:rPr>
              <a:pPr/>
              <a:t>2017/9/5</a:t>
            </a:fld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itchFamily="18" charset="0"/>
              </a:rPr>
              <a:pPr/>
              <a:t>‹#›</a:t>
            </a:fld>
            <a:endParaRPr lang="zh-CN" alt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687297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>
                <a:latin typeface="Times New Roman" pitchFamily="18" charset="0"/>
              </a:defRPr>
            </a:lvl1pPr>
          </a:lstStyle>
          <a:p>
            <a:fld id="{E9B07FDD-F1B3-4E5B-BC2D-FED26B65F69F}" type="datetime1">
              <a:rPr lang="zh-CN" altLang="en-US" smtClean="0"/>
              <a:pPr/>
              <a:t>2017/9/5</a:t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itchFamily="18" charset="0"/>
              </a:rPr>
              <a:t>单击此处编辑母版文本样式</a:t>
            </a:r>
          </a:p>
          <a:p>
            <a:pPr>
              <a:buFontTx/>
              <a:buNone/>
            </a:pPr>
            <a:r>
              <a:rPr lang="zh-CN" dirty="0">
                <a:latin typeface="Times New Roman" pitchFamily="18" charset="0"/>
              </a:rPr>
              <a:t>第二级</a:t>
            </a:r>
          </a:p>
          <a:p>
            <a:pPr>
              <a:buFontTx/>
              <a:buNone/>
            </a:pPr>
            <a:r>
              <a:rPr lang="zh-CN" dirty="0">
                <a:latin typeface="Times New Roman" pitchFamily="18" charset="0"/>
              </a:rPr>
              <a:t>第三级</a:t>
            </a:r>
          </a:p>
          <a:p>
            <a:pPr>
              <a:buFontTx/>
              <a:buNone/>
            </a:pPr>
            <a:r>
              <a:rPr lang="zh-CN" dirty="0">
                <a:latin typeface="Times New Roman" pitchFamily="18" charset="0"/>
              </a:rPr>
              <a:t>第四级</a:t>
            </a:r>
          </a:p>
          <a:p>
            <a:pPr>
              <a:buFontTx/>
              <a:buNone/>
            </a:pPr>
            <a:r>
              <a:rPr lang="zh-CN" dirty="0">
                <a:latin typeface="Times New Roman" pitchFamily="18" charset="0"/>
              </a:rPr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latin typeface="Times New Roman" pitchFamily="18" charset="0"/>
              </a:defRPr>
            </a:lvl1pPr>
          </a:lstStyle>
          <a:p>
            <a:fld id="{E9EF8A88-7B05-4B03-ACDA-4A6B434EDC9B}" type="slidenum">
              <a:rPr lang="zh-CN" altLang="en-US" smtClean="0"/>
              <a:pPr/>
              <a:t>‹#›</a:t>
            </a:fld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xmlns="" val="137049408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1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2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3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4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5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6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7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8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9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10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11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12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13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14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  <a:pPr>
                <a:defRPr/>
              </a:pPr>
              <a:t>15</a:t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  <a:ln/>
        </p:spPr>
        <p:txBody>
          <a:bodyPr lIns="89891" tIns="44945" rIns="89891" bIns="44945"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- Learn how to perform functional tests using </a:t>
            </a:r>
            <a:r>
              <a:rPr lang="en-US" altLang="zh-CN" dirty="0" err="1" smtClean="0">
                <a:latin typeface="Times New Roman" pitchFamily="18" charset="0"/>
              </a:rPr>
              <a:t>WinRunner</a:t>
            </a:r>
            <a:endParaRPr lang="en-US" altLang="zh-CN" dirty="0" smtClean="0">
              <a:latin typeface="Times New Roman" pitchFamily="18" charset="0"/>
            </a:endParaRPr>
          </a:p>
          <a:p>
            <a:pPr eaLnBrk="1" hangingPunct="1"/>
            <a:endParaRPr lang="zh-CN" altLang="en-US" dirty="0" smtClean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92907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zh-CN" noProof="0" smtClean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buFont typeface="Arial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ransition>
    <p:cut/>
  </p:transition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ea typeface="Arial Unicode MS" pitchFamily="34" charset="-128"/>
          <a:cs typeface="Arial Unicode MS" pitchFamily="34" charset="-128"/>
        </a:defRPr>
      </a:lvl9pPr>
    </p:titleStyle>
    <p:bodyStyle>
      <a:lvl1pPr marL="347663" indent="-347663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338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013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213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413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613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5813" indent="-173038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13.1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简介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13.2 sys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13.3 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13.4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更多常用标准库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第十三章 </a:t>
            </a: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Python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标准库是随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安装的，它包含大量极其有用的模块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熟悉标准库非常重要，可以在后续的编程过程中简单快捷的使用它们解决大多数问题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前面我们已经接触过部分标准库模块中的内容：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random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随机数模块、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re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正则表达式模块等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后续的编程过程中会接触越来越多的模块，想要了解所有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标准库中的内容，可以参考下面的附件，也可以在互联网上获取更多资源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13.1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855640" y="5589240"/>
          <a:ext cx="1512168" cy="1370402"/>
        </p:xfrm>
        <a:graphic>
          <a:graphicData uri="http://schemas.openxmlformats.org/presentationml/2006/ole">
            <p:oleObj spid="_x0000_s1027" name="Acrobat Document" showAsIcon="1" r:id="rId4" imgW="914400" imgH="828720" progId="">
              <p:embed/>
            </p:oleObj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模块提供了许多函数和变量来处理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运行时环境问题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sys.argv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变量包含了所有传递给脚本的参数列表，列表中的第一个元素为脚本自身的名称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13.2 sys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3392" y="3042692"/>
            <a:ext cx="686166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52184" y="3068960"/>
            <a:ext cx="4353638" cy="2089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sys.path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变量是一个由目录名称构成的列表，启动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时，这个列表根据环境变量、注册表等进行初始化，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从中找扩展模块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13.2 sys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03512" y="2492896"/>
            <a:ext cx="6581196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sys.version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变量提供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版本信息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sys.platform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变量提供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运行的平台信息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sys.exit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函数提供退出程序功能，参数为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0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时表示正常退出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sys.getdefaultencoding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函数提供获取系统当前编码功能，一般为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ascii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sys.setdefaultencoding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函数设置系统默认编码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sys.getfilesystemencoding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函数获取文件系统使用编码方式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13.2 sys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模块包含普遍的操作系统功能，如果希望程序与平台无关，这个模块是非常重要的，如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os.sep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方法可以取代操作系统特定的路径分隔符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os.name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变量指示正在使用的平台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os.getcwd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函数得到当前的工作目录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os.getenv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和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os.putenv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函数分别用来读取和设置环境变量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os.listdir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函数返回指定目录下的所有文件和目录名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os.remove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函数用来删除一个文件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13.3 </a:t>
            </a:r>
            <a:r>
              <a:rPr lang="en-US" altLang="zh-CN" sz="4000" b="1" dirty="0" err="1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os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0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13.3 </a:t>
            </a:r>
            <a:r>
              <a:rPr lang="en-US" altLang="zh-CN" sz="4000" b="1" dirty="0" err="1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os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模块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59496" y="1762125"/>
            <a:ext cx="7848872" cy="4076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math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模块实现了许多对浮点数的数学运算函数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cmath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模块实现了许多用于复数运算的函数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1624" y="1916832"/>
            <a:ext cx="5154150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238215" y="1500170"/>
          <a:ext cx="9501255" cy="4572035"/>
        </p:xfrm>
        <a:graphic>
          <a:graphicData uri="http://schemas.openxmlformats.org/drawingml/2006/table">
            <a:tbl>
              <a:tblPr/>
              <a:tblGrid>
                <a:gridCol w="3165505"/>
                <a:gridCol w="3165505"/>
                <a:gridCol w="3170245"/>
              </a:tblGrid>
              <a:tr h="28248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latin typeface="Arial"/>
                        </a:rPr>
                        <a:t>math.e</a:t>
                      </a:r>
                      <a:endParaRPr lang="en-US" sz="1600" b="0" i="0" u="none" strike="noStrike" dirty="0">
                        <a:solidFill>
                          <a:srgbClr val="333333"/>
                        </a:solidFill>
                        <a:latin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自然常数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DF8"/>
                    </a:solidFill>
                  </a:tcPr>
                </a:tc>
              </a:tr>
              <a:tr h="2899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2.718281828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</a:tr>
              <a:tr h="28248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math.pi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圆周率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pi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math.pi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DF8"/>
                    </a:solidFill>
                  </a:tcPr>
                </a:tc>
              </a:tr>
              <a:tr h="2899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3.141592654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</a:tr>
              <a:tr h="28248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  <a:r>
                        <a:rPr lang="en-US" sz="1600" b="0" i="0" u="none" strike="noStrike" dirty="0" err="1">
                          <a:solidFill>
                            <a:srgbClr val="333333"/>
                          </a:solidFill>
                          <a:latin typeface="Arial"/>
                        </a:rPr>
                        <a:t>math.degrees</a:t>
                      </a:r>
                      <a:r>
                        <a:rPr lang="en-US" sz="1600" b="0" i="0" u="none" strike="noStrike" dirty="0">
                          <a:solidFill>
                            <a:srgbClr val="333333"/>
                          </a:solidFill>
                          <a:latin typeface="Arial"/>
                        </a:rPr>
                        <a:t>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弧度转度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math.degrees(math.pi)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EFC"/>
                    </a:solidFill>
                  </a:tcPr>
                </a:tc>
              </a:tr>
              <a:tr h="2899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C"/>
                    </a:solidFill>
                  </a:tcPr>
                </a:tc>
              </a:tr>
              <a:tr h="28248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math.radians(x)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度转弧度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math.radians(45)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CEEFC"/>
                    </a:solidFill>
                  </a:tcPr>
                </a:tc>
              </a:tr>
              <a:tr h="2899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0.785398163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EFC"/>
                    </a:solidFill>
                  </a:tcPr>
                </a:tc>
              </a:tr>
              <a:tr h="28248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math.exp(x)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e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次方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math.exp(2)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899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7.389056099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</a:tr>
              <a:tr h="28248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math.expm1(x)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e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次方减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math.expm1(2)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899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6.389056099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</a:tr>
              <a:tr h="282481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math.log(x[, base])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的以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base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为底的对数，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base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默认为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math.log(math.e)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8248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8248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&gt;&gt;&gt; math.log(2, 10)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8995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latin typeface="Arial"/>
                        </a:rPr>
                        <a:t>0.301029996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309654" y="1428736"/>
          <a:ext cx="9429815" cy="4560570"/>
        </p:xfrm>
        <a:graphic>
          <a:graphicData uri="http://schemas.openxmlformats.org/drawingml/2006/table">
            <a:tbl>
              <a:tblPr/>
              <a:tblGrid>
                <a:gridCol w="3141704"/>
                <a:gridCol w="3141704"/>
                <a:gridCol w="3146407"/>
              </a:tblGrid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math.log10(x)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的以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10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为底的对数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math.log10(2)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0.301029996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math.log1p(x)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1+x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的自然对数（以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e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为底）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math.log1p(math.e-1)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math.pow(x, 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y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次方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math.pow(5,3)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math.sqrt(x)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的平方根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math.sqrt(3)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DFBF9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1.732050808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BF9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math.ceil(x)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返回不小于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的整数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math.ceil(5.2)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math.floor(x)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返回不大于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的整数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math.floor(5.8)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math.trunc(x)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的整数部分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math.trunc(5.8)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math.modf(x)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的小数和整数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math.modf(5.2)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(0.20000000000000018, 5.0)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244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math.fabs(x)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的绝对值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math.fabs(-5)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164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 dirty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166778" y="1357298"/>
          <a:ext cx="9787009" cy="4721006"/>
        </p:xfrm>
        <a:graphic>
          <a:graphicData uri="http://schemas.openxmlformats.org/drawingml/2006/table">
            <a:tbl>
              <a:tblPr/>
              <a:tblGrid>
                <a:gridCol w="3260709"/>
                <a:gridCol w="3260709"/>
                <a:gridCol w="3265591"/>
              </a:tblGrid>
              <a:tr h="23754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math.fmod(x, 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x%y（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取余）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math.fmod(5,2)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6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7546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math.fsum([x, y, ...])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返回无损精度的和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&gt;&gt;&gt; 0.1+0.2+0.3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3754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0.6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46333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&gt;&gt;&gt; math.fsum([0.1, 0.2, 0.3])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6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0.6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754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math.factorial(x)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的阶乘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math.factorial(5)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6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7546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math.isinf(x)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若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为无穷大，返回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True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；否则，返回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math.isinf(1.0e+308)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3754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3754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&gt;&gt;&gt; math.isinf(1.0e+309)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6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TRUE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754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math.isnan(x)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若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不是数字，返回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True；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否则，返回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math.isnan(1.2e3)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6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FALSE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37546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math.hypot(x, 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返回以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和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y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为直角边的斜边长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math.hypot(3,4)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4695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 dirty="0">
                          <a:solidFill>
                            <a:srgbClr val="333333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166779" y="1285860"/>
          <a:ext cx="9787006" cy="4843069"/>
        </p:xfrm>
        <a:graphic>
          <a:graphicData uri="http://schemas.openxmlformats.org/drawingml/2006/table">
            <a:tbl>
              <a:tblPr/>
              <a:tblGrid>
                <a:gridCol w="3260708"/>
                <a:gridCol w="3260708"/>
                <a:gridCol w="3265590"/>
              </a:tblGrid>
              <a:tr h="44750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math.copysign(x, 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若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y&lt;0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，返回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-1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乘以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的绝对值；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math.copysign(5.2, -1)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34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否则，返回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的绝对值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-5.2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2598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math.frexp(x)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m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和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i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，满足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m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乘以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i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次方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math.frexp(3)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34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(0.75, 2)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22598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math.ldexp(m, i)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m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乘以</a:t>
                      </a:r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2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i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次方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math.ldexp(0.75, 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BF5EB"/>
                    </a:solidFill>
                  </a:tcPr>
                </a:tc>
              </a:tr>
              <a:tr h="234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5EB"/>
                    </a:solidFill>
                  </a:tcPr>
                </a:tc>
              </a:tr>
              <a:tr h="44750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math.sin(x)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x（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弧度）的三角正弦值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math.sin(math.radians(30))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DF8"/>
                    </a:solidFill>
                  </a:tcPr>
                </a:tc>
              </a:tr>
              <a:tr h="234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</a:tr>
              <a:tr h="22598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math.asin(x)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的反三角正弦值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math.asin(0.5)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DF8"/>
                    </a:solidFill>
                  </a:tcPr>
                </a:tc>
              </a:tr>
              <a:tr h="234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0.523598776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</a:tr>
              <a:tr h="447501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math.cos(x)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x（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弧度）的三角余弦值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math.cos(math.radians(45))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DF8"/>
                    </a:solidFill>
                  </a:tcPr>
                </a:tc>
              </a:tr>
              <a:tr h="234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0.707106781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</a:tr>
              <a:tr h="44078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math.acos(x)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返回</a:t>
                      </a:r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x</a:t>
                      </a:r>
                      <a:r>
                        <a:rPr lang="zh-CN" alt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的反三角余弦值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i="0" u="none" strike="noStrike">
                          <a:solidFill>
                            <a:srgbClr val="333333"/>
                          </a:solidFill>
                          <a:latin typeface="Arial"/>
                        </a:rPr>
                        <a:t> &gt;&gt;&gt; math.acos(math.sqrt(2)/2)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BEDF8"/>
                    </a:solidFill>
                  </a:tcPr>
                </a:tc>
              </a:tr>
              <a:tr h="2349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800" b="0" i="0" u="none" strike="noStrike" dirty="0">
                          <a:solidFill>
                            <a:srgbClr val="333333"/>
                          </a:solidFill>
                          <a:latin typeface="Arial"/>
                        </a:rPr>
                        <a:t>0.785398163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D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time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模块提供了一些处理日期和一天内时间的函数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988840"/>
            <a:ext cx="7344816" cy="4597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types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模块包含了标志解释器定义的所有类型的类型对象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types.IntType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整数 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types.FloatType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浮点数 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types.StringType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字符串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types.ClassType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类 </a:t>
            </a:r>
            <a:r>
              <a:rPr lang="en-US" altLang="zh-CN" sz="22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types.Instance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对象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type()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返回参数的数据类型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6559" y="4168106"/>
            <a:ext cx="8055785" cy="235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0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0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0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中的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help()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</a:rPr>
              <a:t>方法可以帮助查看模块中的详细内容、查看方法的详细实现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13.4 </a:t>
            </a:r>
            <a:r>
              <a:rPr lang="zh-CN" altLang="en-US" sz="4000" b="1" dirty="0" smtClean="0">
                <a:solidFill>
                  <a:srgbClr val="FFFF00"/>
                </a:solidFill>
                <a:latin typeface="华文楷体" pitchFamily="2" charset="-122"/>
                <a:ea typeface="华文楷体" pitchFamily="2" charset="-122"/>
                <a:cs typeface="+mj-cs"/>
                <a:sym typeface="Calibri Light" panose="020F0302020204030204" pitchFamily="34" charset="0"/>
              </a:rPr>
              <a:t>更多的常用标准库</a:t>
            </a:r>
            <a:endParaRPr lang="zh-CN" altLang="en-US" sz="4000" b="1" dirty="0">
              <a:solidFill>
                <a:srgbClr val="FFFF00"/>
              </a:solidFill>
              <a:latin typeface="华文楷体" pitchFamily="2" charset="-122"/>
              <a:ea typeface="华文楷体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5560" y="2348880"/>
            <a:ext cx="6912768" cy="3603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0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 build="p" autoUpdateAnimBg="0"/>
    </p:bldLst>
  </p:timing>
</p:sld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6146</TotalTime>
  <Pages>0</Pages>
  <Words>675</Words>
  <Characters>0</Characters>
  <Application>Microsoft Office PowerPoint</Application>
  <DocSecurity>0</DocSecurity>
  <PresentationFormat>自定义</PresentationFormat>
  <Lines>0</Lines>
  <Paragraphs>203</Paragraphs>
  <Slides>15</Slides>
  <Notes>15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7" baseType="lpstr">
      <vt:lpstr>Gartner PPT- one template-v8_rm</vt:lpstr>
      <vt:lpstr>Acrobat Document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</vt:vector>
  </TitlesOfParts>
  <Company>MS</Company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Mr.DENG</cp:lastModifiedBy>
  <cp:revision>1119</cp:revision>
  <dcterms:created xsi:type="dcterms:W3CDTF">2014-03-18T11:00:00Z</dcterms:created>
  <dcterms:modified xsi:type="dcterms:W3CDTF">2017-09-05T06:44:52Z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2052-9.1.0.4517</vt:lpwstr>
  </property>
</Properties>
</file>